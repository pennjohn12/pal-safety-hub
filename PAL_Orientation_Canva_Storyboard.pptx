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85800"/>
            <a:ext cx="1234440" cy="685800"/>
          </a:xfrm>
          <a:prstGeom prst="rect">
            <a:avLst/>
          </a:prstGeom>
          <a:noFill/>
        </p:spPr>
        <p:txBody>
          <a:bodyPr wrap="none">
            <a:spAutoFit/>
          </a:bodyPr>
          <a:lstStyle/>
          <a:p>
            <a:r>
              <a:rPr sz="2600" b="1">
                <a:solidFill>
                  <a:srgbClr val="6EC244"/>
                </a:solidFill>
                <a:latin typeface="Arial"/>
              </a:rPr>
              <a:t>PAL</a:t>
            </a:r>
          </a:p>
        </p:txBody>
      </p:sp>
      <p:sp>
        <p:nvSpPr>
          <p:cNvPr id="4" name="TextBox 3"/>
          <p:cNvSpPr txBox="1"/>
          <p:nvPr/>
        </p:nvSpPr>
        <p:spPr>
          <a:xfrm>
            <a:off x="685800" y="1874519"/>
            <a:ext cx="8046720" cy="640080"/>
          </a:xfrm>
          <a:prstGeom prst="rect">
            <a:avLst/>
          </a:prstGeom>
          <a:noFill/>
        </p:spPr>
        <p:txBody>
          <a:bodyPr wrap="none">
            <a:spAutoFit/>
          </a:bodyPr>
          <a:lstStyle/>
          <a:p>
            <a:r>
              <a:rPr sz="3900" b="1">
                <a:solidFill>
                  <a:srgbClr val="FFFFFF"/>
                </a:solidFill>
                <a:latin typeface="Arial"/>
              </a:rPr>
              <a:t>Employee Orientation</a:t>
            </a:r>
          </a:p>
        </p:txBody>
      </p:sp>
      <p:sp>
        <p:nvSpPr>
          <p:cNvPr id="5" name="TextBox 4"/>
          <p:cNvSpPr txBox="1"/>
          <p:nvPr/>
        </p:nvSpPr>
        <p:spPr>
          <a:xfrm>
            <a:off x="713232" y="2606040"/>
            <a:ext cx="7772400" cy="411480"/>
          </a:xfrm>
          <a:prstGeom prst="rect">
            <a:avLst/>
          </a:prstGeom>
          <a:noFill/>
        </p:spPr>
        <p:txBody>
          <a:bodyPr wrap="none">
            <a:spAutoFit/>
          </a:bodyPr>
          <a:lstStyle/>
          <a:p>
            <a:r>
              <a:rPr sz="2000" b="0">
                <a:solidFill>
                  <a:srgbClr val="FFFFFF"/>
                </a:solidFill>
                <a:latin typeface="Arial"/>
              </a:rPr>
              <a:t>Safety expectations for PAL project sites</a:t>
            </a:r>
          </a:p>
        </p:txBody>
      </p:sp>
      <p:sp>
        <p:nvSpPr>
          <p:cNvPr id="6" name="TextBox 5"/>
          <p:cNvSpPr txBox="1"/>
          <p:nvPr/>
        </p:nvSpPr>
        <p:spPr>
          <a:xfrm>
            <a:off x="713232" y="5440680"/>
            <a:ext cx="9144000" cy="274320"/>
          </a:xfrm>
          <a:prstGeom prst="rect">
            <a:avLst/>
          </a:prstGeom>
          <a:noFill/>
        </p:spPr>
        <p:txBody>
          <a:bodyPr wrap="none">
            <a:spAutoFit/>
          </a:bodyPr>
          <a:lstStyle/>
          <a:p>
            <a:r>
              <a:rPr sz="1300" b="0">
                <a:solidFill>
                  <a:srgbClr val="FFFFFF"/>
                </a:solidFill>
                <a:latin typeface="Arial"/>
              </a:rPr>
              <a:t>Canva-ready storyboard deck with narration text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PAL Environmental Services</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Employee Orientation</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Safety</a:t>
            </a:r>
          </a:p>
          <a:p>
            <a:pPr>
              <a:spcAft>
                <a:spcPts val="800"/>
              </a:spcAft>
              <a:defRPr sz="2400">
                <a:solidFill>
                  <a:srgbClr val="1E293B"/>
                </a:solidFill>
                <a:latin typeface="Arial"/>
              </a:defRPr>
            </a:pPr>
            <a:r>
              <a:t>Compliance</a:t>
            </a:r>
          </a:p>
          <a:p>
            <a:pPr>
              <a:spcAft>
                <a:spcPts val="800"/>
              </a:spcAft>
              <a:defRPr sz="2400">
                <a:solidFill>
                  <a:srgbClr val="1E293B"/>
                </a:solidFill>
                <a:latin typeface="Arial"/>
              </a:defRPr>
            </a:pPr>
            <a:r>
              <a:t>Communication</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Welcome to PAL Environmental Services orientation. This training introduces the safety expectations, required training records, jobsite rules, and reporting procedures every PAL employee must understand before working on a project. Your safety, the safety of your crew, and the protection of the environment...</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Orientation Goals</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Why this training matters</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Protect employee health and safety</a:t>
            </a:r>
          </a:p>
          <a:p>
            <a:pPr>
              <a:spcAft>
                <a:spcPts val="800"/>
              </a:spcAft>
              <a:defRPr sz="2400">
                <a:solidFill>
                  <a:srgbClr val="1E293B"/>
                </a:solidFill>
                <a:latin typeface="Arial"/>
              </a:defRPr>
            </a:pPr>
            <a:r>
              <a:t>Prevent accidents through planning</a:t>
            </a:r>
          </a:p>
          <a:p>
            <a:pPr>
              <a:spcAft>
                <a:spcPts val="800"/>
              </a:spcAft>
              <a:defRPr sz="2400">
                <a:solidFill>
                  <a:srgbClr val="1E293B"/>
                </a:solidFill>
                <a:latin typeface="Arial"/>
              </a:defRPr>
            </a:pPr>
            <a:r>
              <a:t>Educate employees</a:t>
            </a:r>
          </a:p>
          <a:p>
            <a:pPr>
              <a:spcAft>
                <a:spcPts val="800"/>
              </a:spcAft>
              <a:defRPr sz="2400">
                <a:solidFill>
                  <a:srgbClr val="1E293B"/>
                </a:solidFill>
                <a:latin typeface="Arial"/>
              </a:defRPr>
            </a:pPr>
            <a:r>
              <a:t>Meet or exceed requirements</a:t>
            </a:r>
          </a:p>
          <a:p>
            <a:pPr>
              <a:spcAft>
                <a:spcPts val="800"/>
              </a:spcAft>
              <a:defRPr sz="2400">
                <a:solidFill>
                  <a:srgbClr val="1E293B"/>
                </a:solidFill>
                <a:latin typeface="Arial"/>
              </a:defRPr>
            </a:pPr>
            <a:r>
              <a:t>Maintain clear communication</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PAL orientation is built around five goals: protecting employee health and safety, preventing accidents through planning and risk assessment, educating employees, meeting or exceeding safety requirements, and keeping clear communication between employees, supervisors, and management.</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Required Training Records</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Before work begins</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NYC SST or OSHA 30</a:t>
            </a:r>
          </a:p>
          <a:p>
            <a:pPr>
              <a:spcAft>
                <a:spcPts val="800"/>
              </a:spcAft>
              <a:defRPr sz="2400">
                <a:solidFill>
                  <a:srgbClr val="1E293B"/>
                </a:solidFill>
                <a:latin typeface="Arial"/>
              </a:defRPr>
            </a:pPr>
            <a:r>
              <a:t>Fall prevention training</a:t>
            </a:r>
          </a:p>
          <a:p>
            <a:pPr>
              <a:spcAft>
                <a:spcPts val="800"/>
              </a:spcAft>
              <a:defRPr sz="2400">
                <a:solidFill>
                  <a:srgbClr val="1E293B"/>
                </a:solidFill>
                <a:latin typeface="Arial"/>
              </a:defRPr>
            </a:pPr>
            <a:r>
              <a:t>Scaffold user training</a:t>
            </a:r>
          </a:p>
          <a:p>
            <a:pPr>
              <a:spcAft>
                <a:spcPts val="800"/>
              </a:spcAft>
              <a:defRPr sz="2400">
                <a:solidFill>
                  <a:srgbClr val="1E293B"/>
                </a:solidFill>
                <a:latin typeface="Arial"/>
              </a:defRPr>
            </a:pPr>
            <a:r>
              <a:t>Fit test and medical clearance when required</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Before working on a PAL project, employees must have the required training records for the work they will perform. At minimum, this may include NYC Site Safety Training or OSHA 30, fall prevention training, scaffold user training, and fit test and medical clearance when respiratory protection is required.</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PPE Required At All Times</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Arrive prepared for the jobsite</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Hard hat</a:t>
            </a:r>
          </a:p>
          <a:p>
            <a:pPr>
              <a:spcAft>
                <a:spcPts val="800"/>
              </a:spcAft>
              <a:defRPr sz="2400">
                <a:solidFill>
                  <a:srgbClr val="1E293B"/>
                </a:solidFill>
                <a:latin typeface="Arial"/>
              </a:defRPr>
            </a:pPr>
            <a:r>
              <a:t>High visibility vest</a:t>
            </a:r>
          </a:p>
          <a:p>
            <a:pPr>
              <a:spcAft>
                <a:spcPts val="800"/>
              </a:spcAft>
              <a:defRPr sz="2400">
                <a:solidFill>
                  <a:srgbClr val="1E293B"/>
                </a:solidFill>
                <a:latin typeface="Arial"/>
              </a:defRPr>
            </a:pPr>
            <a:r>
              <a:t>Approved safety glasses</a:t>
            </a:r>
          </a:p>
          <a:p>
            <a:pPr>
              <a:spcAft>
                <a:spcPts val="800"/>
              </a:spcAft>
              <a:defRPr sz="2400">
                <a:solidFill>
                  <a:srgbClr val="1E293B"/>
                </a:solidFill>
                <a:latin typeface="Arial"/>
              </a:defRPr>
            </a:pPr>
            <a:r>
              <a:t>Work boots</a:t>
            </a:r>
          </a:p>
          <a:p>
            <a:pPr>
              <a:spcAft>
                <a:spcPts val="800"/>
              </a:spcAft>
              <a:defRPr sz="2400">
                <a:solidFill>
                  <a:srgbClr val="1E293B"/>
                </a:solidFill>
                <a:latin typeface="Arial"/>
              </a:defRPr>
            </a:pPr>
            <a:r>
              <a:t>Long pants and proper shirt coverage</a:t>
            </a:r>
          </a:p>
          <a:p>
            <a:pPr>
              <a:spcAft>
                <a:spcPts val="800"/>
              </a:spcAft>
              <a:defRPr sz="2400">
                <a:solidFill>
                  <a:srgbClr val="1E293B"/>
                </a:solidFill>
                <a:latin typeface="Arial"/>
              </a:defRPr>
            </a:pPr>
            <a:r>
              <a:t>Task-specific PPE when required</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PAL employees must report to the job prepared with required personal protective equipment. At a minimum, workers must wear an approved hard hat, high visibility vest, approved safety glasses, work boots, long pants, and proper shirt coverage. Some tasks may require additional PPE such as face shields,...</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Fall Protection</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Six feet or greater</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Training required for fall exposure</a:t>
            </a:r>
          </a:p>
          <a:p>
            <a:pPr>
              <a:spcAft>
                <a:spcPts val="800"/>
              </a:spcAft>
              <a:defRPr sz="2400">
                <a:solidFill>
                  <a:srgbClr val="1E293B"/>
                </a:solidFill>
                <a:latin typeface="Arial"/>
              </a:defRPr>
            </a:pPr>
            <a:r>
              <a:t>Inspect fall protection before use</a:t>
            </a:r>
          </a:p>
          <a:p>
            <a:pPr>
              <a:spcAft>
                <a:spcPts val="800"/>
              </a:spcAft>
              <a:defRPr sz="2400">
                <a:solidFill>
                  <a:srgbClr val="1E293B"/>
                </a:solidFill>
                <a:latin typeface="Arial"/>
              </a:defRPr>
            </a:pPr>
            <a:r>
              <a:t>Guardrails and hole covers must be secure</a:t>
            </a:r>
          </a:p>
          <a:p>
            <a:pPr>
              <a:spcAft>
                <a:spcPts val="800"/>
              </a:spcAft>
              <a:defRPr sz="2400">
                <a:solidFill>
                  <a:srgbClr val="1E293B"/>
                </a:solidFill>
                <a:latin typeface="Arial"/>
              </a:defRPr>
            </a:pPr>
            <a:r>
              <a:t>Anchor points must be rated correctly</a:t>
            </a:r>
          </a:p>
          <a:p>
            <a:pPr>
              <a:spcAft>
                <a:spcPts val="800"/>
              </a:spcAft>
              <a:defRPr sz="2400">
                <a:solidFill>
                  <a:srgbClr val="1E293B"/>
                </a:solidFill>
                <a:latin typeface="Arial"/>
              </a:defRPr>
            </a:pPr>
            <a:r>
              <a:t>Barricade work below when needed</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Any employee exposed to a fall hazard of six feet or greater must have fall protection training. Fall hazards include open edges, aerial lifts, scaffolds over six feet, and walkways bridging gaps. Guardrails, hole covers, and personal fall arrest systems must be properly installed, inspected, and used....</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Electrical Safety</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Inspect before use</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Use heavy-duty grounded cords</a:t>
            </a:r>
          </a:p>
          <a:p>
            <a:pPr>
              <a:spcAft>
                <a:spcPts val="800"/>
              </a:spcAft>
              <a:defRPr sz="2400">
                <a:solidFill>
                  <a:srgbClr val="1E293B"/>
                </a:solidFill>
                <a:latin typeface="Arial"/>
              </a:defRPr>
            </a:pPr>
            <a:r>
              <a:t>Never alter plug prongs</a:t>
            </a:r>
          </a:p>
          <a:p>
            <a:pPr>
              <a:spcAft>
                <a:spcPts val="800"/>
              </a:spcAft>
              <a:defRPr sz="2400">
                <a:solidFill>
                  <a:srgbClr val="1E293B"/>
                </a:solidFill>
                <a:latin typeface="Arial"/>
              </a:defRPr>
            </a:pPr>
            <a:r>
              <a:t>No exposed wires</a:t>
            </a:r>
          </a:p>
          <a:p>
            <a:pPr>
              <a:spcAft>
                <a:spcPts val="800"/>
              </a:spcAft>
              <a:defRPr sz="2400">
                <a:solidFill>
                  <a:srgbClr val="1E293B"/>
                </a:solidFill>
                <a:latin typeface="Arial"/>
              </a:defRPr>
            </a:pPr>
            <a:r>
              <a:t>Use GFCI protection</a:t>
            </a:r>
          </a:p>
          <a:p>
            <a:pPr>
              <a:spcAft>
                <a:spcPts val="800"/>
              </a:spcAft>
              <a:defRPr sz="2400">
                <a:solidFill>
                  <a:srgbClr val="1E293B"/>
                </a:solidFill>
                <a:latin typeface="Arial"/>
              </a:defRPr>
            </a:pPr>
            <a:r>
              <a:t>Keep cords out of walking paths</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Electrical safety starts with inspecting cords, plugs, and temporary wiring before use. Extension cords must be heavy-duty, grounded, undamaged, and used with GFCI protection. Never alter plug prongs, never use cords with exposed wires, and do not route cords through doorways or across walking paths where...</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Ladder Safety</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Use the safest option available</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Use ladders only when safer options are not practical</a:t>
            </a:r>
          </a:p>
          <a:p>
            <a:pPr>
              <a:spcAft>
                <a:spcPts val="800"/>
              </a:spcAft>
              <a:defRPr sz="2400">
                <a:solidFill>
                  <a:srgbClr val="1E293B"/>
                </a:solidFill>
                <a:latin typeface="Arial"/>
              </a:defRPr>
            </a:pPr>
            <a:r>
              <a:t>A-frame ladders fully open and locked</a:t>
            </a:r>
          </a:p>
          <a:p>
            <a:pPr>
              <a:spcAft>
                <a:spcPts val="800"/>
              </a:spcAft>
              <a:defRPr sz="2400">
                <a:solidFill>
                  <a:srgbClr val="1E293B"/>
                </a:solidFill>
                <a:latin typeface="Arial"/>
              </a:defRPr>
            </a:pPr>
            <a:r>
              <a:t>Do not stand on the top step</a:t>
            </a:r>
          </a:p>
          <a:p>
            <a:pPr>
              <a:spcAft>
                <a:spcPts val="800"/>
              </a:spcAft>
              <a:defRPr sz="2400">
                <a:solidFill>
                  <a:srgbClr val="1E293B"/>
                </a:solidFill>
                <a:latin typeface="Arial"/>
              </a:defRPr>
            </a:pPr>
            <a:r>
              <a:t>Maintain three points of contact</a:t>
            </a:r>
          </a:p>
          <a:p>
            <a:pPr>
              <a:spcAft>
                <a:spcPts val="800"/>
              </a:spcAft>
              <a:defRPr sz="2400">
                <a:solidFill>
                  <a:srgbClr val="1E293B"/>
                </a:solidFill>
                <a:latin typeface="Arial"/>
              </a:defRPr>
            </a:pPr>
            <a:r>
              <a:t>Tie off straight ladders and extend above landing</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Ladders should only be used for access or short-duration light-duty tasks when safer options are not practical. A-frame ladders must be fully opened with spreaders locked. Do not stand on the top step or straddle the top. Face the ladder while working and maintain three points of contact when climbing....</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Tools, LOTO, and Material Handling</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Plan the work</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Inspect tools, cords, guards, and accessories</a:t>
            </a:r>
          </a:p>
          <a:p>
            <a:pPr>
              <a:spcAft>
                <a:spcPts val="800"/>
              </a:spcAft>
              <a:defRPr sz="2400">
                <a:solidFill>
                  <a:srgbClr val="1E293B"/>
                </a:solidFill>
                <a:latin typeface="Arial"/>
              </a:defRPr>
            </a:pPr>
            <a:r>
              <a:t>Remove damaged tools from service</a:t>
            </a:r>
          </a:p>
          <a:p>
            <a:pPr>
              <a:spcAft>
                <a:spcPts val="800"/>
              </a:spcAft>
              <a:defRPr sz="2400">
                <a:solidFill>
                  <a:srgbClr val="1E293B"/>
                </a:solidFill>
                <a:latin typeface="Arial"/>
              </a:defRPr>
            </a:pPr>
            <a:r>
              <a:t>Control hazardous energy before work</a:t>
            </a:r>
          </a:p>
          <a:p>
            <a:pPr>
              <a:spcAft>
                <a:spcPts val="800"/>
              </a:spcAft>
              <a:defRPr sz="2400">
                <a:solidFill>
                  <a:srgbClr val="1E293B"/>
                </a:solidFill>
                <a:latin typeface="Arial"/>
              </a:defRPr>
            </a:pPr>
            <a:r>
              <a:t>Only authorized workers perform lockout/tagout</a:t>
            </a:r>
          </a:p>
          <a:p>
            <a:pPr>
              <a:spcAft>
                <a:spcPts val="800"/>
              </a:spcAft>
              <a:defRPr sz="2400">
                <a:solidFill>
                  <a:srgbClr val="1E293B"/>
                </a:solidFill>
                <a:latin typeface="Arial"/>
              </a:defRPr>
            </a:pPr>
            <a:r>
              <a:t>Plan lifts and ask for help</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Employees must be trained before using hand or power tools. Inspect tools, cords, guards, and accessories before each use. Damaged tools must be removed from service and reported. When equipment or systems contain hazardous energy, lockout/tagout procedures are required. Material handling also requires...</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Fire Safety and Housekeeping</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Keep the site clear</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Know the site emergency action plan</a:t>
            </a:r>
          </a:p>
          <a:p>
            <a:pPr>
              <a:spcAft>
                <a:spcPts val="800"/>
              </a:spcAft>
              <a:defRPr sz="2400">
                <a:solidFill>
                  <a:srgbClr val="1E293B"/>
                </a:solidFill>
                <a:latin typeface="Arial"/>
              </a:defRPr>
            </a:pPr>
            <a:r>
              <a:t>Hot work requires the proper permit</a:t>
            </a:r>
          </a:p>
          <a:p>
            <a:pPr>
              <a:spcAft>
                <a:spcPts val="800"/>
              </a:spcAft>
              <a:defRPr sz="2400">
                <a:solidFill>
                  <a:srgbClr val="1E293B"/>
                </a:solidFill>
                <a:latin typeface="Arial"/>
              </a:defRPr>
            </a:pPr>
            <a:r>
              <a:t>Call 911 for serious fires</a:t>
            </a:r>
          </a:p>
          <a:p>
            <a:pPr>
              <a:spcAft>
                <a:spcPts val="800"/>
              </a:spcAft>
              <a:defRPr sz="2400">
                <a:solidFill>
                  <a:srgbClr val="1E293B"/>
                </a:solidFill>
                <a:latin typeface="Arial"/>
              </a:defRPr>
            </a:pPr>
            <a:r>
              <a:t>Keep doors, stairs, and extinguishers clear</a:t>
            </a:r>
          </a:p>
          <a:p>
            <a:pPr>
              <a:spcAft>
                <a:spcPts val="800"/>
              </a:spcAft>
              <a:defRPr sz="2400">
                <a:solidFill>
                  <a:srgbClr val="1E293B"/>
                </a:solidFill>
                <a:latin typeface="Arial"/>
              </a:defRPr>
            </a:pPr>
            <a:r>
              <a:t>Clean spills or barricade the area</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Fire prevention means controlling heat, oxygen, and fuel. Know the site-specific emergency action plan. Hot work requires the proper permit and must follow federal, city, local, and project requirements. If a fire is too large, call 911 first. Housekeeping must be performed daily. Keep walkways, aisles,...</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HazCom, Scaffolds, and Lifts</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Know the controls</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Know SDS location</a:t>
            </a:r>
          </a:p>
          <a:p>
            <a:pPr>
              <a:spcAft>
                <a:spcPts val="800"/>
              </a:spcAft>
              <a:defRPr sz="2400">
                <a:solidFill>
                  <a:srgbClr val="1E293B"/>
                </a:solidFill>
                <a:latin typeface="Arial"/>
              </a:defRPr>
            </a:pPr>
            <a:r>
              <a:t>Label containers properly</a:t>
            </a:r>
          </a:p>
          <a:p>
            <a:pPr>
              <a:spcAft>
                <a:spcPts val="800"/>
              </a:spcAft>
              <a:defRPr sz="2400">
                <a:solidFill>
                  <a:srgbClr val="1E293B"/>
                </a:solidFill>
                <a:latin typeface="Arial"/>
              </a:defRPr>
            </a:pPr>
            <a:r>
              <a:t>Scaffolds inspected and documented daily</a:t>
            </a:r>
          </a:p>
          <a:p>
            <a:pPr>
              <a:spcAft>
                <a:spcPts val="800"/>
              </a:spcAft>
              <a:defRPr sz="2400">
                <a:solidFill>
                  <a:srgbClr val="1E293B"/>
                </a:solidFill>
                <a:latin typeface="Arial"/>
              </a:defRPr>
            </a:pPr>
            <a:r>
              <a:t>Never stand on guardrails</a:t>
            </a:r>
          </a:p>
          <a:p>
            <a:pPr>
              <a:spcAft>
                <a:spcPts val="800"/>
              </a:spcAft>
              <a:defRPr sz="2400">
                <a:solidFill>
                  <a:srgbClr val="1E293B"/>
                </a:solidFill>
                <a:latin typeface="Arial"/>
              </a:defRPr>
            </a:pPr>
            <a:r>
              <a:t>Only trained employees use lifts</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All employees must understand hazard communication, GHS labels, and the location of Safety Data Sheets. Scaffolds must be erected by a competent person, installed according to manufacturer requirements, inspected daily, and documented. Mobile elevating work platforms and scissor lifts may only be used by...</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Heavy Equipment and Confined Space</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Stay alert</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Listen for backup alarms</a:t>
            </a:r>
          </a:p>
          <a:p>
            <a:pPr>
              <a:spcAft>
                <a:spcPts val="800"/>
              </a:spcAft>
              <a:defRPr sz="2400">
                <a:solidFill>
                  <a:srgbClr val="1E293B"/>
                </a:solidFill>
                <a:latin typeface="Arial"/>
              </a:defRPr>
            </a:pPr>
            <a:r>
              <a:t>Make eye contact with operators</a:t>
            </a:r>
          </a:p>
          <a:p>
            <a:pPr>
              <a:spcAft>
                <a:spcPts val="800"/>
              </a:spcAft>
              <a:defRPr sz="2400">
                <a:solidFill>
                  <a:srgbClr val="1E293B"/>
                </a:solidFill>
                <a:latin typeface="Arial"/>
              </a:defRPr>
            </a:pPr>
            <a:r>
              <a:t>Stay clear of loading areas</a:t>
            </a:r>
          </a:p>
          <a:p>
            <a:pPr>
              <a:spcAft>
                <a:spcPts val="800"/>
              </a:spcAft>
              <a:defRPr sz="2400">
                <a:solidFill>
                  <a:srgbClr val="1E293B"/>
                </a:solidFill>
                <a:latin typeface="Arial"/>
              </a:defRPr>
            </a:pPr>
            <a:r>
              <a:t>Watch overhead and underground hazards</a:t>
            </a:r>
          </a:p>
          <a:p>
            <a:pPr>
              <a:spcAft>
                <a:spcPts val="800"/>
              </a:spcAft>
              <a:defRPr sz="2400">
                <a:solidFill>
                  <a:srgbClr val="1E293B"/>
                </a:solidFill>
                <a:latin typeface="Arial"/>
              </a:defRPr>
            </a:pPr>
            <a:r>
              <a:t>Confined space requires special training</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When working near heavy equipment, stay alert. Listen for backup alarms, make eye contact with operators, stay clear of loading areas, and never walk beside equipment being loaded. Confined space entry requires specialized training. Hazards may include low oxygen, hazardous atmosphere, explosive gases,...</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Asbestos, Lead, Silica, and Environmental Issues</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Authorized work only</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Only trained workers handle asbestos or lead</a:t>
            </a:r>
          </a:p>
          <a:p>
            <a:pPr>
              <a:spcAft>
                <a:spcPts val="800"/>
              </a:spcAft>
              <a:defRPr sz="2400">
                <a:solidFill>
                  <a:srgbClr val="1E293B"/>
                </a:solidFill>
                <a:latin typeface="Arial"/>
              </a:defRPr>
            </a:pPr>
            <a:r>
              <a:t>Use engineering controls and required PPE</a:t>
            </a:r>
          </a:p>
          <a:p>
            <a:pPr>
              <a:spcAft>
                <a:spcPts val="800"/>
              </a:spcAft>
              <a:defRPr sz="2400">
                <a:solidFill>
                  <a:srgbClr val="1E293B"/>
                </a:solidFill>
                <a:latin typeface="Arial"/>
              </a:defRPr>
            </a:pPr>
            <a:r>
              <a:t>Control silica dust with wet methods or HEPA vacuums</a:t>
            </a:r>
          </a:p>
          <a:p>
            <a:pPr>
              <a:spcAft>
                <a:spcPts val="800"/>
              </a:spcAft>
              <a:defRPr sz="2400">
                <a:solidFill>
                  <a:srgbClr val="1E293B"/>
                </a:solidFill>
                <a:latin typeface="Arial"/>
              </a:defRPr>
            </a:pPr>
            <a:r>
              <a:t>Dispose of waste properly</a:t>
            </a:r>
          </a:p>
          <a:p>
            <a:pPr>
              <a:spcAft>
                <a:spcPts val="800"/>
              </a:spcAft>
              <a:defRPr sz="2400">
                <a:solidFill>
                  <a:srgbClr val="1E293B"/>
                </a:solidFill>
                <a:latin typeface="Arial"/>
              </a:defRPr>
            </a:pPr>
            <a:r>
              <a:t>Ask your supervisor before disposal</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Only authorized and trained personnel may handle or remove asbestos-containing materials or lead. PAL and all federal, state, local, and project requirements must be followed. Respirable crystalline silica can cause serious illness. Wet methods, HEPA vacuums, dust collection, medical surveillance when...</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Emergency Action Plan</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Know where to go</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Know the posted EAP</a:t>
            </a:r>
          </a:p>
          <a:p>
            <a:pPr>
              <a:spcAft>
                <a:spcPts val="800"/>
              </a:spcAft>
              <a:defRPr sz="2400">
                <a:solidFill>
                  <a:srgbClr val="1E293B"/>
                </a:solidFill>
                <a:latin typeface="Arial"/>
              </a:defRPr>
            </a:pPr>
            <a:r>
              <a:t>Know your muster point</a:t>
            </a:r>
          </a:p>
          <a:p>
            <a:pPr>
              <a:spcAft>
                <a:spcPts val="800"/>
              </a:spcAft>
              <a:defRPr sz="2400">
                <a:solidFill>
                  <a:srgbClr val="1E293B"/>
                </a:solidFill>
                <a:latin typeface="Arial"/>
              </a:defRPr>
            </a:pPr>
            <a:r>
              <a:t>Walk, do not run</a:t>
            </a:r>
          </a:p>
          <a:p>
            <a:pPr>
              <a:spcAft>
                <a:spcPts val="800"/>
              </a:spcAft>
              <a:defRPr sz="2400">
                <a:solidFill>
                  <a:srgbClr val="1E293B"/>
                </a:solidFill>
                <a:latin typeface="Arial"/>
              </a:defRPr>
            </a:pPr>
            <a:r>
              <a:t>Stay until released</a:t>
            </a:r>
          </a:p>
          <a:p>
            <a:pPr>
              <a:spcAft>
                <a:spcPts val="800"/>
              </a:spcAft>
              <a:defRPr sz="2400">
                <a:solidFill>
                  <a:srgbClr val="1E293B"/>
                </a:solidFill>
                <a:latin typeface="Arial"/>
              </a:defRPr>
            </a:pPr>
            <a:r>
              <a:t>Notify PAL supervision and EH&amp;S</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Every project must have an emergency action plan posted. Know your muster point before work begins. During an emergency, walk, do not run. Shut down heavy equipment if safe to do so, report to the muster point, and do not leave until released. After notifying proper authorities, PAL supervision and EH&amp;S...</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Discipline, Reporting, and Return To Work</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Report immediately</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Stop unsafe work</a:t>
            </a:r>
          </a:p>
          <a:p>
            <a:pPr>
              <a:spcAft>
                <a:spcPts val="800"/>
              </a:spcAft>
              <a:defRPr sz="2400">
                <a:solidFill>
                  <a:srgbClr val="1E293B"/>
                </a:solidFill>
                <a:latin typeface="Arial"/>
              </a:defRPr>
            </a:pPr>
            <a:r>
              <a:t>Report all incidents immediately</a:t>
            </a:r>
          </a:p>
          <a:p>
            <a:pPr>
              <a:spcAft>
                <a:spcPts val="800"/>
              </a:spcAft>
              <a:defRPr sz="2400">
                <a:solidFill>
                  <a:srgbClr val="1E293B"/>
                </a:solidFill>
                <a:latin typeface="Arial"/>
              </a:defRPr>
            </a:pPr>
            <a:r>
              <a:t>Investigations are fact finding, not fault finding</a:t>
            </a:r>
          </a:p>
          <a:p>
            <a:pPr>
              <a:spcAft>
                <a:spcPts val="800"/>
              </a:spcAft>
              <a:defRPr sz="2400">
                <a:solidFill>
                  <a:srgbClr val="1E293B"/>
                </a:solidFill>
                <a:latin typeface="Arial"/>
              </a:defRPr>
            </a:pPr>
            <a:r>
              <a:t>Medical paperwork is required before returning</a:t>
            </a:r>
          </a:p>
          <a:p>
            <a:pPr>
              <a:spcAft>
                <a:spcPts val="800"/>
              </a:spcAft>
              <a:defRPr sz="2400">
                <a:solidFill>
                  <a:srgbClr val="1E293B"/>
                </a:solidFill>
                <a:latin typeface="Arial"/>
              </a:defRPr>
            </a:pPr>
            <a:r>
              <a:t>Light duty may be available if authorized</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PAL has disciplinary rules for serious safety violations and repeated non-serious violations. At the same time, no one has the right to put you in an unsafe situation, and no employee will be penalized for refusing unsafe work. All accidents and incidents must be reported immediately to your supervisor and...</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Alcohol, Drugs, Smoking, and Testing</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Zero tolerance</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Drug-free workplace</a:t>
            </a:r>
          </a:p>
          <a:p>
            <a:pPr>
              <a:spcAft>
                <a:spcPts val="800"/>
              </a:spcAft>
              <a:defRPr sz="2400">
                <a:solidFill>
                  <a:srgbClr val="1E293B"/>
                </a:solidFill>
                <a:latin typeface="Arial"/>
              </a:defRPr>
            </a:pPr>
            <a:r>
              <a:t>No alcohol during work or lunch breaks</a:t>
            </a:r>
          </a:p>
          <a:p>
            <a:pPr>
              <a:spcAft>
                <a:spcPts val="800"/>
              </a:spcAft>
              <a:defRPr sz="2400">
                <a:solidFill>
                  <a:srgbClr val="1E293B"/>
                </a:solidFill>
                <a:latin typeface="Arial"/>
              </a:defRPr>
            </a:pPr>
            <a:r>
              <a:t>Illegal drugs are prohibited</a:t>
            </a:r>
          </a:p>
          <a:p>
            <a:pPr>
              <a:spcAft>
                <a:spcPts val="800"/>
              </a:spcAft>
              <a:defRPr sz="2400">
                <a:solidFill>
                  <a:srgbClr val="1E293B"/>
                </a:solidFill>
                <a:latin typeface="Arial"/>
              </a:defRPr>
            </a:pPr>
            <a:r>
              <a:t>No smoking on NYC construction sites</a:t>
            </a:r>
          </a:p>
          <a:p>
            <a:pPr>
              <a:spcAft>
                <a:spcPts val="800"/>
              </a:spcAft>
              <a:defRPr sz="2400">
                <a:solidFill>
                  <a:srgbClr val="1E293B"/>
                </a:solidFill>
                <a:latin typeface="Arial"/>
              </a:defRPr>
            </a:pPr>
            <a:r>
              <a:t>Testing may be required</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PAL maintains a drug-free and alcohol-free workplace. Alcohol consumption is not allowed, including during lunch breaks. Illegal drugs, controlled substances, drug paraphernalia, or reporting to work under the influence are prohibited. Smoking is not permitted on New York City construction sites. PAL...</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498079" cy="411480"/>
          </a:xfrm>
          <a:prstGeom prst="rect">
            <a:avLst/>
          </a:prstGeom>
          <a:noFill/>
        </p:spPr>
        <p:txBody>
          <a:bodyPr wrap="none">
            <a:spAutoFit/>
          </a:bodyPr>
          <a:lstStyle/>
          <a:p>
            <a:r>
              <a:rPr sz="3000" b="1">
                <a:solidFill>
                  <a:srgbClr val="1B3A5C"/>
                </a:solidFill>
                <a:latin typeface="Arial"/>
              </a:rPr>
              <a:t>Questions and Acknowledgement</a:t>
            </a:r>
          </a:p>
        </p:txBody>
      </p:sp>
      <p:sp>
        <p:nvSpPr>
          <p:cNvPr id="4" name="TextBox 3"/>
          <p:cNvSpPr txBox="1"/>
          <p:nvPr/>
        </p:nvSpPr>
        <p:spPr>
          <a:xfrm>
            <a:off x="530352" y="896112"/>
            <a:ext cx="6858000" cy="292608"/>
          </a:xfrm>
          <a:prstGeom prst="rect">
            <a:avLst/>
          </a:prstGeom>
          <a:noFill/>
        </p:spPr>
        <p:txBody>
          <a:bodyPr wrap="none">
            <a:spAutoFit/>
          </a:bodyPr>
          <a:lstStyle/>
          <a:p>
            <a:r>
              <a:rPr sz="1400" b="0">
                <a:solidFill>
                  <a:srgbClr val="64748B"/>
                </a:solidFill>
                <a:latin typeface="Arial"/>
              </a:rPr>
              <a:t>Stop and ask when unsure</a:t>
            </a:r>
          </a:p>
        </p:txBody>
      </p:sp>
      <p:sp>
        <p:nvSpPr>
          <p:cNvPr id="5" name="Rectangle 4"/>
          <p:cNvSpPr/>
          <p:nvPr/>
        </p:nvSpPr>
        <p:spPr>
          <a:xfrm>
            <a:off x="7635240" y="1051560"/>
            <a:ext cx="3977639" cy="3977639"/>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514600"/>
            <a:ext cx="3429000" cy="685800"/>
          </a:xfrm>
          <a:prstGeom prst="rect">
            <a:avLst/>
          </a:prstGeom>
          <a:noFill/>
        </p:spPr>
        <p:txBody>
          <a:bodyPr wrap="none">
            <a:spAutoFit/>
          </a:bodyPr>
          <a:lstStyle/>
          <a:p>
            <a:pPr algn="ctr"/>
            <a:r>
              <a:rPr sz="1800" b="1">
                <a:solidFill>
                  <a:srgbClr val="1B3A5C"/>
                </a:solidFill>
                <a:latin typeface="Arial"/>
              </a:rPr>
              <a:t>Visual / video clip</a:t>
            </a:r>
            <a:br/>
            <a:r>
              <a:t>placeholder</a:t>
            </a:r>
          </a:p>
        </p:txBody>
      </p:sp>
      <p:sp>
        <p:nvSpPr>
          <p:cNvPr id="7" name="TextBox 6"/>
          <p:cNvSpPr txBox="1"/>
          <p:nvPr/>
        </p:nvSpPr>
        <p:spPr>
          <a:xfrm>
            <a:off x="685800" y="1508760"/>
            <a:ext cx="6355080" cy="3474720"/>
          </a:xfrm>
          <a:prstGeom prst="rect">
            <a:avLst/>
          </a:prstGeom>
          <a:noFill/>
        </p:spPr>
        <p:txBody>
          <a:bodyPr wrap="square" lIns="137160">
            <a:spAutoFit/>
          </a:bodyPr>
          <a:lstStyle/>
          <a:p>
            <a:pPr>
              <a:spcAft>
                <a:spcPts val="800"/>
              </a:spcAft>
              <a:defRPr sz="2400">
                <a:solidFill>
                  <a:srgbClr val="1E293B"/>
                </a:solidFill>
                <a:latin typeface="Arial"/>
              </a:defRPr>
            </a:pPr>
            <a:r>
              <a:t>Ask your supervisor, foreman, or superintendent</a:t>
            </a:r>
          </a:p>
          <a:p>
            <a:pPr>
              <a:spcAft>
                <a:spcPts val="800"/>
              </a:spcAft>
              <a:defRPr sz="2400">
                <a:solidFill>
                  <a:srgbClr val="1E293B"/>
                </a:solidFill>
                <a:latin typeface="Arial"/>
              </a:defRPr>
            </a:pPr>
            <a:r>
              <a:t>Contact PAL EH&amp;S with concerns</a:t>
            </a:r>
          </a:p>
          <a:p>
            <a:pPr>
              <a:spcAft>
                <a:spcPts val="800"/>
              </a:spcAft>
              <a:defRPr sz="2400">
                <a:solidFill>
                  <a:srgbClr val="1E293B"/>
                </a:solidFill>
                <a:latin typeface="Arial"/>
              </a:defRPr>
            </a:pPr>
            <a:r>
              <a:t>Do not continue if you are unsure</a:t>
            </a:r>
          </a:p>
          <a:p>
            <a:pPr>
              <a:spcAft>
                <a:spcPts val="800"/>
              </a:spcAft>
              <a:defRPr sz="2400">
                <a:solidFill>
                  <a:srgbClr val="1E293B"/>
                </a:solidFill>
                <a:latin typeface="Arial"/>
              </a:defRPr>
            </a:pPr>
            <a:r>
              <a:t>Complete the acknowledgement before starting work</a:t>
            </a:r>
          </a:p>
        </p:txBody>
      </p:sp>
      <p:sp>
        <p:nvSpPr>
          <p:cNvPr id="8" name="Rectangle 7"/>
          <p:cNvSpPr/>
          <p:nvPr/>
        </p:nvSpPr>
        <p:spPr>
          <a:xfrm>
            <a:off x="685800" y="5230368"/>
            <a:ext cx="10927080" cy="932688"/>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58384"/>
            <a:ext cx="1005840" cy="228600"/>
          </a:xfrm>
          <a:prstGeom prst="rect">
            <a:avLst/>
          </a:prstGeom>
          <a:noFill/>
        </p:spPr>
        <p:txBody>
          <a:bodyPr wrap="none">
            <a:spAutoFit/>
          </a:bodyPr>
          <a:lstStyle/>
          <a:p>
            <a:r>
              <a:rPr sz="900" b="1">
                <a:solidFill>
                  <a:srgbClr val="1B3A5C"/>
                </a:solidFill>
                <a:latin typeface="Arial"/>
              </a:rPr>
              <a:t>Narration</a:t>
            </a:r>
          </a:p>
        </p:txBody>
      </p:sp>
      <p:sp>
        <p:nvSpPr>
          <p:cNvPr id="10" name="TextBox 9"/>
          <p:cNvSpPr txBox="1"/>
          <p:nvPr/>
        </p:nvSpPr>
        <p:spPr>
          <a:xfrm>
            <a:off x="868680" y="5596128"/>
            <a:ext cx="10469880" cy="384048"/>
          </a:xfrm>
          <a:prstGeom prst="rect">
            <a:avLst/>
          </a:prstGeom>
          <a:noFill/>
        </p:spPr>
        <p:txBody>
          <a:bodyPr wrap="none">
            <a:spAutoFit/>
          </a:bodyPr>
          <a:lstStyle/>
          <a:p>
            <a:r>
              <a:rPr sz="1000" b="0">
                <a:solidFill>
                  <a:srgbClr val="1E293B"/>
                </a:solidFill>
                <a:latin typeface="Arial"/>
              </a:rPr>
              <a:t>If you have questions, ask your supervisor, foreman, general superintendent, or PAL EH&amp;S. Safety depends on communication. If you are unsure, stop and ask before continuing. Thank you for completing PAL Environmental Services orientation.</a:t>
            </a:r>
          </a:p>
        </p:txBody>
      </p:sp>
      <p:sp>
        <p:nvSpPr>
          <p:cNvPr id="11" name="TextBox 10"/>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12" name="TextBox 11"/>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EC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8229600" cy="457200"/>
          </a:xfrm>
          <a:prstGeom prst="rect">
            <a:avLst/>
          </a:prstGeom>
          <a:noFill/>
        </p:spPr>
        <p:txBody>
          <a:bodyPr wrap="none">
            <a:spAutoFit/>
          </a:bodyPr>
          <a:lstStyle/>
          <a:p>
            <a:r>
              <a:rPr sz="3200" b="1">
                <a:solidFill>
                  <a:srgbClr val="1B3A5C"/>
                </a:solidFill>
                <a:latin typeface="Arial"/>
              </a:rPr>
              <a:t>Canva Production Notes</a:t>
            </a:r>
          </a:p>
        </p:txBody>
      </p:sp>
      <p:sp>
        <p:nvSpPr>
          <p:cNvPr id="4" name="TextBox 3"/>
          <p:cNvSpPr txBox="1"/>
          <p:nvPr/>
        </p:nvSpPr>
        <p:spPr>
          <a:xfrm>
            <a:off x="822960" y="1325880"/>
            <a:ext cx="10424160" cy="3840480"/>
          </a:xfrm>
          <a:prstGeom prst="rect">
            <a:avLst/>
          </a:prstGeom>
          <a:noFill/>
        </p:spPr>
        <p:txBody>
          <a:bodyPr wrap="square" lIns="137160">
            <a:spAutoFit/>
          </a:bodyPr>
          <a:lstStyle/>
          <a:p>
            <a:pPr>
              <a:spcAft>
                <a:spcPts val="800"/>
              </a:spcAft>
              <a:defRPr sz="2300">
                <a:solidFill>
                  <a:srgbClr val="1E293B"/>
                </a:solidFill>
                <a:latin typeface="Arial"/>
              </a:defRPr>
            </a:pPr>
            <a:r>
              <a:t>Upload this deck into Canva as a presentation or video project.</a:t>
            </a:r>
          </a:p>
          <a:p>
            <a:pPr>
              <a:spcAft>
                <a:spcPts val="800"/>
              </a:spcAft>
              <a:defRPr sz="2300">
                <a:solidFill>
                  <a:srgbClr val="1E293B"/>
                </a:solidFill>
                <a:latin typeface="Arial"/>
              </a:defRPr>
            </a:pPr>
            <a:r>
              <a:t>Replace visual placeholders with PAL jobsite photos, Canva stock clips, or AI-generated safety clips.</a:t>
            </a:r>
          </a:p>
          <a:p>
            <a:pPr>
              <a:spcAft>
                <a:spcPts val="800"/>
              </a:spcAft>
              <a:defRPr sz="2300">
                <a:solidFill>
                  <a:srgbClr val="1E293B"/>
                </a:solidFill>
                <a:latin typeface="Arial"/>
              </a:defRPr>
            </a:pPr>
            <a:r>
              <a:t>Use the narration file for voiceover, then add captions from the short bullet text.</a:t>
            </a:r>
          </a:p>
          <a:p>
            <a:pPr>
              <a:spcAft>
                <a:spcPts val="800"/>
              </a:spcAft>
              <a:defRPr sz="2300">
                <a:solidFill>
                  <a:srgbClr val="1E293B"/>
                </a:solidFill>
                <a:latin typeface="Arial"/>
              </a:defRPr>
            </a:pPr>
            <a:r>
              <a:t>Recommended video length: 10-14 minutes, or combine scenes for a 5-7 minute short version.</a:t>
            </a:r>
          </a:p>
          <a:p>
            <a:pPr>
              <a:spcAft>
                <a:spcPts val="800"/>
              </a:spcAft>
              <a:defRPr sz="2300">
                <a:solidFill>
                  <a:srgbClr val="1E293B"/>
                </a:solidFill>
                <a:latin typeface="Arial"/>
              </a:defRPr>
            </a:pPr>
            <a:r>
              <a:t>Office/safety should approve the script before final export.</a:t>
            </a:r>
          </a:p>
        </p:txBody>
      </p:sp>
      <p:sp>
        <p:nvSpPr>
          <p:cNvPr id="5" name="TextBox 4"/>
          <p:cNvSpPr txBox="1"/>
          <p:nvPr/>
        </p:nvSpPr>
        <p:spPr>
          <a:xfrm>
            <a:off x="502920" y="6419088"/>
            <a:ext cx="4114800" cy="228600"/>
          </a:xfrm>
          <a:prstGeom prst="rect">
            <a:avLst/>
          </a:prstGeom>
          <a:noFill/>
        </p:spPr>
        <p:txBody>
          <a:bodyPr wrap="none">
            <a:spAutoFit/>
          </a:bodyPr>
          <a:lstStyle/>
          <a:p>
            <a:r>
              <a:rPr sz="900" b="1">
                <a:solidFill>
                  <a:srgbClr val="64748B"/>
                </a:solidFill>
                <a:latin typeface="Arial"/>
              </a:rPr>
              <a:t>PAL Environmental Services</a:t>
            </a:r>
          </a:p>
        </p:txBody>
      </p:sp>
      <p:sp>
        <p:nvSpPr>
          <p:cNvPr id="6" name="TextBox 5"/>
          <p:cNvSpPr txBox="1"/>
          <p:nvPr/>
        </p:nvSpPr>
        <p:spPr>
          <a:xfrm>
            <a:off x="10424160" y="6419088"/>
            <a:ext cx="1280160" cy="228600"/>
          </a:xfrm>
          <a:prstGeom prst="rect">
            <a:avLst/>
          </a:prstGeom>
          <a:noFill/>
        </p:spPr>
        <p:txBody>
          <a:bodyPr wrap="none">
            <a:spAutoFit/>
          </a:bodyPr>
          <a:lstStyle/>
          <a:p>
            <a:pPr algn="r"/>
            <a:r>
              <a:rPr sz="900" b="0">
                <a:solidFill>
                  <a:srgbClr val="64748B"/>
                </a:solidFill>
                <a:latin typeface="Arial"/>
              </a:rPr>
              <a:t>Scene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