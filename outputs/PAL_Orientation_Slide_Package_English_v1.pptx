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notesSlides/notesSlide24.xml" ContentType="application/vnd.openxmlformats-officedocument.presentationml.notesSlide+xml"/>
  <Override PartName="/ppt/slides/slide25.xml" ContentType="application/vnd.openxmlformats-officedocument.presentationml.slide+xml"/>
  <Override PartName="/ppt/notesSlides/notesSlide25.xml" ContentType="application/vnd.openxmlformats-officedocument.presentationml.notesSlide+xml"/>
  <Override PartName="/ppt/slides/slide26.xml" ContentType="application/vnd.openxmlformats-officedocument.presentationml.slide+xml"/>
  <Override PartName="/ppt/notesSlides/notesSlide26.xml" ContentType="application/vnd.openxmlformats-officedocument.presentationml.notesSlide+xml"/>
  <Override PartName="/ppt/slides/slide27.xml" ContentType="application/vnd.openxmlformats-officedocument.presentationml.slide+xml"/>
  <Override PartName="/ppt/notesSlides/notesSlide27.xml" ContentType="application/vnd.openxmlformats-officedocument.presentationml.notesSlide+xml"/>
  <Override PartName="/ppt/slides/slide28.xml" ContentType="application/vnd.openxmlformats-officedocument.presentationml.slide+xml"/>
  <Override PartName="/ppt/notesSlides/notesSlide28.xml" ContentType="application/vnd.openxmlformats-officedocument.presentationml.notesSlide+xml"/>
  <Override PartName="/ppt/slides/slide29.xml" ContentType="application/vnd.openxmlformats-officedocument.presentationml.slide+xml"/>
  <Override PartName="/ppt/notesSlides/notesSlide29.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6917267c584e4009" /><Relationship Type="http://schemas.openxmlformats.org/officeDocument/2006/relationships/extended-properties" Target="/docProps/app.xml" Id="Rfb40953d227a4cc8" /><Relationship Type="http://schemas.openxmlformats.org/officeDocument/2006/relationships/officeDocument" Target="/ppt/presentation.xml" Id="Rf78e60f01b4a4307" /></Relationships>
</file>

<file path=ppt/presentation.xml><?xml version="1.0" encoding="utf-8"?>
<p:presentation xmlns:p="http://schemas.openxmlformats.org/presentationml/2006/main">
  <p:sldMasterIdLst>
    <p:sldMasterId xmlns:r="http://schemas.openxmlformats.org/officeDocument/2006/relationships" id="2147483648" r:id="Re6ffd4290e0d4dd9"/>
  </p:sldMasterIdLst>
  <p:notesMasterIdLst>
    <p:notesMasterId xmlns:r="http://schemas.openxmlformats.org/officeDocument/2006/relationships" r:id="Re71aaf1eb5d94da1"/>
  </p:notesMasterIdLst>
  <p:sldIdLst>
    <p:sldId xmlns:r="http://schemas.openxmlformats.org/officeDocument/2006/relationships" id="256" r:id="R7bdb1ef5a81c4244"/>
    <p:sldId xmlns:r="http://schemas.openxmlformats.org/officeDocument/2006/relationships" id="257" r:id="Rd0c2a052dc714a0a"/>
    <p:sldId xmlns:r="http://schemas.openxmlformats.org/officeDocument/2006/relationships" id="258" r:id="Rb7fe6b159a3445ce"/>
    <p:sldId xmlns:r="http://schemas.openxmlformats.org/officeDocument/2006/relationships" id="259" r:id="R28194467ce2744b5"/>
    <p:sldId xmlns:r="http://schemas.openxmlformats.org/officeDocument/2006/relationships" id="260" r:id="Rda77c7730762487a"/>
    <p:sldId xmlns:r="http://schemas.openxmlformats.org/officeDocument/2006/relationships" id="261" r:id="Ra7801c9f0d564f16"/>
    <p:sldId xmlns:r="http://schemas.openxmlformats.org/officeDocument/2006/relationships" id="262" r:id="R1779574b319e4a92"/>
    <p:sldId xmlns:r="http://schemas.openxmlformats.org/officeDocument/2006/relationships" id="263" r:id="R449832e7be1745f3"/>
    <p:sldId xmlns:r="http://schemas.openxmlformats.org/officeDocument/2006/relationships" id="264" r:id="R6e951787035c4af7"/>
    <p:sldId xmlns:r="http://schemas.openxmlformats.org/officeDocument/2006/relationships" id="265" r:id="Rce917bf7552b4066"/>
    <p:sldId xmlns:r="http://schemas.openxmlformats.org/officeDocument/2006/relationships" id="266" r:id="R71677b4024b94d41"/>
    <p:sldId xmlns:r="http://schemas.openxmlformats.org/officeDocument/2006/relationships" id="267" r:id="R3929551ff6384de5"/>
    <p:sldId xmlns:r="http://schemas.openxmlformats.org/officeDocument/2006/relationships" id="268" r:id="Rc96f7c728e01425e"/>
    <p:sldId xmlns:r="http://schemas.openxmlformats.org/officeDocument/2006/relationships" id="269" r:id="R82dcc1dd6783481d"/>
    <p:sldId xmlns:r="http://schemas.openxmlformats.org/officeDocument/2006/relationships" id="270" r:id="R88b2a0d339aa452f"/>
    <p:sldId xmlns:r="http://schemas.openxmlformats.org/officeDocument/2006/relationships" id="271" r:id="R92de3eacef1d471c"/>
    <p:sldId xmlns:r="http://schemas.openxmlformats.org/officeDocument/2006/relationships" id="272" r:id="R651ec8fc1065440c"/>
    <p:sldId xmlns:r="http://schemas.openxmlformats.org/officeDocument/2006/relationships" id="273" r:id="R01c1043233e84d3b"/>
    <p:sldId xmlns:r="http://schemas.openxmlformats.org/officeDocument/2006/relationships" id="274" r:id="R51e59f8377b74c36"/>
    <p:sldId xmlns:r="http://schemas.openxmlformats.org/officeDocument/2006/relationships" id="275" r:id="R0116ddef88054bab"/>
    <p:sldId xmlns:r="http://schemas.openxmlformats.org/officeDocument/2006/relationships" id="276" r:id="R510bf7b85d2b4780"/>
    <p:sldId xmlns:r="http://schemas.openxmlformats.org/officeDocument/2006/relationships" id="277" r:id="R8e6900c37f924b60"/>
    <p:sldId xmlns:r="http://schemas.openxmlformats.org/officeDocument/2006/relationships" id="278" r:id="R51a5c580c4154d32"/>
    <p:sldId xmlns:r="http://schemas.openxmlformats.org/officeDocument/2006/relationships" id="279" r:id="R917bca5e2b594a5d"/>
    <p:sldId xmlns:r="http://schemas.openxmlformats.org/officeDocument/2006/relationships" id="280" r:id="R67997490dc624ff6"/>
    <p:sldId xmlns:r="http://schemas.openxmlformats.org/officeDocument/2006/relationships" id="281" r:id="R9d93056ccbae4fe1"/>
    <p:sldId xmlns:r="http://schemas.openxmlformats.org/officeDocument/2006/relationships" id="282" r:id="Rde9c391349794868"/>
    <p:sldId xmlns:r="http://schemas.openxmlformats.org/officeDocument/2006/relationships" id="283" r:id="R29f559b737b74f11"/>
    <p:sldId xmlns:r="http://schemas.openxmlformats.org/officeDocument/2006/relationships" id="284" r:id="Rc11659ae297c4e89"/>
  </p:sldIdLst>
  <p:sldSz cx="12192000" cy="6858000"/>
  <p:notesSz cx="6858000" cy="9144000"/>
  <p:defaultTextStyle>
    <a:defPPr xmlns:a="http://schemas.openxmlformats.org/drawingml/2006/main">
      <a:defRPr lang="en-US"/>
    </a:defPPr>
    <a:lvl1pPr xmlns:a="http://schemas.openxmlformats.org/drawingml/2006/main" marL="0" indent="0" algn="l" defTabSz="914400">
      <a:defRPr sz="1800" kern="1200">
        <a:solidFill>
          <a:schemeClr val="tx1"/>
        </a:solidFill>
        <a:latin typeface="+mn-lt"/>
        <a:ea typeface="+mn-ea"/>
        <a:cs typeface="+mn-cs"/>
      </a:defRPr>
    </a:lvl1pPr>
    <a:lvl2pPr xmlns:a="http://schemas.openxmlformats.org/drawingml/2006/main" marL="457200" indent="0" algn="l" defTabSz="914400">
      <a:defRPr sz="1800" kern="1200">
        <a:solidFill>
          <a:schemeClr val="tx1"/>
        </a:solidFill>
        <a:latin typeface="+mn-lt"/>
        <a:ea typeface="+mn-ea"/>
        <a:cs typeface="+mn-cs"/>
      </a:defRPr>
    </a:lvl2pPr>
    <a:lvl3pPr xmlns:a="http://schemas.openxmlformats.org/drawingml/2006/main" marL="914400" indent="0" algn="l" defTabSz="914400">
      <a:defRPr sz="1800" kern="1200">
        <a:solidFill>
          <a:schemeClr val="tx1"/>
        </a:solidFill>
        <a:latin typeface="+mn-lt"/>
        <a:ea typeface="+mn-ea"/>
        <a:cs typeface="+mn-cs"/>
      </a:defRPr>
    </a:lvl3pPr>
    <a:lvl4pPr xmlns:a="http://schemas.openxmlformats.org/drawingml/2006/main" marL="1371600" indent="0" algn="l" defTabSz="914400">
      <a:defRPr sz="1800" kern="1200">
        <a:solidFill>
          <a:schemeClr val="tx1"/>
        </a:solidFill>
        <a:latin typeface="+mn-lt"/>
        <a:ea typeface="+mn-ea"/>
        <a:cs typeface="+mn-cs"/>
      </a:defRPr>
    </a:lvl4pPr>
    <a:lvl5pPr xmlns:a="http://schemas.openxmlformats.org/drawingml/2006/main" marL="1828800" indent="0" algn="l" defTabSz="914400">
      <a:defRPr sz="1800" kern="1200">
        <a:solidFill>
          <a:schemeClr val="tx1"/>
        </a:solidFill>
        <a:latin typeface="+mn-lt"/>
        <a:ea typeface="+mn-ea"/>
        <a:cs typeface="+mn-cs"/>
      </a:defRPr>
    </a:lvl5pPr>
    <a:lvl6pPr xmlns:a="http://schemas.openxmlformats.org/drawingml/2006/main" marL="2286000" indent="0" algn="l" defTabSz="914400">
      <a:defRPr sz="1800" kern="1200">
        <a:solidFill>
          <a:schemeClr val="tx1"/>
        </a:solidFill>
        <a:latin typeface="+mn-lt"/>
        <a:ea typeface="+mn-ea"/>
        <a:cs typeface="+mn-cs"/>
      </a:defRPr>
    </a:lvl6pPr>
    <a:lvl7pPr xmlns:a="http://schemas.openxmlformats.org/drawingml/2006/main" marL="2743200" indent="0" algn="l" defTabSz="914400">
      <a:defRPr sz="1800" kern="1200">
        <a:solidFill>
          <a:schemeClr val="tx1"/>
        </a:solidFill>
        <a:latin typeface="+mn-lt"/>
        <a:ea typeface="+mn-ea"/>
        <a:cs typeface="+mn-cs"/>
      </a:defRPr>
    </a:lvl7pPr>
    <a:lvl8pPr xmlns:a="http://schemas.openxmlformats.org/drawingml/2006/main" marL="3200400" indent="0" algn="l" defTabSz="914400">
      <a:defRPr sz="1800" kern="1200">
        <a:solidFill>
          <a:schemeClr val="tx1"/>
        </a:solidFill>
        <a:latin typeface="+mn-lt"/>
        <a:ea typeface="+mn-ea"/>
        <a:cs typeface="+mn-cs"/>
      </a:defRPr>
    </a:lvl8pPr>
    <a:lvl9pPr xmlns:a="http://schemas.openxmlformats.org/drawingml/2006/main" marL="3657600" indent="0" algn="l" defTabSz="914400">
      <a:defRPr sz="1800" kern="1200">
        <a:solidFill>
          <a:schemeClr val="tx1"/>
        </a:solidFill>
        <a:latin typeface="+mn-lt"/>
        <a:ea typeface="+mn-ea"/>
        <a:cs typeface="+mn-cs"/>
      </a:defRPr>
    </a:lvl9pPr>
  </p:defaultTextStyle>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d07e73b84e294d3c" /><Relationship Type="http://schemas.openxmlformats.org/officeDocument/2006/relationships/slideMaster" Target="/ppt/slideMasters/slideMaster1.xml" Id="Re6ffd4290e0d4dd9" /><Relationship Type="http://schemas.openxmlformats.org/officeDocument/2006/relationships/notesMaster" Target="/ppt/notesMasters/notesMaster1.xml" Id="Re71aaf1eb5d94da1" /><Relationship Type="http://schemas.openxmlformats.org/officeDocument/2006/relationships/presProps" Target="/ppt/presProps.xml" Id="R84bf2890dc5d4b14" /><Relationship Type="http://schemas.openxmlformats.org/officeDocument/2006/relationships/tableStyles" Target="/ppt/tableStyles.xml" Id="Re1bff924c5044cab" /><Relationship Type="http://schemas.openxmlformats.org/officeDocument/2006/relationships/slide" Target="/ppt/slides/slide1.xml" Id="R7bdb1ef5a81c4244" /><Relationship Type="http://schemas.openxmlformats.org/officeDocument/2006/relationships/slide" Target="/ppt/slides/slide2.xml" Id="Rd0c2a052dc714a0a" /><Relationship Type="http://schemas.openxmlformats.org/officeDocument/2006/relationships/slide" Target="/ppt/slides/slide3.xml" Id="Rb7fe6b159a3445ce" /><Relationship Type="http://schemas.openxmlformats.org/officeDocument/2006/relationships/slide" Target="/ppt/slides/slide4.xml" Id="R28194467ce2744b5" /><Relationship Type="http://schemas.openxmlformats.org/officeDocument/2006/relationships/slide" Target="/ppt/slides/slide5.xml" Id="Rda77c7730762487a" /><Relationship Type="http://schemas.openxmlformats.org/officeDocument/2006/relationships/slide" Target="/ppt/slides/slide6.xml" Id="Ra7801c9f0d564f16" /><Relationship Type="http://schemas.openxmlformats.org/officeDocument/2006/relationships/slide" Target="/ppt/slides/slide7.xml" Id="R1779574b319e4a92" /><Relationship Type="http://schemas.openxmlformats.org/officeDocument/2006/relationships/slide" Target="/ppt/slides/slide8.xml" Id="R449832e7be1745f3" /><Relationship Type="http://schemas.openxmlformats.org/officeDocument/2006/relationships/slide" Target="/ppt/slides/slide9.xml" Id="R6e951787035c4af7" /><Relationship Type="http://schemas.openxmlformats.org/officeDocument/2006/relationships/slide" Target="/ppt/slides/slide10.xml" Id="Rce917bf7552b4066" /><Relationship Type="http://schemas.openxmlformats.org/officeDocument/2006/relationships/slide" Target="/ppt/slides/slide11.xml" Id="R71677b4024b94d41" /><Relationship Type="http://schemas.openxmlformats.org/officeDocument/2006/relationships/slide" Target="/ppt/slides/slide12.xml" Id="R3929551ff6384de5" /><Relationship Type="http://schemas.openxmlformats.org/officeDocument/2006/relationships/slide" Target="/ppt/slides/slide13.xml" Id="Rc96f7c728e01425e" /><Relationship Type="http://schemas.openxmlformats.org/officeDocument/2006/relationships/slide" Target="/ppt/slides/slide14.xml" Id="R82dcc1dd6783481d" /><Relationship Type="http://schemas.openxmlformats.org/officeDocument/2006/relationships/slide" Target="/ppt/slides/slide15.xml" Id="R88b2a0d339aa452f" /><Relationship Type="http://schemas.openxmlformats.org/officeDocument/2006/relationships/slide" Target="/ppt/slides/slide16.xml" Id="R92de3eacef1d471c" /><Relationship Type="http://schemas.openxmlformats.org/officeDocument/2006/relationships/slide" Target="/ppt/slides/slide17.xml" Id="R651ec8fc1065440c" /><Relationship Type="http://schemas.openxmlformats.org/officeDocument/2006/relationships/slide" Target="/ppt/slides/slide18.xml" Id="R01c1043233e84d3b" /><Relationship Type="http://schemas.openxmlformats.org/officeDocument/2006/relationships/slide" Target="/ppt/slides/slide19.xml" Id="R51e59f8377b74c36" /><Relationship Type="http://schemas.openxmlformats.org/officeDocument/2006/relationships/slide" Target="/ppt/slides/slide20.xml" Id="R0116ddef88054bab" /><Relationship Type="http://schemas.openxmlformats.org/officeDocument/2006/relationships/slide" Target="/ppt/slides/slide21.xml" Id="R510bf7b85d2b4780" /><Relationship Type="http://schemas.openxmlformats.org/officeDocument/2006/relationships/slide" Target="/ppt/slides/slide22.xml" Id="R8e6900c37f924b60" /><Relationship Type="http://schemas.openxmlformats.org/officeDocument/2006/relationships/slide" Target="/ppt/slides/slide23.xml" Id="R51a5c580c4154d32" /><Relationship Type="http://schemas.openxmlformats.org/officeDocument/2006/relationships/slide" Target="/ppt/slides/slide24.xml" Id="R917bca5e2b594a5d" /><Relationship Type="http://schemas.openxmlformats.org/officeDocument/2006/relationships/slide" Target="/ppt/slides/slide25.xml" Id="R67997490dc624ff6" /><Relationship Type="http://schemas.openxmlformats.org/officeDocument/2006/relationships/slide" Target="/ppt/slides/slide26.xml" Id="R9d93056ccbae4fe1" /><Relationship Type="http://schemas.openxmlformats.org/officeDocument/2006/relationships/slide" Target="/ppt/slides/slide27.xml" Id="Rde9c391349794868" /><Relationship Type="http://schemas.openxmlformats.org/officeDocument/2006/relationships/slide" Target="/ppt/slides/slide28.xml" Id="R29f559b737b74f11" /><Relationship Type="http://schemas.openxmlformats.org/officeDocument/2006/relationships/slide" Target="/ppt/slides/slide29.xml" Id="Rc11659ae297c4e89"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1a21fa5f94c84110"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378f19f732e24ce8" /><Relationship Type="http://schemas.openxmlformats.org/officeDocument/2006/relationships/notesMaster" Target="/ppt/notesMasters/notesMaster1.xml" Id="R31ce8c82d16d4e35" /></Relationships>
</file>

<file path=ppt/notesSlides/_rels/notesSlide2.xml.rels>&#65279;<?xml version="1.0" encoding="utf-8"?><Relationships xmlns="http://schemas.openxmlformats.org/package/2006/relationships"><Relationship Type="http://schemas.openxmlformats.org/officeDocument/2006/relationships/slide" Target="/ppt/slides/slide2.xml" Id="Rc6548c97f536491b" /><Relationship Type="http://schemas.openxmlformats.org/officeDocument/2006/relationships/notesMaster" Target="/ppt/notesMasters/notesMaster1.xml" Id="R111a22ba38c742f8" /></Relationships>
</file>

<file path=ppt/notesSlides/_rels/notesSlide3.xml.rels>&#65279;<?xml version="1.0" encoding="utf-8"?><Relationships xmlns="http://schemas.openxmlformats.org/package/2006/relationships"><Relationship Type="http://schemas.openxmlformats.org/officeDocument/2006/relationships/slide" Target="/ppt/slides/slide3.xml" Id="Rc4716a19debf47f3" /><Relationship Type="http://schemas.openxmlformats.org/officeDocument/2006/relationships/notesMaster" Target="/ppt/notesMasters/notesMaster1.xml" Id="Rf55042717e4246b7" /></Relationships>
</file>

<file path=ppt/notesSlides/_rels/notesSlide4.xml.rels>&#65279;<?xml version="1.0" encoding="utf-8"?><Relationships xmlns="http://schemas.openxmlformats.org/package/2006/relationships"><Relationship Type="http://schemas.openxmlformats.org/officeDocument/2006/relationships/slide" Target="/ppt/slides/slide4.xml" Id="R5f70fc1f8ec34630" /><Relationship Type="http://schemas.openxmlformats.org/officeDocument/2006/relationships/notesMaster" Target="/ppt/notesMasters/notesMaster1.xml" Id="R805dcb5fa26d420a" /></Relationships>
</file>

<file path=ppt/notesSlides/_rels/notesSlide5.xml.rels>&#65279;<?xml version="1.0" encoding="utf-8"?><Relationships xmlns="http://schemas.openxmlformats.org/package/2006/relationships"><Relationship Type="http://schemas.openxmlformats.org/officeDocument/2006/relationships/slide" Target="/ppt/slides/slide5.xml" Id="Rdb3906cde39244ae" /><Relationship Type="http://schemas.openxmlformats.org/officeDocument/2006/relationships/notesMaster" Target="/ppt/notesMasters/notesMaster1.xml" Id="R1cc0546c346e4bc4" /></Relationships>
</file>

<file path=ppt/notesSlides/_rels/notesSlide6.xml.rels>&#65279;<?xml version="1.0" encoding="utf-8"?><Relationships xmlns="http://schemas.openxmlformats.org/package/2006/relationships"><Relationship Type="http://schemas.openxmlformats.org/officeDocument/2006/relationships/slide" Target="/ppt/slides/slide6.xml" Id="R4367782ab735483e" /><Relationship Type="http://schemas.openxmlformats.org/officeDocument/2006/relationships/notesMaster" Target="/ppt/notesMasters/notesMaster1.xml" Id="R0ddddddefb2f4df3" /></Relationships>
</file>

<file path=ppt/notesSlides/_rels/notesSlide7.xml.rels>&#65279;<?xml version="1.0" encoding="utf-8"?><Relationships xmlns="http://schemas.openxmlformats.org/package/2006/relationships"><Relationship Type="http://schemas.openxmlformats.org/officeDocument/2006/relationships/slide" Target="/ppt/slides/slide7.xml" Id="R7915bfcaa08a4e75" /><Relationship Type="http://schemas.openxmlformats.org/officeDocument/2006/relationships/notesMaster" Target="/ppt/notesMasters/notesMaster1.xml" Id="R5ff7c8c120734696" /></Relationships>
</file>

<file path=ppt/notesSlides/_rels/notesSlide8.xml.rels>&#65279;<?xml version="1.0" encoding="utf-8"?><Relationships xmlns="http://schemas.openxmlformats.org/package/2006/relationships"><Relationship Type="http://schemas.openxmlformats.org/officeDocument/2006/relationships/slide" Target="/ppt/slides/slide8.xml" Id="R0773350e08e84b95" /><Relationship Type="http://schemas.openxmlformats.org/officeDocument/2006/relationships/notesMaster" Target="/ppt/notesMasters/notesMaster1.xml" Id="R94ac818b526b4517" /></Relationships>
</file>

<file path=ppt/notesSlides/_rels/notesSlide9.xml.rels>&#65279;<?xml version="1.0" encoding="utf-8"?><Relationships xmlns="http://schemas.openxmlformats.org/package/2006/relationships"><Relationship Type="http://schemas.openxmlformats.org/officeDocument/2006/relationships/slide" Target="/ppt/slides/slide9.xml" Id="Re882d3642c204a79" /><Relationship Type="http://schemas.openxmlformats.org/officeDocument/2006/relationships/notesMaster" Target="/ppt/notesMasters/notesMaster1.xml" Id="R997f87b5a4074639"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438b1c8da52f4f42" /><Relationship Type="http://schemas.openxmlformats.org/officeDocument/2006/relationships/notesMaster" Target="/ppt/notesMasters/notesMaster1.xml" Id="R0c3f85bdf48e4a3d"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6e8834c24ef64b5e" /><Relationship Type="http://schemas.openxmlformats.org/officeDocument/2006/relationships/notesMaster" Target="/ppt/notesMasters/notesMaster1.xml" Id="R1a99690b18254b90"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13a291e929964340" /><Relationship Type="http://schemas.openxmlformats.org/officeDocument/2006/relationships/notesMaster" Target="/ppt/notesMasters/notesMaster1.xml" Id="Ra9474399c2b04560"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479ab87bf69d491c" /><Relationship Type="http://schemas.openxmlformats.org/officeDocument/2006/relationships/notesMaster" Target="/ppt/notesMasters/notesMaster1.xml" Id="R2dedb6bba5ca4a64"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023e9be5b5064e37" /><Relationship Type="http://schemas.openxmlformats.org/officeDocument/2006/relationships/notesMaster" Target="/ppt/notesMasters/notesMaster1.xml" Id="Rceb9469ffe3c4621"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dab129bb1985492e" /><Relationship Type="http://schemas.openxmlformats.org/officeDocument/2006/relationships/notesMaster" Target="/ppt/notesMasters/notesMaster1.xml" Id="Rc0875a43dbd842c2"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1bbbd982b6de46a5" /><Relationship Type="http://schemas.openxmlformats.org/officeDocument/2006/relationships/notesMaster" Target="/ppt/notesMasters/notesMaster1.xml" Id="R73f001fa77ac4cfe"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09d2e2cd46424c13" /><Relationship Type="http://schemas.openxmlformats.org/officeDocument/2006/relationships/notesMaster" Target="/ppt/notesMasters/notesMaster1.xml" Id="Rb63844475d56443f"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9878194326ec4eeb" /><Relationship Type="http://schemas.openxmlformats.org/officeDocument/2006/relationships/notesMaster" Target="/ppt/notesMasters/notesMaster1.xml" Id="R6ec16860b31e4bb4"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5161e20b2dfe472d" /><Relationship Type="http://schemas.openxmlformats.org/officeDocument/2006/relationships/notesMaster" Target="/ppt/notesMasters/notesMaster1.xml" Id="R2a04e62c4b3f4c12"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b4a207c93d774de0" /><Relationship Type="http://schemas.openxmlformats.org/officeDocument/2006/relationships/notesMaster" Target="/ppt/notesMasters/notesMaster1.xml" Id="Raa007df7cbd74c6f"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7814702305194039" /><Relationship Type="http://schemas.openxmlformats.org/officeDocument/2006/relationships/notesMaster" Target="/ppt/notesMasters/notesMaster1.xml" Id="Ra470598f1a8649ff"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0acecaa748c743a7" /><Relationship Type="http://schemas.openxmlformats.org/officeDocument/2006/relationships/notesMaster" Target="/ppt/notesMasters/notesMaster1.xml" Id="Rbd8508d982b04f0d"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c28f1b4fa05043c8" /><Relationship Type="http://schemas.openxmlformats.org/officeDocument/2006/relationships/notesMaster" Target="/ppt/notesMasters/notesMaster1.xml" Id="R2a3707f7499f4570" /></Relationships>
</file>

<file path=ppt/notesSlides/_rels/notesSlide24.xml.rels>&#65279;<?xml version="1.0" encoding="utf-8"?><Relationships xmlns="http://schemas.openxmlformats.org/package/2006/relationships"><Relationship Type="http://schemas.openxmlformats.org/officeDocument/2006/relationships/slide" Target="/ppt/slides/slide24.xml" Id="Rae6ac9785b634cb6" /><Relationship Type="http://schemas.openxmlformats.org/officeDocument/2006/relationships/notesMaster" Target="/ppt/notesMasters/notesMaster1.xml" Id="Rf308543145df4a7b" /></Relationships>
</file>

<file path=ppt/notesSlides/_rels/notesSlide25.xml.rels>&#65279;<?xml version="1.0" encoding="utf-8"?><Relationships xmlns="http://schemas.openxmlformats.org/package/2006/relationships"><Relationship Type="http://schemas.openxmlformats.org/officeDocument/2006/relationships/slide" Target="/ppt/slides/slide25.xml" Id="R830d923f01b94691" /><Relationship Type="http://schemas.openxmlformats.org/officeDocument/2006/relationships/notesMaster" Target="/ppt/notesMasters/notesMaster1.xml" Id="R448c0aec80d843ca" /></Relationships>
</file>

<file path=ppt/notesSlides/_rels/notesSlide26.xml.rels>&#65279;<?xml version="1.0" encoding="utf-8"?><Relationships xmlns="http://schemas.openxmlformats.org/package/2006/relationships"><Relationship Type="http://schemas.openxmlformats.org/officeDocument/2006/relationships/slide" Target="/ppt/slides/slide26.xml" Id="Rc53357e4945e46d5" /><Relationship Type="http://schemas.openxmlformats.org/officeDocument/2006/relationships/notesMaster" Target="/ppt/notesMasters/notesMaster1.xml" Id="R91137dfe017e4a02" /></Relationships>
</file>

<file path=ppt/notesSlides/_rels/notesSlide27.xml.rels>&#65279;<?xml version="1.0" encoding="utf-8"?><Relationships xmlns="http://schemas.openxmlformats.org/package/2006/relationships"><Relationship Type="http://schemas.openxmlformats.org/officeDocument/2006/relationships/slide" Target="/ppt/slides/slide27.xml" Id="R164a107bdd16492f" /><Relationship Type="http://schemas.openxmlformats.org/officeDocument/2006/relationships/notesMaster" Target="/ppt/notesMasters/notesMaster1.xml" Id="Rf516f62e356742fd" /></Relationships>
</file>

<file path=ppt/notesSlides/_rels/notesSlide28.xml.rels>&#65279;<?xml version="1.0" encoding="utf-8"?><Relationships xmlns="http://schemas.openxmlformats.org/package/2006/relationships"><Relationship Type="http://schemas.openxmlformats.org/officeDocument/2006/relationships/slide" Target="/ppt/slides/slide28.xml" Id="Rb6dc535ecac449d8" /><Relationship Type="http://schemas.openxmlformats.org/officeDocument/2006/relationships/notesMaster" Target="/ppt/notesMasters/notesMaster1.xml" Id="R67ce8c209e8942b5" /></Relationships>
</file>

<file path=ppt/notesSlides/_rels/notesSlide29.xml.rels>&#65279;<?xml version="1.0" encoding="utf-8"?><Relationships xmlns="http://schemas.openxmlformats.org/package/2006/relationships"><Relationship Type="http://schemas.openxmlformats.org/officeDocument/2006/relationships/slide" Target="/ppt/slides/slide29.xml" Id="R86066143ba30403b" /><Relationship Type="http://schemas.openxmlformats.org/officeDocument/2006/relationships/notesMaster" Target="/ppt/notesMasters/notesMaster1.xml" Id="R8bd70e15f42b4b61"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Narration: Welcome to PAL Environmental Services orientation. This training introduces the safety expectations, required training records, jobsite rules, and reporting procedures every PAL employee must understand before working on a project.</a:t>
            </a:r>
          </a:p>
          <a:p xmlns:a="http://schemas.openxmlformats.org/drawingml/2006/main">
            <a:r>
              <a:t>Suggested visual: Opening PAL title slide with a clean jobsite training look.</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Narration: PAL orientation is built around five goals: protecting employee health and safety, preventing accidents through planning and risk assessment, educating employees, meeting or exceeding safety requirements, and keeping clear communication.</a:t>
            </a:r>
          </a:p>
          <a:p xmlns:a="http://schemas.openxmlformats.org/drawingml/2006/main">
            <a:r>
              <a:t>Suggested visual: Show five simple goal words around a supervisor speaking with a crew.</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Narration: Before working on a PAL project, employees must have the required training records for the work they will perform. Watching this video does not replace those credentials.</a:t>
            </a:r>
          </a:p>
          <a:p xmlns:a="http://schemas.openxmlformats.org/drawingml/2006/main">
            <a:r>
              <a:t>Suggested visual: Safety coordinator reviewing training records with a worker.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Narration: PAL employees must report to the job prepared with required personal protective equipment. Minimum PPE includes approved head, eye, hand, foot, leg, and visibility protection as required by the site and task.</a:t>
            </a:r>
          </a:p>
          <a:p xmlns:a="http://schemas.openxmlformats.org/drawingml/2006/main">
            <a:r>
              <a:t>Suggested visual: Crew at site entry wearing proper PPE while a supervisor performs a check.</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Narration: Depending on the work, additional protection may include a face shield, hearing protection, coveralls, rubber gloves or boots, and respiratory protection.</a:t>
            </a:r>
          </a:p>
          <a:p xmlns:a="http://schemas.openxmlformats.org/drawingml/2006/main">
            <a:r>
              <a:t>Suggested visual: Show task-specific PPE neatly arranged, with respirator stored properly.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Narration: Do not use a respirator until you have received the required medical clearance, annual fit test, training, and authorization.</a:t>
            </a:r>
          </a:p>
          <a:p xmlns:a="http://schemas.openxmlformats.org/drawingml/2006/main">
            <a:r>
              <a:t>Suggested visual: Respirator authorization checklist. Do not show casual respirator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Narration: Fall protection is required when an employee is exposed to a fall hazard of six feet or greater.</a:t>
            </a:r>
          </a:p>
          <a:p xmlns:a="http://schemas.openxmlformats.org/drawingml/2006/main">
            <a:r>
              <a:t>Suggested visual: Guarded edge, secured hole cover, and barricaded work below.</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Narration: Personal fall arrest equipment must be inspected before every use, and anchor points must meet the required rating.</a:t>
            </a:r>
          </a:p>
          <a:p xmlns:a="http://schemas.openxmlformats.org/drawingml/2006/main">
            <a:r>
              <a:t>Suggested visual: Worker inspecting harness and tying off to an approved point in a lift.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Narration: PAL takes its Ladders Last Policy seriously. Traditional portable ladders must not be the primary work platform when a safer option is feasible.</a:t>
            </a:r>
          </a:p>
          <a:p xmlns:a="http://schemas.openxmlformats.org/drawingml/2006/main">
            <a:r>
              <a:t>Suggested visual: Show the PAL Ladder Last hierarchy clearly from safer option to last resort.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Narration: Supervisors must select the proper access equipment during pre-task planning. If the selected equipment does not allow the work to be performed safely, stop and notify supervision.</a:t>
            </a:r>
          </a:p>
          <a:p xmlns:a="http://schemas.openxmlformats.org/drawingml/2006/main">
            <a:r>
              <a:t>Suggested visual: Supervisor and worker choosing access equipment during pre-task planning.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Narration: Inspect extension cords, plugs, temporary wiring, and ground-fault circuit interrupters before use.</a:t>
            </a:r>
          </a:p>
          <a:p xmlns:a="http://schemas.openxmlformats.org/drawingml/2006/main">
            <a:r>
              <a:t>Suggested visual: Worker inspecting cord and testing GFCI; damaged cord tagged out.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Narration: Only trained employees may operate hand and power tools. Hazardous energy must be properly de-energized, verified, locked, and tagged by authorized personnel.</a:t>
            </a:r>
          </a:p>
          <a:p xmlns:a="http://schemas.openxmlformats.org/drawingml/2006/main">
            <a:r>
              <a:t>Suggested visual: Tool inspection beside lock and tag applied to isolated equipment.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Narration: Plan every lift. Know the load's weight, size, and shape. Use mechanical help when practical.</a:t>
            </a:r>
          </a:p>
          <a:p xmlns:a="http://schemas.openxmlformats.org/drawingml/2006/main">
            <a:r>
              <a:t>Suggested visual: Crew planning a lift and using a pallet jack.</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Narration: Keep the load close, lift with your legs, avoid twisting, secure material against movement, and maintain clear communication.</a:t>
            </a:r>
          </a:p>
          <a:p xmlns:a="http://schemas.openxmlformats.org/drawingml/2006/main">
            <a:r>
              <a:t>Suggested visual: Worker lifting bags from a pallet jack with proper body position.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Narration: Fire prevention means controlling ignition sources and combustible materials. If a fire is too large to control safely, call 911 and evacuate.</a:t>
            </a:r>
          </a:p>
          <a:p xmlns:a="http://schemas.openxmlformats.org/drawingml/2006/main">
            <a:r>
              <a:t>Suggested visual: Hot-work controls, clear extinguisher access, and safe exit path.</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Narration: Good housekeeping is required every day. Keep access clear, clean spills immediately, and store materials so they do not create hazards.</a:t>
            </a:r>
          </a:p>
          <a:p xmlns:a="http://schemas.openxmlformats.org/drawingml/2006/main">
            <a:r>
              <a:t>Suggested visual: Crew member cleaning debris and keeping the pathway clear.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Narration: Hazard Communication and GHS help employees understand chemical hazards. Never use an unknown or unlabeled material.</a:t>
            </a:r>
          </a:p>
          <a:p xmlns:a="http://schemas.openxmlformats.org/drawingml/2006/main">
            <a:r>
              <a:t>Suggested visual: Worker checking a labeled container against an SDS binder or tablet.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Narration: Scaffolds must be erected by a competent person, installed according to manufacturer requirements, and inspected and documented daily.</a:t>
            </a:r>
          </a:p>
          <a:p xmlns:a="http://schemas.openxmlformats.org/drawingml/2006/main">
            <a:r>
              <a:t>Suggested visual: Competent person reviewing scaffold tag and checklist.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Narration: Only trained and authorized employees may operate mobile elevating work platforms or scissor lifts.</a:t>
            </a:r>
          </a:p>
          <a:p xmlns:a="http://schemas.openxmlformats.org/drawingml/2006/main">
            <a:r>
              <a:t>Suggested visual: Scissor lift inspection and worker tied off to designated point.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Narration: When working near heavy equipment, remain alert and stay out of blind spots and loading areas.</a:t>
            </a:r>
          </a:p>
          <a:p xmlns:a="http://schemas.openxmlformats.org/drawingml/2006/main">
            <a:r>
              <a:t>Suggested visual: Worker outside swing radius making eye contact with equipment operator.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Narration: Never enter a confined space unless PAL has determined the requirements and you are specifically trained, authorized, and properly equipped.</a:t>
            </a:r>
          </a:p>
          <a:p xmlns:a="http://schemas.openxmlformats.org/drawingml/2006/main">
            <a:r>
              <a:t>Suggested visual: Permit-required confined-space warning with untrained worker stopped outside.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Narration: Only authorized and trained personnel may disturb asbestos-containing material or lead. Respirable crystalline silica can cause serious illness and must be controlled.</a:t>
            </a:r>
          </a:p>
          <a:p xmlns:a="http://schemas.openxmlformats.org/drawingml/2006/main">
            <a:r>
              <a:t>Suggested visual: Controlled regulated area with HEPA vacuum and wet dust control.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Narration: Batteries, fluorescent lamps, chemicals, aerosol cans, used oil, and other regulated materials must be handled and disposed of correctly.</a:t>
            </a:r>
          </a:p>
          <a:p xmlns:a="http://schemas.openxmlformats.org/drawingml/2006/main">
            <a:r>
              <a:t>Suggested visual: Labeled waste containers, spill kit, and supervisor directing disposal.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Narration: Every project must post a site-specific Emergency Action Plan. Before beginning work, know the alarms, emergency contacts, evacuation route, and muster point.</a:t>
            </a:r>
          </a:p>
          <a:p xmlns:a="http://schemas.openxmlformats.org/drawingml/2006/main">
            <a:r>
              <a:t>Suggested visual: Workers calmly walking to a muster point while supervisor takes headcount.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Narration: All accidents, injuries, illnesses, property damage, environmental releases, and near misses must be reported immediately.</a:t>
            </a:r>
          </a:p>
          <a:p xmlns:a="http://schemas.openxmlformats.org/drawingml/2006/main">
            <a:r>
              <a:t>Suggested visual: Worker calmly reporting a near miss to supervisor.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Narration: Employees will not be penalized for refusing work they reasonably believe is unsafe. Stop the work, move to a safe location, and notify supervision.</a:t>
            </a:r>
          </a:p>
          <a:p xmlns:a="http://schemas.openxmlformats.org/drawingml/2006/main">
            <a:r>
              <a:t>Suggested visual: Worker stopping a task and speaking with foreman before continuing.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Narration: PAL maintains a drug-free and alcohol-free workplace. Employees and applicants must comply with PAL testing policy.</a:t>
            </a:r>
          </a:p>
          <a:p xmlns:a="http://schemas.openxmlformats.org/drawingml/2006/main">
            <a:r>
              <a:t>Suggested visual: Drug-free workplace notice and worker signing policy acknowledgement.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Narration: Safety depends on communication. When you are uncertain, stop and ask.</a:t>
            </a:r>
          </a:p>
          <a:p xmlns:a="http://schemas.openxmlformats.org/drawingml/2006/main">
            <a:r>
              <a:t>Suggested visual: Foreman answering worker questions during a jobsite meeting.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Narration: Require the employee to enter their name, sign, and submit the acknowledgement. Completion does not grant access to a project until the office or authorized reviewer confirms all required credentials.</a:t>
            </a:r>
          </a:p>
          <a:p xmlns:a="http://schemas.openxmlformats.org/drawingml/2006/main">
            <a:r>
              <a:t>Suggested visual: Clean final screen with acknowledgement and PAL review message.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69c68b156c814faa"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5f975af10de54aa9" /><Relationship Type="http://schemas.openxmlformats.org/officeDocument/2006/relationships/slideLayout" Target="/ppt/slideLayouts/slideLayout1.xml" Id="R8c4862c1733e4aa3"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8c4862c1733e4aa3"/>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227f9a9b41b246b9" /><Relationship Type="http://schemas.openxmlformats.org/officeDocument/2006/relationships/notesSlide" Target="/ppt/notesSlides/notesSlide1.xml" Id="R8d010f44ceb34621"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f517fe7fb250466a" /><Relationship Type="http://schemas.openxmlformats.org/officeDocument/2006/relationships/notesSlide" Target="/ppt/notesSlides/notesSlide2.xml" Id="R5dac92c185d043d0"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d670bba2ce224d8e" /><Relationship Type="http://schemas.openxmlformats.org/officeDocument/2006/relationships/notesSlide" Target="/ppt/notesSlides/notesSlide3.xml" Id="Ra5b90cd0fa3a485d"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61add1327a474036" /><Relationship Type="http://schemas.openxmlformats.org/officeDocument/2006/relationships/notesSlide" Target="/ppt/notesSlides/notesSlide4.xml" Id="Rf3fdec084873418f"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c6c1a602a0a341e1" /><Relationship Type="http://schemas.openxmlformats.org/officeDocument/2006/relationships/notesSlide" Target="/ppt/notesSlides/notesSlide5.xml" Id="Rb00142906d71472b"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c545976b118a49d9" /><Relationship Type="http://schemas.openxmlformats.org/officeDocument/2006/relationships/notesSlide" Target="/ppt/notesSlides/notesSlide6.xml" Id="R138f64925f824a25"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68845da17d7a4a4a" /><Relationship Type="http://schemas.openxmlformats.org/officeDocument/2006/relationships/notesSlide" Target="/ppt/notesSlides/notesSlide7.xml" Id="R4d0f03fd9f6c4944"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01bded55df364646" /><Relationship Type="http://schemas.openxmlformats.org/officeDocument/2006/relationships/notesSlide" Target="/ppt/notesSlides/notesSlide8.xml" Id="Rd1b3457917d74610"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de6fa7ee6e1f4002" /><Relationship Type="http://schemas.openxmlformats.org/officeDocument/2006/relationships/notesSlide" Target="/ppt/notesSlides/notesSlide9.xml" Id="R449f3c0408704650"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68bfbb98647e4153" /><Relationship Type="http://schemas.openxmlformats.org/officeDocument/2006/relationships/notesSlide" Target="/ppt/notesSlides/notesSlide10.xml" Id="R10fdd189f02d4e37"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aeecdd2f59fc45ae" /><Relationship Type="http://schemas.openxmlformats.org/officeDocument/2006/relationships/notesSlide" Target="/ppt/notesSlides/notesSlide11.xml" Id="R4b647b9f46dd42f2"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ba26bed232694b33" /><Relationship Type="http://schemas.openxmlformats.org/officeDocument/2006/relationships/notesSlide" Target="/ppt/notesSlides/notesSlide12.xml" Id="Ra0693f27e6044eb3"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6bee625a5cd94975" /><Relationship Type="http://schemas.openxmlformats.org/officeDocument/2006/relationships/notesSlide" Target="/ppt/notesSlides/notesSlide13.xml" Id="R89e6bf0806a84167"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fd91948403d64513" /><Relationship Type="http://schemas.openxmlformats.org/officeDocument/2006/relationships/notesSlide" Target="/ppt/notesSlides/notesSlide14.xml" Id="Reff3e536abc24a48"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xml" Id="Rd476eb4e9a084e2b" /><Relationship Type="http://schemas.openxmlformats.org/officeDocument/2006/relationships/notesSlide" Target="/ppt/notesSlides/notesSlide15.xml" Id="Rfccc5b2d625e4c1a" /></Relationships>
</file>

<file path=ppt/slides/_rels/slide16.xml.rels>&#65279;<?xml version="1.0" encoding="utf-8"?><Relationships xmlns="http://schemas.openxmlformats.org/package/2006/relationships"><Relationship Type="http://schemas.openxmlformats.org/officeDocument/2006/relationships/slideLayout" Target="/ppt/slideLayouts/slideLayout1.xml" Id="R5be101f5c72441aa" /><Relationship Type="http://schemas.openxmlformats.org/officeDocument/2006/relationships/notesSlide" Target="/ppt/notesSlides/notesSlide16.xml" Id="Rf171a160820b42d7" /></Relationships>
</file>

<file path=ppt/slides/_rels/slide17.xml.rels>&#65279;<?xml version="1.0" encoding="utf-8"?><Relationships xmlns="http://schemas.openxmlformats.org/package/2006/relationships"><Relationship Type="http://schemas.openxmlformats.org/officeDocument/2006/relationships/slideLayout" Target="/ppt/slideLayouts/slideLayout1.xml" Id="Rb917340c1b184689" /><Relationship Type="http://schemas.openxmlformats.org/officeDocument/2006/relationships/notesSlide" Target="/ppt/notesSlides/notesSlide17.xml" Id="Rfcdd7cab1b4241ec" /></Relationships>
</file>

<file path=ppt/slides/_rels/slide18.xml.rels>&#65279;<?xml version="1.0" encoding="utf-8"?><Relationships xmlns="http://schemas.openxmlformats.org/package/2006/relationships"><Relationship Type="http://schemas.openxmlformats.org/officeDocument/2006/relationships/slideLayout" Target="/ppt/slideLayouts/slideLayout1.xml" Id="Ra3a44aafa8274773" /><Relationship Type="http://schemas.openxmlformats.org/officeDocument/2006/relationships/notesSlide" Target="/ppt/notesSlides/notesSlide18.xml" Id="Rca5edb8353974325" /></Relationships>
</file>

<file path=ppt/slides/_rels/slide19.xml.rels>&#65279;<?xml version="1.0" encoding="utf-8"?><Relationships xmlns="http://schemas.openxmlformats.org/package/2006/relationships"><Relationship Type="http://schemas.openxmlformats.org/officeDocument/2006/relationships/slideLayout" Target="/ppt/slideLayouts/slideLayout1.xml" Id="R3806aff6536b4ac3" /><Relationship Type="http://schemas.openxmlformats.org/officeDocument/2006/relationships/notesSlide" Target="/ppt/notesSlides/notesSlide19.xml" Id="Re9d426318b934f99" /></Relationships>
</file>

<file path=ppt/slides/_rels/slide20.xml.rels>&#65279;<?xml version="1.0" encoding="utf-8"?><Relationships xmlns="http://schemas.openxmlformats.org/package/2006/relationships"><Relationship Type="http://schemas.openxmlformats.org/officeDocument/2006/relationships/slideLayout" Target="/ppt/slideLayouts/slideLayout1.xml" Id="R8fb191bb430d49a6" /><Relationship Type="http://schemas.openxmlformats.org/officeDocument/2006/relationships/notesSlide" Target="/ppt/notesSlides/notesSlide20.xml" Id="R3d706adad07d4323" /></Relationships>
</file>

<file path=ppt/slides/_rels/slide21.xml.rels>&#65279;<?xml version="1.0" encoding="utf-8"?><Relationships xmlns="http://schemas.openxmlformats.org/package/2006/relationships"><Relationship Type="http://schemas.openxmlformats.org/officeDocument/2006/relationships/slideLayout" Target="/ppt/slideLayouts/slideLayout1.xml" Id="R3b758aa2010742ab" /><Relationship Type="http://schemas.openxmlformats.org/officeDocument/2006/relationships/notesSlide" Target="/ppt/notesSlides/notesSlide21.xml" Id="R6f10d4385be74e54" /></Relationships>
</file>

<file path=ppt/slides/_rels/slide22.xml.rels>&#65279;<?xml version="1.0" encoding="utf-8"?><Relationships xmlns="http://schemas.openxmlformats.org/package/2006/relationships"><Relationship Type="http://schemas.openxmlformats.org/officeDocument/2006/relationships/slideLayout" Target="/ppt/slideLayouts/slideLayout1.xml" Id="Rdac64a9a0f884015" /><Relationship Type="http://schemas.openxmlformats.org/officeDocument/2006/relationships/notesSlide" Target="/ppt/notesSlides/notesSlide22.xml" Id="Rf059a3b723cb4dd1" /></Relationships>
</file>

<file path=ppt/slides/_rels/slide23.xml.rels>&#65279;<?xml version="1.0" encoding="utf-8"?><Relationships xmlns="http://schemas.openxmlformats.org/package/2006/relationships"><Relationship Type="http://schemas.openxmlformats.org/officeDocument/2006/relationships/slideLayout" Target="/ppt/slideLayouts/slideLayout1.xml" Id="Rd3dd44f4ef504d29" /><Relationship Type="http://schemas.openxmlformats.org/officeDocument/2006/relationships/notesSlide" Target="/ppt/notesSlides/notesSlide23.xml" Id="R2f384b5854b9404f" /></Relationships>
</file>

<file path=ppt/slides/_rels/slide24.xml.rels>&#65279;<?xml version="1.0" encoding="utf-8"?><Relationships xmlns="http://schemas.openxmlformats.org/package/2006/relationships"><Relationship Type="http://schemas.openxmlformats.org/officeDocument/2006/relationships/slideLayout" Target="/ppt/slideLayouts/slideLayout1.xml" Id="Rf6586709f5c44c16" /><Relationship Type="http://schemas.openxmlformats.org/officeDocument/2006/relationships/notesSlide" Target="/ppt/notesSlides/notesSlide24.xml" Id="Rb16bfd901fc74ba9" /></Relationships>
</file>

<file path=ppt/slides/_rels/slide25.xml.rels>&#65279;<?xml version="1.0" encoding="utf-8"?><Relationships xmlns="http://schemas.openxmlformats.org/package/2006/relationships"><Relationship Type="http://schemas.openxmlformats.org/officeDocument/2006/relationships/slideLayout" Target="/ppt/slideLayouts/slideLayout1.xml" Id="R9d79eb9a55d544d6" /><Relationship Type="http://schemas.openxmlformats.org/officeDocument/2006/relationships/notesSlide" Target="/ppt/notesSlides/notesSlide25.xml" Id="Re549249d1f784bc9" /></Relationships>
</file>

<file path=ppt/slides/_rels/slide26.xml.rels>&#65279;<?xml version="1.0" encoding="utf-8"?><Relationships xmlns="http://schemas.openxmlformats.org/package/2006/relationships"><Relationship Type="http://schemas.openxmlformats.org/officeDocument/2006/relationships/slideLayout" Target="/ppt/slideLayouts/slideLayout1.xml" Id="R492cd2d621654f2d" /><Relationship Type="http://schemas.openxmlformats.org/officeDocument/2006/relationships/notesSlide" Target="/ppt/notesSlides/notesSlide26.xml" Id="R98765baf0e7d43af" /></Relationships>
</file>

<file path=ppt/slides/_rels/slide27.xml.rels>&#65279;<?xml version="1.0" encoding="utf-8"?><Relationships xmlns="http://schemas.openxmlformats.org/package/2006/relationships"><Relationship Type="http://schemas.openxmlformats.org/officeDocument/2006/relationships/slideLayout" Target="/ppt/slideLayouts/slideLayout1.xml" Id="R9595a0690c9c46fd" /><Relationship Type="http://schemas.openxmlformats.org/officeDocument/2006/relationships/notesSlide" Target="/ppt/notesSlides/notesSlide27.xml" Id="R6f8583f66817473b" /></Relationships>
</file>

<file path=ppt/slides/_rels/slide28.xml.rels>&#65279;<?xml version="1.0" encoding="utf-8"?><Relationships xmlns="http://schemas.openxmlformats.org/package/2006/relationships"><Relationship Type="http://schemas.openxmlformats.org/officeDocument/2006/relationships/slideLayout" Target="/ppt/slideLayouts/slideLayout1.xml" Id="R1bcdb41adac94e89" /><Relationship Type="http://schemas.openxmlformats.org/officeDocument/2006/relationships/notesSlide" Target="/ppt/notesSlides/notesSlide28.xml" Id="R70241fdba753484d" /></Relationships>
</file>

<file path=ppt/slides/_rels/slide29.xml.rels>&#65279;<?xml version="1.0" encoding="utf-8"?><Relationships xmlns="http://schemas.openxmlformats.org/package/2006/relationships"><Relationship Type="http://schemas.openxmlformats.org/officeDocument/2006/relationships/slideLayout" Target="/ppt/slideLayouts/slideLayout1.xml" Id="R5d9f4d0569cf48bd" /><Relationship Type="http://schemas.openxmlformats.org/officeDocument/2006/relationships/notesSlide" Target="/ppt/notesSlides/notesSlide29.xml" Id="Rb054bac9d5734131" /></Relationships>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88F038C3-E099-43BE-8422-12A005B89295}"/>
              </a:ext>
            </a:extLst>
          </p:cNvPr>
          <p:cNvSpPr>
            <a:spLocks xmlns:a="http://schemas.openxmlformats.org/drawingml/2006/main" noGrp="1"/>
          </p:cNvSpPr>
          <p:nvPr/>
        </p:nvSpPr>
        <p:spPr>
          <a:xfrm xmlns:a="http://schemas.openxmlformats.org/drawingml/2006/main">
            <a:off x="0" y="0"/>
            <a:ext cx="12192000" cy="266700"/>
          </a:xfrm>
          <a:prstGeom xmlns:a="http://schemas.openxmlformats.org/drawingml/2006/main" prst="rect">
            <a:avLst/>
          </a:prstGeom>
          <a:solidFill xmlns:a="http://schemas.openxmlformats.org/drawingml/2006/main">
            <a:srgbClr val="0B243D"/>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953E1B80-19E9-46B6-9F9D-6969F9D211D6}"/>
              </a:ext>
            </a:extLst>
          </p:cNvPr>
          <p:cNvSpPr>
            <a:spLocks xmlns:a="http://schemas.openxmlformats.org/drawingml/2006/main" noGrp="1"/>
          </p:cNvSpPr>
          <p:nvPr/>
        </p:nvSpPr>
        <p:spPr>
          <a:xfrm xmlns:a="http://schemas.openxmlformats.org/drawingml/2006/main">
            <a:off x="0" y="266700"/>
            <a:ext cx="171450" cy="6248400"/>
          </a:xfrm>
          <a:prstGeom xmlns:a="http://schemas.openxmlformats.org/drawingml/2006/main" prst="rect">
            <a:avLst/>
          </a:prstGeom>
          <a:solidFill xmlns:a="http://schemas.openxmlformats.org/drawingml/2006/main">
            <a:srgbClr val="66C43A"/>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600FE2CC-22A9-422D-AEAA-CA83089698B6}"/>
              </a:ext>
            </a:extLst>
          </p:cNvPr>
          <p:cNvSpPr>
            <a:spLocks xmlns:a="http://schemas.openxmlformats.org/drawingml/2006/main" noGrp="1"/>
          </p:cNvSpPr>
          <p:nvPr/>
        </p:nvSpPr>
        <p:spPr>
          <a:xfrm xmlns:a="http://schemas.openxmlformats.org/drawingml/2006/main">
            <a:off x="533400" y="666750"/>
            <a:ext cx="44767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050" b="1">
                <a:solidFill>
                  <a:srgbClr val="5E6B7A"/>
                </a:solidFill>
              </a:defRPr>
            </a:pPr>
            <a:r>
              <a:rPr sz="1050" b="1">
                <a:solidFill>
                  <a:srgbClr val="5E6B7A"/>
                </a:solidFill>
              </a:rPr>
              <a:t>PAL ENVIRONMENTAL SERVICES</a:t>
            </a:r>
          </a:p>
        </p:txBody>
      </p:sp>
      <p:sp>
        <p:nvSpPr>
          <p:cNvPr id="4" name="">
            <a:extLst xmlns:a="http://schemas.openxmlformats.org/drawingml/2006/main">
              <a:ext uri="{FF2B5EF4-FFF2-40B4-BE49-F238E27FC236}">
                <a16:creationId xmlns:a16="http://schemas.microsoft.com/office/drawing/2014/main" id="{CC30F430-D7E4-4024-8663-A481DF38DD60}"/>
              </a:ext>
            </a:extLst>
          </p:cNvPr>
          <p:cNvSpPr>
            <a:spLocks xmlns:a="http://schemas.openxmlformats.org/drawingml/2006/main" noGrp="1"/>
          </p:cNvSpPr>
          <p:nvPr/>
        </p:nvSpPr>
        <p:spPr>
          <a:xfrm xmlns:a="http://schemas.openxmlformats.org/drawingml/2006/main">
            <a:off x="533400" y="1047750"/>
            <a:ext cx="5524500" cy="1428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3150" b="1">
                <a:solidFill>
                  <a:srgbClr val="0B243D"/>
                </a:solidFill>
              </a:defRPr>
            </a:pPr>
            <a:r>
              <a:rPr sz="3150" b="1">
                <a:solidFill>
                  <a:srgbClr val="0B243D"/>
                </a:solidFill>
              </a:rPr>
              <a:t>Employee Safety Orientation</a:t>
            </a:r>
          </a:p>
        </p:txBody>
      </p:sp>
      <p:sp>
        <p:nvSpPr>
          <p:cNvPr id="5" name="">
            <a:extLst xmlns:a="http://schemas.openxmlformats.org/drawingml/2006/main">
              <a:ext uri="{FF2B5EF4-FFF2-40B4-BE49-F238E27FC236}">
                <a16:creationId xmlns:a16="http://schemas.microsoft.com/office/drawing/2014/main" id="{7F1637F2-3234-44BC-A892-9179982C22DC}"/>
              </a:ext>
            </a:extLst>
          </p:cNvPr>
          <p:cNvSpPr>
            <a:spLocks xmlns:a="http://schemas.openxmlformats.org/drawingml/2006/main" noGrp="1"/>
          </p:cNvSpPr>
          <p:nvPr/>
        </p:nvSpPr>
        <p:spPr>
          <a:xfrm xmlns:a="http://schemas.openxmlformats.org/drawingml/2006/main">
            <a:off x="533400" y="2571750"/>
            <a:ext cx="53340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800">
                <a:solidFill>
                  <a:srgbClr val="5E6B7A"/>
                </a:solidFill>
              </a:defRPr>
            </a:pPr>
            <a:r>
              <a:rPr sz="1800">
                <a:solidFill>
                  <a:srgbClr val="5E6B7A"/>
                </a:solidFill>
              </a:rPr>
              <a:t>Understand the rules before entering the jobsite.</a:t>
            </a:r>
          </a:p>
        </p:txBody>
      </p:sp>
      <p:sp>
        <p:nvSpPr>
          <p:cNvPr id="6" name="">
            <a:extLst xmlns:a="http://schemas.openxmlformats.org/drawingml/2006/main">
              <a:ext uri="{FF2B5EF4-FFF2-40B4-BE49-F238E27FC236}">
                <a16:creationId xmlns:a16="http://schemas.microsoft.com/office/drawing/2014/main" id="{C6452A50-B68E-4ED7-B00A-424D8B4A184D}"/>
              </a:ext>
            </a:extLst>
          </p:cNvPr>
          <p:cNvSpPr>
            <a:spLocks xmlns:a="http://schemas.openxmlformats.org/drawingml/2006/main" noGrp="1"/>
          </p:cNvSpPr>
          <p:nvPr/>
        </p:nvSpPr>
        <p:spPr>
          <a:xfrm xmlns:a="http://schemas.openxmlformats.org/drawingml/2006/main">
            <a:off x="609600" y="3409950"/>
            <a:ext cx="114300" cy="114300"/>
          </a:xfrm>
          <a:prstGeom xmlns:a="http://schemas.openxmlformats.org/drawingml/2006/main" prst="rect">
            <a:avLst/>
          </a:prstGeom>
          <a:solidFill xmlns:a="http://schemas.openxmlformats.org/drawingml/2006/main">
            <a:srgbClr val="66C43A"/>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06207B7D-DA57-4072-B66E-2003B8455A97}"/>
              </a:ext>
            </a:extLst>
          </p:cNvPr>
          <p:cNvSpPr>
            <a:spLocks xmlns:a="http://schemas.openxmlformats.org/drawingml/2006/main" noGrp="1"/>
          </p:cNvSpPr>
          <p:nvPr/>
        </p:nvSpPr>
        <p:spPr>
          <a:xfrm xmlns:a="http://schemas.openxmlformats.org/drawingml/2006/main">
            <a:off x="914400" y="3333750"/>
            <a:ext cx="53340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800" b="1">
                <a:solidFill>
                  <a:srgbClr val="12233A"/>
                </a:solidFill>
              </a:defRPr>
            </a:pPr>
            <a:r>
              <a:rPr sz="1800" b="1">
                <a:solidFill>
                  <a:srgbClr val="12233A"/>
                </a:solidFill>
              </a:rPr>
              <a:t>Safety</a:t>
            </a:r>
          </a:p>
        </p:txBody>
      </p:sp>
      <p:sp>
        <p:nvSpPr>
          <p:cNvPr id="8" name="">
            <a:extLst xmlns:a="http://schemas.openxmlformats.org/drawingml/2006/main">
              <a:ext uri="{FF2B5EF4-FFF2-40B4-BE49-F238E27FC236}">
                <a16:creationId xmlns:a16="http://schemas.microsoft.com/office/drawing/2014/main" id="{3184E3ED-E3A6-4A4E-83AF-F3577ACEA2B0}"/>
              </a:ext>
            </a:extLst>
          </p:cNvPr>
          <p:cNvSpPr>
            <a:spLocks xmlns:a="http://schemas.openxmlformats.org/drawingml/2006/main" noGrp="1"/>
          </p:cNvSpPr>
          <p:nvPr/>
        </p:nvSpPr>
        <p:spPr>
          <a:xfrm xmlns:a="http://schemas.openxmlformats.org/drawingml/2006/main">
            <a:off x="609600" y="4019550"/>
            <a:ext cx="114300" cy="114300"/>
          </a:xfrm>
          <a:prstGeom xmlns:a="http://schemas.openxmlformats.org/drawingml/2006/main" prst="rect">
            <a:avLst/>
          </a:prstGeom>
          <a:solidFill xmlns:a="http://schemas.openxmlformats.org/drawingml/2006/main">
            <a:srgbClr val="66C43A"/>
          </a:solidFill>
          <a:ln xmlns:a="http://schemas.openxmlformats.org/drawingml/2006/main" w="0">
            <a:noFill/>
            <a:prstDash val="solid"/>
          </a:ln>
        </p:spPr>
      </p:sp>
      <p:sp>
        <p:nvSpPr>
          <p:cNvPr id="9" name="">
            <a:extLst xmlns:a="http://schemas.openxmlformats.org/drawingml/2006/main">
              <a:ext uri="{FF2B5EF4-FFF2-40B4-BE49-F238E27FC236}">
                <a16:creationId xmlns:a16="http://schemas.microsoft.com/office/drawing/2014/main" id="{360A5CFB-FAA3-42FF-A700-28BD48861280}"/>
              </a:ext>
            </a:extLst>
          </p:cNvPr>
          <p:cNvSpPr>
            <a:spLocks xmlns:a="http://schemas.openxmlformats.org/drawingml/2006/main" noGrp="1"/>
          </p:cNvSpPr>
          <p:nvPr/>
        </p:nvSpPr>
        <p:spPr>
          <a:xfrm xmlns:a="http://schemas.openxmlformats.org/drawingml/2006/main">
            <a:off x="914400" y="3943350"/>
            <a:ext cx="53340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800" b="0">
                <a:solidFill>
                  <a:srgbClr val="12233A"/>
                </a:solidFill>
              </a:defRPr>
            </a:pPr>
            <a:r>
              <a:rPr sz="1800" b="0">
                <a:solidFill>
                  <a:srgbClr val="12233A"/>
                </a:solidFill>
              </a:rPr>
              <a:t>Compliance</a:t>
            </a:r>
          </a:p>
        </p:txBody>
      </p:sp>
      <p:sp>
        <p:nvSpPr>
          <p:cNvPr id="10" name="">
            <a:extLst xmlns:a="http://schemas.openxmlformats.org/drawingml/2006/main">
              <a:ext uri="{FF2B5EF4-FFF2-40B4-BE49-F238E27FC236}">
                <a16:creationId xmlns:a16="http://schemas.microsoft.com/office/drawing/2014/main" id="{CAC96D3E-1E3C-4010-B422-D84117A35127}"/>
              </a:ext>
            </a:extLst>
          </p:cNvPr>
          <p:cNvSpPr>
            <a:spLocks xmlns:a="http://schemas.openxmlformats.org/drawingml/2006/main" noGrp="1"/>
          </p:cNvSpPr>
          <p:nvPr/>
        </p:nvSpPr>
        <p:spPr>
          <a:xfrm xmlns:a="http://schemas.openxmlformats.org/drawingml/2006/main">
            <a:off x="609600" y="4629150"/>
            <a:ext cx="114300" cy="114300"/>
          </a:xfrm>
          <a:prstGeom xmlns:a="http://schemas.openxmlformats.org/drawingml/2006/main" prst="rect">
            <a:avLst/>
          </a:prstGeom>
          <a:solidFill xmlns:a="http://schemas.openxmlformats.org/drawingml/2006/main">
            <a:srgbClr val="66C43A"/>
          </a:solidFill>
          <a:ln xmlns:a="http://schemas.openxmlformats.org/drawingml/2006/main" w="0">
            <a:noFill/>
            <a:prstDash val="solid"/>
          </a:ln>
        </p:spPr>
      </p:sp>
      <p:sp>
        <p:nvSpPr>
          <p:cNvPr id="11" name="">
            <a:extLst xmlns:a="http://schemas.openxmlformats.org/drawingml/2006/main">
              <a:ext uri="{FF2B5EF4-FFF2-40B4-BE49-F238E27FC236}">
                <a16:creationId xmlns:a16="http://schemas.microsoft.com/office/drawing/2014/main" id="{86C0535A-220E-4B86-BF0A-A7D73510EE5C}"/>
              </a:ext>
            </a:extLst>
          </p:cNvPr>
          <p:cNvSpPr>
            <a:spLocks xmlns:a="http://schemas.openxmlformats.org/drawingml/2006/main" noGrp="1"/>
          </p:cNvSpPr>
          <p:nvPr/>
        </p:nvSpPr>
        <p:spPr>
          <a:xfrm xmlns:a="http://schemas.openxmlformats.org/drawingml/2006/main">
            <a:off x="914400" y="4552950"/>
            <a:ext cx="53340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800" b="0">
                <a:solidFill>
                  <a:srgbClr val="12233A"/>
                </a:solidFill>
              </a:defRPr>
            </a:pPr>
            <a:r>
              <a:rPr sz="1800" b="0">
                <a:solidFill>
                  <a:srgbClr val="12233A"/>
                </a:solidFill>
              </a:rPr>
              <a:t>Communication</a:t>
            </a:r>
          </a:p>
        </p:txBody>
      </p:sp>
      <p:sp>
        <p:nvSpPr>
          <p:cNvPr id="12" name="">
            <a:extLst xmlns:a="http://schemas.openxmlformats.org/drawingml/2006/main">
              <a:ext uri="{FF2B5EF4-FFF2-40B4-BE49-F238E27FC236}">
                <a16:creationId xmlns:a16="http://schemas.microsoft.com/office/drawing/2014/main" id="{939BA9CC-E388-4024-AFDD-DC319315CA43}"/>
              </a:ext>
            </a:extLst>
          </p:cNvPr>
          <p:cNvSpPr>
            <a:spLocks xmlns:a="http://schemas.openxmlformats.org/drawingml/2006/main" noGrp="1"/>
          </p:cNvSpPr>
          <p:nvPr/>
        </p:nvSpPr>
        <p:spPr>
          <a:xfrm xmlns:a="http://schemas.openxmlformats.org/drawingml/2006/main">
            <a:off x="6858000" y="704850"/>
            <a:ext cx="4495800" cy="4953000"/>
          </a:xfrm>
          <a:prstGeom xmlns:a="http://schemas.openxmlformats.org/drawingml/2006/main" prst="rect">
            <a:avLst/>
          </a:prstGeom>
          <a:solidFill xmlns:a="http://schemas.openxmlformats.org/drawingml/2006/main">
            <a:srgbClr val="F3F6F8"/>
          </a:solidFill>
          <a:ln xmlns:a="http://schemas.openxmlformats.org/drawingml/2006/main" w="9525">
            <a:solidFill>
              <a:srgbClr val="D8E1EA"/>
            </a:solidFill>
            <a:prstDash val="solid"/>
          </a:ln>
        </p:spPr>
      </p:sp>
      <p:sp>
        <p:nvSpPr>
          <p:cNvPr id="13" name="">
            <a:extLst xmlns:a="http://schemas.openxmlformats.org/drawingml/2006/main">
              <a:ext uri="{FF2B5EF4-FFF2-40B4-BE49-F238E27FC236}">
                <a16:creationId xmlns:a16="http://schemas.microsoft.com/office/drawing/2014/main" id="{435FEC72-F8AD-4986-BDEE-08323DF31DCA}"/>
              </a:ext>
            </a:extLst>
          </p:cNvPr>
          <p:cNvSpPr>
            <a:spLocks xmlns:a="http://schemas.openxmlformats.org/drawingml/2006/main" noGrp="1"/>
          </p:cNvSpPr>
          <p:nvPr/>
        </p:nvSpPr>
        <p:spPr>
          <a:xfrm xmlns:a="http://schemas.openxmlformats.org/drawingml/2006/main">
            <a:off x="6858000" y="704850"/>
            <a:ext cx="4495800" cy="114300"/>
          </a:xfrm>
          <a:prstGeom xmlns:a="http://schemas.openxmlformats.org/drawingml/2006/main" prst="rect">
            <a:avLst/>
          </a:prstGeom>
          <a:solidFill xmlns:a="http://schemas.openxmlformats.org/drawingml/2006/main">
            <a:srgbClr val="66C43A"/>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2F271684-B7B7-4D73-8D69-CD69EC573F50}"/>
              </a:ext>
            </a:extLst>
          </p:cNvPr>
          <p:cNvSpPr>
            <a:spLocks xmlns:a="http://schemas.openxmlformats.org/drawingml/2006/main" noGrp="1"/>
          </p:cNvSpPr>
          <p:nvPr/>
        </p:nvSpPr>
        <p:spPr>
          <a:xfrm xmlns:a="http://schemas.openxmlformats.org/drawingml/2006/main">
            <a:off x="7200900" y="1123950"/>
            <a:ext cx="1714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050" b="1">
                <a:solidFill>
                  <a:srgbClr val="5E6B7A"/>
                </a:solidFill>
              </a:defRPr>
            </a:pPr>
            <a:r>
              <a:rPr sz="1050" b="1">
                <a:solidFill>
                  <a:srgbClr val="5E6B7A"/>
                </a:solidFill>
              </a:rPr>
              <a:t>VIDEO VISUAL</a:t>
            </a:r>
          </a:p>
        </p:txBody>
      </p:sp>
      <p:sp>
        <p:nvSpPr>
          <p:cNvPr id="15" name="">
            <a:extLst xmlns:a="http://schemas.openxmlformats.org/drawingml/2006/main">
              <a:ext uri="{FF2B5EF4-FFF2-40B4-BE49-F238E27FC236}">
                <a16:creationId xmlns:a16="http://schemas.microsoft.com/office/drawing/2014/main" id="{DB33F63F-F7EA-4C76-BA95-8EA3B81487FE}"/>
              </a:ext>
            </a:extLst>
          </p:cNvPr>
          <p:cNvSpPr>
            <a:spLocks xmlns:a="http://schemas.openxmlformats.org/drawingml/2006/main" noGrp="1"/>
          </p:cNvSpPr>
          <p:nvPr/>
        </p:nvSpPr>
        <p:spPr>
          <a:xfrm xmlns:a="http://schemas.openxmlformats.org/drawingml/2006/main">
            <a:off x="7200900" y="1543050"/>
            <a:ext cx="3810000" cy="1047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800" b="1">
                <a:solidFill>
                  <a:srgbClr val="12233A"/>
                </a:solidFill>
              </a:defRPr>
            </a:pPr>
            <a:r>
              <a:rPr sz="1800" b="1">
                <a:solidFill>
                  <a:srgbClr val="12233A"/>
                </a:solidFill>
              </a:rPr>
              <a:t>Opening PAL title slide with a clean jobsite training look.</a:t>
            </a:r>
          </a:p>
        </p:txBody>
      </p:sp>
      <p:sp>
        <p:nvSpPr>
          <p:cNvPr id="16" name="">
            <a:extLst xmlns:a="http://schemas.openxmlformats.org/drawingml/2006/main">
              <a:ext uri="{FF2B5EF4-FFF2-40B4-BE49-F238E27FC236}">
                <a16:creationId xmlns:a16="http://schemas.microsoft.com/office/drawing/2014/main" id="{988A34D7-FA9F-4ED4-8112-2B3D4749B878}"/>
              </a:ext>
            </a:extLst>
          </p:cNvPr>
          <p:cNvSpPr>
            <a:spLocks xmlns:a="http://schemas.openxmlformats.org/drawingml/2006/main" noGrp="1"/>
          </p:cNvSpPr>
          <p:nvPr/>
        </p:nvSpPr>
        <p:spPr>
          <a:xfrm xmlns:a="http://schemas.openxmlformats.org/drawingml/2006/main">
            <a:off x="7200900" y="3028950"/>
            <a:ext cx="171450" cy="171450"/>
          </a:xfrm>
          <a:prstGeom xmlns:a="http://schemas.openxmlformats.org/drawingml/2006/main" prst="rect">
            <a:avLst/>
          </a:prstGeom>
          <a:solidFill xmlns:a="http://schemas.openxmlformats.org/drawingml/2006/main">
            <a:srgbClr val="66C43A"/>
          </a:solidFill>
          <a:ln xmlns:a="http://schemas.openxmlformats.org/drawingml/2006/main" w="0">
            <a:noFill/>
            <a:prstDash val="solid"/>
          </a:ln>
        </p:spPr>
      </p:sp>
      <p:sp>
        <p:nvSpPr>
          <p:cNvPr id="17" name="">
            <a:extLst xmlns:a="http://schemas.openxmlformats.org/drawingml/2006/main">
              <a:ext uri="{FF2B5EF4-FFF2-40B4-BE49-F238E27FC236}">
                <a16:creationId xmlns:a16="http://schemas.microsoft.com/office/drawing/2014/main" id="{B28EE620-06EE-4CCD-B549-CFEB35A10F22}"/>
              </a:ext>
            </a:extLst>
          </p:cNvPr>
          <p:cNvSpPr>
            <a:spLocks xmlns:a="http://schemas.openxmlformats.org/drawingml/2006/main" noGrp="1"/>
          </p:cNvSpPr>
          <p:nvPr/>
        </p:nvSpPr>
        <p:spPr>
          <a:xfrm xmlns:a="http://schemas.openxmlformats.org/drawingml/2006/main">
            <a:off x="7524750" y="3000375"/>
            <a:ext cx="3143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500" b="1">
                <a:solidFill>
                  <a:srgbClr val="0B243D"/>
                </a:solidFill>
              </a:defRPr>
            </a:pPr>
            <a:r>
              <a:rPr sz="1500" b="1">
                <a:solidFill>
                  <a:srgbClr val="0B243D"/>
                </a:solidFill>
              </a:rPr>
              <a:t>Safety</a:t>
            </a:r>
          </a:p>
        </p:txBody>
      </p:sp>
      <p:sp>
        <p:nvSpPr>
          <p:cNvPr id="18" name="">
            <a:extLst xmlns:a="http://schemas.openxmlformats.org/drawingml/2006/main">
              <a:ext uri="{FF2B5EF4-FFF2-40B4-BE49-F238E27FC236}">
                <a16:creationId xmlns:a16="http://schemas.microsoft.com/office/drawing/2014/main" id="{C1F3DA38-9627-4FEB-AF22-F6130EE9DD0D}"/>
              </a:ext>
            </a:extLst>
          </p:cNvPr>
          <p:cNvSpPr>
            <a:spLocks xmlns:a="http://schemas.openxmlformats.org/drawingml/2006/main" noGrp="1"/>
          </p:cNvSpPr>
          <p:nvPr/>
        </p:nvSpPr>
        <p:spPr>
          <a:xfrm xmlns:a="http://schemas.openxmlformats.org/drawingml/2006/main">
            <a:off x="7200900" y="3467100"/>
            <a:ext cx="171450" cy="171450"/>
          </a:xfrm>
          <a:prstGeom xmlns:a="http://schemas.openxmlformats.org/drawingml/2006/main" prst="rect">
            <a:avLst/>
          </a:prstGeom>
          <a:solidFill xmlns:a="http://schemas.openxmlformats.org/drawingml/2006/main">
            <a:srgbClr val="66C43A"/>
          </a:solidFill>
          <a:ln xmlns:a="http://schemas.openxmlformats.org/drawingml/2006/main" w="0">
            <a:noFill/>
            <a:prstDash val="solid"/>
          </a:ln>
        </p:spPr>
      </p:sp>
      <p:sp>
        <p:nvSpPr>
          <p:cNvPr id="19" name="">
            <a:extLst xmlns:a="http://schemas.openxmlformats.org/drawingml/2006/main">
              <a:ext uri="{FF2B5EF4-FFF2-40B4-BE49-F238E27FC236}">
                <a16:creationId xmlns:a16="http://schemas.microsoft.com/office/drawing/2014/main" id="{AA7486B5-6597-449A-919B-635E04DD6D4A}"/>
              </a:ext>
            </a:extLst>
          </p:cNvPr>
          <p:cNvSpPr>
            <a:spLocks xmlns:a="http://schemas.openxmlformats.org/drawingml/2006/main" noGrp="1"/>
          </p:cNvSpPr>
          <p:nvPr/>
        </p:nvSpPr>
        <p:spPr>
          <a:xfrm xmlns:a="http://schemas.openxmlformats.org/drawingml/2006/main">
            <a:off x="7524750" y="3438525"/>
            <a:ext cx="3143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500" b="1">
                <a:solidFill>
                  <a:srgbClr val="0B243D"/>
                </a:solidFill>
              </a:defRPr>
            </a:pPr>
            <a:r>
              <a:rPr sz="1500" b="1">
                <a:solidFill>
                  <a:srgbClr val="0B243D"/>
                </a:solidFill>
              </a:rPr>
              <a:t>Compliance</a:t>
            </a:r>
          </a:p>
        </p:txBody>
      </p:sp>
      <p:sp>
        <p:nvSpPr>
          <p:cNvPr id="20" name="">
            <a:extLst xmlns:a="http://schemas.openxmlformats.org/drawingml/2006/main">
              <a:ext uri="{FF2B5EF4-FFF2-40B4-BE49-F238E27FC236}">
                <a16:creationId xmlns:a16="http://schemas.microsoft.com/office/drawing/2014/main" id="{150A68A3-FF8A-4A83-957D-DAE3B65E86AA}"/>
              </a:ext>
            </a:extLst>
          </p:cNvPr>
          <p:cNvSpPr>
            <a:spLocks xmlns:a="http://schemas.openxmlformats.org/drawingml/2006/main" noGrp="1"/>
          </p:cNvSpPr>
          <p:nvPr/>
        </p:nvSpPr>
        <p:spPr>
          <a:xfrm xmlns:a="http://schemas.openxmlformats.org/drawingml/2006/main">
            <a:off x="7200900" y="3905250"/>
            <a:ext cx="171450" cy="171450"/>
          </a:xfrm>
          <a:prstGeom xmlns:a="http://schemas.openxmlformats.org/drawingml/2006/main" prst="rect">
            <a:avLst/>
          </a:prstGeom>
          <a:solidFill xmlns:a="http://schemas.openxmlformats.org/drawingml/2006/main">
            <a:srgbClr val="66C43A"/>
          </a:solidFill>
          <a:ln xmlns:a="http://schemas.openxmlformats.org/drawingml/2006/main" w="0">
            <a:noFill/>
            <a:prstDash val="solid"/>
          </a:ln>
        </p:spPr>
      </p:sp>
      <p:sp>
        <p:nvSpPr>
          <p:cNvPr id="21" name="">
            <a:extLst xmlns:a="http://schemas.openxmlformats.org/drawingml/2006/main">
              <a:ext uri="{FF2B5EF4-FFF2-40B4-BE49-F238E27FC236}">
                <a16:creationId xmlns:a16="http://schemas.microsoft.com/office/drawing/2014/main" id="{AD3323F9-1249-4963-8EE8-77382199A7CC}"/>
              </a:ext>
            </a:extLst>
          </p:cNvPr>
          <p:cNvSpPr>
            <a:spLocks xmlns:a="http://schemas.openxmlformats.org/drawingml/2006/main" noGrp="1"/>
          </p:cNvSpPr>
          <p:nvPr/>
        </p:nvSpPr>
        <p:spPr>
          <a:xfrm xmlns:a="http://schemas.openxmlformats.org/drawingml/2006/main">
            <a:off x="7524750" y="3876675"/>
            <a:ext cx="3143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500" b="1">
                <a:solidFill>
                  <a:srgbClr val="0B243D"/>
                </a:solidFill>
              </a:defRPr>
            </a:pPr>
            <a:r>
              <a:rPr sz="1500" b="1">
                <a:solidFill>
                  <a:srgbClr val="0B243D"/>
                </a:solidFill>
              </a:rPr>
              <a:t>Communication</a:t>
            </a:r>
          </a:p>
        </p:txBody>
      </p:sp>
      <p:sp>
        <p:nvSpPr>
          <p:cNvPr id="22" name="">
            <a:extLst xmlns:a="http://schemas.openxmlformats.org/drawingml/2006/main">
              <a:ext uri="{FF2B5EF4-FFF2-40B4-BE49-F238E27FC236}">
                <a16:creationId xmlns:a16="http://schemas.microsoft.com/office/drawing/2014/main" id="{943FBC7F-F776-4189-963F-16D834462FA3}"/>
              </a:ext>
            </a:extLst>
          </p:cNvPr>
          <p:cNvSpPr>
            <a:spLocks xmlns:a="http://schemas.openxmlformats.org/drawingml/2006/main" noGrp="1"/>
          </p:cNvSpPr>
          <p:nvPr/>
        </p:nvSpPr>
        <p:spPr>
          <a:xfrm xmlns:a="http://schemas.openxmlformats.org/drawingml/2006/main">
            <a:off x="7200900" y="5219700"/>
            <a:ext cx="1714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975" b="1">
                <a:solidFill>
                  <a:srgbClr val="5E6B7A"/>
                </a:solidFill>
              </a:defRPr>
            </a:pPr>
            <a:r>
              <a:rPr sz="975" b="1">
                <a:solidFill>
                  <a:srgbClr val="5E6B7A"/>
                </a:solidFill>
              </a:rPr>
              <a:t>Scene 1</a:t>
            </a:r>
          </a:p>
        </p:txBody>
      </p:sp>
      <p:sp>
        <p:nvSpPr>
          <p:cNvPr id="23" name="">
            <a:extLst xmlns:a="http://schemas.openxmlformats.org/drawingml/2006/main">
              <a:ext uri="{FF2B5EF4-FFF2-40B4-BE49-F238E27FC236}">
                <a16:creationId xmlns:a16="http://schemas.microsoft.com/office/drawing/2014/main" id="{6F674CF2-09BE-4EF3-A815-137CF4CDF524}"/>
              </a:ext>
            </a:extLst>
          </p:cNvPr>
          <p:cNvSpPr>
            <a:spLocks xmlns:a="http://schemas.openxmlformats.org/drawingml/2006/main" noGrp="1"/>
          </p:cNvSpPr>
          <p:nvPr/>
        </p:nvSpPr>
        <p:spPr>
          <a:xfrm xmlns:a="http://schemas.openxmlformats.org/drawingml/2006/main">
            <a:off x="0" y="6515100"/>
            <a:ext cx="12192000" cy="342900"/>
          </a:xfrm>
          <a:prstGeom xmlns:a="http://schemas.openxmlformats.org/drawingml/2006/main" prst="rect">
            <a:avLst/>
          </a:prstGeom>
          <a:solidFill xmlns:a="http://schemas.openxmlformats.org/drawingml/2006/main">
            <a:srgbClr val="0B243D"/>
          </a:solidFill>
          <a:ln xmlns:a="http://schemas.openxmlformats.org/drawingml/2006/main" w="0">
            <a:noFill/>
            <a:prstDash val="solid"/>
          </a:ln>
        </p:spPr>
      </p:sp>
      <p:sp>
        <p:nvSpPr>
          <p:cNvPr id="24" name="">
            <a:extLst xmlns:a="http://schemas.openxmlformats.org/drawingml/2006/main">
              <a:ext uri="{FF2B5EF4-FFF2-40B4-BE49-F238E27FC236}">
                <a16:creationId xmlns:a16="http://schemas.microsoft.com/office/drawing/2014/main" id="{FA798EBB-BA9E-4784-8C61-9999F3A1CCAE}"/>
              </a:ext>
            </a:extLst>
          </p:cNvPr>
          <p:cNvSpPr>
            <a:spLocks xmlns:a="http://schemas.openxmlformats.org/drawingml/2006/main" noGrp="1"/>
          </p:cNvSpPr>
          <p:nvPr/>
        </p:nvSpPr>
        <p:spPr>
          <a:xfrm xmlns:a="http://schemas.openxmlformats.org/drawingml/2006/main">
            <a:off x="533400" y="6600825"/>
            <a:ext cx="3429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975" b="1">
                <a:solidFill>
                  <a:srgbClr val="FFFFFF"/>
                </a:solidFill>
              </a:defRPr>
            </a:pPr>
            <a:r>
              <a:rPr sz="975" b="1">
                <a:solidFill>
                  <a:srgbClr val="FFFFFF"/>
                </a:solidFill>
              </a:rPr>
              <a:t>PAL Environmental Services</a:t>
            </a:r>
          </a:p>
        </p:txBody>
      </p:sp>
      <p:sp>
        <p:nvSpPr>
          <p:cNvPr id="25" name="">
            <a:extLst xmlns:a="http://schemas.openxmlformats.org/drawingml/2006/main">
              <a:ext uri="{FF2B5EF4-FFF2-40B4-BE49-F238E27FC236}">
                <a16:creationId xmlns:a16="http://schemas.microsoft.com/office/drawing/2014/main" id="{BD3A8D00-D2C0-417E-B1D2-93714B586BCB}"/>
              </a:ext>
            </a:extLst>
          </p:cNvPr>
          <p:cNvSpPr>
            <a:spLocks xmlns:a="http://schemas.openxmlformats.org/drawingml/2006/main" noGrp="1"/>
          </p:cNvSpPr>
          <p:nvPr/>
        </p:nvSpPr>
        <p:spPr>
          <a:xfrm xmlns:a="http://schemas.openxmlformats.org/drawingml/2006/main">
            <a:off x="9620250" y="6600825"/>
            <a:ext cx="2095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900">
                <a:solidFill>
                  <a:srgbClr val="DDEAF5"/>
                </a:solidFill>
              </a:defRPr>
            </a:pPr>
            <a:r>
              <a:rPr sz="900">
                <a:solidFill>
                  <a:srgbClr val="DDEAF5"/>
                </a:solidFill>
              </a:rPr>
              <a:t>Employee Orientation  |  01</a:t>
            </a:r>
          </a:p>
        </p:txBody>
      </p:sp>
    </p:spTree>
    <p:extLst>
      <p:ext uri="{BB962C8B-B14F-4D97-AF65-F5344CB8AC3E}">
        <p14:creationId xmlns:p14="http://schemas.microsoft.com/office/powerpoint/2010/main" val="1446070848"/>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E3EAC373-5A4C-47DE-BB9E-10CED5B626D3}"/>
              </a:ext>
            </a:extLst>
          </p:cNvPr>
          <p:cNvSpPr>
            <a:spLocks xmlns:a="http://schemas.openxmlformats.org/drawingml/2006/main" noGrp="1"/>
          </p:cNvSpPr>
          <p:nvPr/>
        </p:nvSpPr>
        <p:spPr>
          <a:xfrm xmlns:a="http://schemas.openxmlformats.org/drawingml/2006/main">
            <a:off x="0" y="0"/>
            <a:ext cx="12192000" cy="266700"/>
          </a:xfrm>
          <a:prstGeom xmlns:a="http://schemas.openxmlformats.org/drawingml/2006/main" prst="rect">
            <a:avLst/>
          </a:prstGeom>
          <a:solidFill xmlns:a="http://schemas.openxmlformats.org/drawingml/2006/main">
            <a:srgbClr val="0B243D"/>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AD524845-8EAE-49B9-A6B8-30DCE8083563}"/>
              </a:ext>
            </a:extLst>
          </p:cNvPr>
          <p:cNvSpPr>
            <a:spLocks xmlns:a="http://schemas.openxmlformats.org/drawingml/2006/main" noGrp="1"/>
          </p:cNvSpPr>
          <p:nvPr/>
        </p:nvSpPr>
        <p:spPr>
          <a:xfrm xmlns:a="http://schemas.openxmlformats.org/drawingml/2006/main">
            <a:off x="0" y="266700"/>
            <a:ext cx="171450" cy="6248400"/>
          </a:xfrm>
          <a:prstGeom xmlns:a="http://schemas.openxmlformats.org/drawingml/2006/main" prst="rect">
            <a:avLst/>
          </a:prstGeom>
          <a:solidFill xmlns:a="http://schemas.openxmlformats.org/drawingml/2006/main">
            <a:srgbClr val="66C43A"/>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79DEF1E6-1139-4243-8AC2-6F281BE83C2B}"/>
              </a:ext>
            </a:extLst>
          </p:cNvPr>
          <p:cNvSpPr>
            <a:spLocks xmlns:a="http://schemas.openxmlformats.org/drawingml/2006/main" noGrp="1"/>
          </p:cNvSpPr>
          <p:nvPr/>
        </p:nvSpPr>
        <p:spPr>
          <a:xfrm xmlns:a="http://schemas.openxmlformats.org/drawingml/2006/main">
            <a:off x="533400" y="666750"/>
            <a:ext cx="44767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050" b="1">
                <a:solidFill>
                  <a:srgbClr val="5E6B7A"/>
                </a:solidFill>
              </a:defRPr>
            </a:pPr>
            <a:r>
              <a:rPr sz="1050" b="1">
                <a:solidFill>
                  <a:srgbClr val="5E6B7A"/>
                </a:solidFill>
              </a:rPr>
              <a:t>ORIENTATION GOALS</a:t>
            </a:r>
          </a:p>
        </p:txBody>
      </p:sp>
      <p:sp>
        <p:nvSpPr>
          <p:cNvPr id="4" name="">
            <a:extLst xmlns:a="http://schemas.openxmlformats.org/drawingml/2006/main">
              <a:ext uri="{FF2B5EF4-FFF2-40B4-BE49-F238E27FC236}">
                <a16:creationId xmlns:a16="http://schemas.microsoft.com/office/drawing/2014/main" id="{9A140DA5-C447-48D9-914A-A9A5441A35DB}"/>
              </a:ext>
            </a:extLst>
          </p:cNvPr>
          <p:cNvSpPr>
            <a:spLocks xmlns:a="http://schemas.openxmlformats.org/drawingml/2006/main" noGrp="1"/>
          </p:cNvSpPr>
          <p:nvPr/>
        </p:nvSpPr>
        <p:spPr>
          <a:xfrm xmlns:a="http://schemas.openxmlformats.org/drawingml/2006/main">
            <a:off x="533400" y="1047750"/>
            <a:ext cx="5524500" cy="1428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3150" b="1">
                <a:solidFill>
                  <a:srgbClr val="0B243D"/>
                </a:solidFill>
              </a:defRPr>
            </a:pPr>
            <a:r>
              <a:rPr sz="3150" b="1">
                <a:solidFill>
                  <a:srgbClr val="0B243D"/>
                </a:solidFill>
              </a:rPr>
              <a:t>PAL safety starts with five expectations.</a:t>
            </a:r>
          </a:p>
        </p:txBody>
      </p:sp>
      <p:sp>
        <p:nvSpPr>
          <p:cNvPr id="5" name="">
            <a:extLst xmlns:a="http://schemas.openxmlformats.org/drawingml/2006/main">
              <a:ext uri="{FF2B5EF4-FFF2-40B4-BE49-F238E27FC236}">
                <a16:creationId xmlns:a16="http://schemas.microsoft.com/office/drawing/2014/main" id="{B07FC5A7-15B7-474F-A211-9BC33EB7CC90}"/>
              </a:ext>
            </a:extLst>
          </p:cNvPr>
          <p:cNvSpPr>
            <a:spLocks xmlns:a="http://schemas.openxmlformats.org/drawingml/2006/main" noGrp="1"/>
          </p:cNvSpPr>
          <p:nvPr/>
        </p:nvSpPr>
        <p:spPr>
          <a:xfrm xmlns:a="http://schemas.openxmlformats.org/drawingml/2006/main">
            <a:off x="609600" y="2990850"/>
            <a:ext cx="114300" cy="114300"/>
          </a:xfrm>
          <a:prstGeom xmlns:a="http://schemas.openxmlformats.org/drawingml/2006/main" prst="rect">
            <a:avLst/>
          </a:prstGeom>
          <a:solidFill xmlns:a="http://schemas.openxmlformats.org/drawingml/2006/main">
            <a:srgbClr val="66C43A"/>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24A72840-58BC-4ECE-BF18-B31BF1D5A16B}"/>
              </a:ext>
            </a:extLst>
          </p:cNvPr>
          <p:cNvSpPr>
            <a:spLocks xmlns:a="http://schemas.openxmlformats.org/drawingml/2006/main" noGrp="1"/>
          </p:cNvSpPr>
          <p:nvPr/>
        </p:nvSpPr>
        <p:spPr>
          <a:xfrm xmlns:a="http://schemas.openxmlformats.org/drawingml/2006/main">
            <a:off x="914400" y="2914650"/>
            <a:ext cx="53340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800" b="1">
                <a:solidFill>
                  <a:srgbClr val="12233A"/>
                </a:solidFill>
              </a:defRPr>
            </a:pPr>
            <a:r>
              <a:rPr sz="1800" b="1">
                <a:solidFill>
                  <a:srgbClr val="12233A"/>
                </a:solidFill>
              </a:rPr>
              <a:t>Protect employee health and safety</a:t>
            </a:r>
          </a:p>
        </p:txBody>
      </p:sp>
      <p:sp>
        <p:nvSpPr>
          <p:cNvPr id="7" name="">
            <a:extLst xmlns:a="http://schemas.openxmlformats.org/drawingml/2006/main">
              <a:ext uri="{FF2B5EF4-FFF2-40B4-BE49-F238E27FC236}">
                <a16:creationId xmlns:a16="http://schemas.microsoft.com/office/drawing/2014/main" id="{3FAC9E59-B40D-4578-9611-98A5572F600A}"/>
              </a:ext>
            </a:extLst>
          </p:cNvPr>
          <p:cNvSpPr>
            <a:spLocks xmlns:a="http://schemas.openxmlformats.org/drawingml/2006/main" noGrp="1"/>
          </p:cNvSpPr>
          <p:nvPr/>
        </p:nvSpPr>
        <p:spPr>
          <a:xfrm xmlns:a="http://schemas.openxmlformats.org/drawingml/2006/main">
            <a:off x="609600" y="3600450"/>
            <a:ext cx="114300" cy="114300"/>
          </a:xfrm>
          <a:prstGeom xmlns:a="http://schemas.openxmlformats.org/drawingml/2006/main" prst="rect">
            <a:avLst/>
          </a:prstGeom>
          <a:solidFill xmlns:a="http://schemas.openxmlformats.org/drawingml/2006/main">
            <a:srgbClr val="66C43A"/>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886C1F03-719A-4B9F-A643-776B74D23DD0}"/>
              </a:ext>
            </a:extLst>
          </p:cNvPr>
          <p:cNvSpPr>
            <a:spLocks xmlns:a="http://schemas.openxmlformats.org/drawingml/2006/main" noGrp="1"/>
          </p:cNvSpPr>
          <p:nvPr/>
        </p:nvSpPr>
        <p:spPr>
          <a:xfrm xmlns:a="http://schemas.openxmlformats.org/drawingml/2006/main">
            <a:off x="914400" y="3524250"/>
            <a:ext cx="53340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800" b="0">
                <a:solidFill>
                  <a:srgbClr val="12233A"/>
                </a:solidFill>
              </a:defRPr>
            </a:pPr>
            <a:r>
              <a:rPr sz="1800" b="0">
                <a:solidFill>
                  <a:srgbClr val="12233A"/>
                </a:solidFill>
              </a:rPr>
              <a:t>Prevent incidents through planning</a:t>
            </a:r>
          </a:p>
        </p:txBody>
      </p:sp>
      <p:sp>
        <p:nvSpPr>
          <p:cNvPr id="9" name="">
            <a:extLst xmlns:a="http://schemas.openxmlformats.org/drawingml/2006/main">
              <a:ext uri="{FF2B5EF4-FFF2-40B4-BE49-F238E27FC236}">
                <a16:creationId xmlns:a16="http://schemas.microsoft.com/office/drawing/2014/main" id="{218D46CA-E8AA-4361-AE24-92DE6FBF4693}"/>
              </a:ext>
            </a:extLst>
          </p:cNvPr>
          <p:cNvSpPr>
            <a:spLocks xmlns:a="http://schemas.openxmlformats.org/drawingml/2006/main" noGrp="1"/>
          </p:cNvSpPr>
          <p:nvPr/>
        </p:nvSpPr>
        <p:spPr>
          <a:xfrm xmlns:a="http://schemas.openxmlformats.org/drawingml/2006/main">
            <a:off x="609600" y="4210050"/>
            <a:ext cx="114300" cy="114300"/>
          </a:xfrm>
          <a:prstGeom xmlns:a="http://schemas.openxmlformats.org/drawingml/2006/main" prst="rect">
            <a:avLst/>
          </a:prstGeom>
          <a:solidFill xmlns:a="http://schemas.openxmlformats.org/drawingml/2006/main">
            <a:srgbClr val="66C43A"/>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AB821F02-CAAA-4F74-BE0F-42A80A954524}"/>
              </a:ext>
            </a:extLst>
          </p:cNvPr>
          <p:cNvSpPr>
            <a:spLocks xmlns:a="http://schemas.openxmlformats.org/drawingml/2006/main" noGrp="1"/>
          </p:cNvSpPr>
          <p:nvPr/>
        </p:nvSpPr>
        <p:spPr>
          <a:xfrm xmlns:a="http://schemas.openxmlformats.org/drawingml/2006/main">
            <a:off x="914400" y="4133850"/>
            <a:ext cx="53340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800" b="0">
                <a:solidFill>
                  <a:srgbClr val="12233A"/>
                </a:solidFill>
              </a:defRPr>
            </a:pPr>
            <a:r>
              <a:rPr sz="1800" b="0">
                <a:solidFill>
                  <a:srgbClr val="12233A"/>
                </a:solidFill>
              </a:rPr>
              <a:t>Keep communication clear</a:t>
            </a:r>
          </a:p>
        </p:txBody>
      </p:sp>
      <p:sp>
        <p:nvSpPr>
          <p:cNvPr id="11" name="">
            <a:extLst xmlns:a="http://schemas.openxmlformats.org/drawingml/2006/main">
              <a:ext uri="{FF2B5EF4-FFF2-40B4-BE49-F238E27FC236}">
                <a16:creationId xmlns:a16="http://schemas.microsoft.com/office/drawing/2014/main" id="{A45AE1F4-EBB9-4BF5-BC56-561DF248AC8D}"/>
              </a:ext>
            </a:extLst>
          </p:cNvPr>
          <p:cNvSpPr>
            <a:spLocks xmlns:a="http://schemas.openxmlformats.org/drawingml/2006/main" noGrp="1"/>
          </p:cNvSpPr>
          <p:nvPr/>
        </p:nvSpPr>
        <p:spPr>
          <a:xfrm xmlns:a="http://schemas.openxmlformats.org/drawingml/2006/main">
            <a:off x="6858000" y="704850"/>
            <a:ext cx="4495800" cy="4953000"/>
          </a:xfrm>
          <a:prstGeom xmlns:a="http://schemas.openxmlformats.org/drawingml/2006/main" prst="rect">
            <a:avLst/>
          </a:prstGeom>
          <a:solidFill xmlns:a="http://schemas.openxmlformats.org/drawingml/2006/main">
            <a:srgbClr val="F3F6F8"/>
          </a:solidFill>
          <a:ln xmlns:a="http://schemas.openxmlformats.org/drawingml/2006/main" w="9525">
            <a:solidFill>
              <a:srgbClr val="D8E1EA"/>
            </a:solidFill>
            <a:prstDash val="solid"/>
          </a:ln>
        </p:spPr>
      </p:sp>
      <p:sp>
        <p:nvSpPr>
          <p:cNvPr id="12" name="">
            <a:extLst xmlns:a="http://schemas.openxmlformats.org/drawingml/2006/main">
              <a:ext uri="{FF2B5EF4-FFF2-40B4-BE49-F238E27FC236}">
                <a16:creationId xmlns:a16="http://schemas.microsoft.com/office/drawing/2014/main" id="{F82E20CB-ACA0-4FFF-A34A-298553898995}"/>
              </a:ext>
            </a:extLst>
          </p:cNvPr>
          <p:cNvSpPr>
            <a:spLocks xmlns:a="http://schemas.openxmlformats.org/drawingml/2006/main" noGrp="1"/>
          </p:cNvSpPr>
          <p:nvPr/>
        </p:nvSpPr>
        <p:spPr>
          <a:xfrm xmlns:a="http://schemas.openxmlformats.org/drawingml/2006/main">
            <a:off x="6858000" y="704850"/>
            <a:ext cx="4495800" cy="114300"/>
          </a:xfrm>
          <a:prstGeom xmlns:a="http://schemas.openxmlformats.org/drawingml/2006/main" prst="rect">
            <a:avLst/>
          </a:prstGeom>
          <a:solidFill xmlns:a="http://schemas.openxmlformats.org/drawingml/2006/main">
            <a:srgbClr val="66C43A"/>
          </a:solidFill>
          <a:ln xmlns:a="http://schemas.openxmlformats.org/drawingml/2006/main" w="0">
            <a:noFill/>
            <a:prstDash val="solid"/>
          </a:ln>
        </p:spPr>
      </p:sp>
      <p:sp>
        <p:nvSpPr>
          <p:cNvPr id="13" name="">
            <a:extLst xmlns:a="http://schemas.openxmlformats.org/drawingml/2006/main">
              <a:ext uri="{FF2B5EF4-FFF2-40B4-BE49-F238E27FC236}">
                <a16:creationId xmlns:a16="http://schemas.microsoft.com/office/drawing/2014/main" id="{19BB6485-FECB-4A9F-A020-C16D9E949BE7}"/>
              </a:ext>
            </a:extLst>
          </p:cNvPr>
          <p:cNvSpPr>
            <a:spLocks xmlns:a="http://schemas.openxmlformats.org/drawingml/2006/main" noGrp="1"/>
          </p:cNvSpPr>
          <p:nvPr/>
        </p:nvSpPr>
        <p:spPr>
          <a:xfrm xmlns:a="http://schemas.openxmlformats.org/drawingml/2006/main">
            <a:off x="7200900" y="1123950"/>
            <a:ext cx="1714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050" b="1">
                <a:solidFill>
                  <a:srgbClr val="5E6B7A"/>
                </a:solidFill>
              </a:defRPr>
            </a:pPr>
            <a:r>
              <a:rPr sz="1050" b="1">
                <a:solidFill>
                  <a:srgbClr val="5E6B7A"/>
                </a:solidFill>
              </a:rPr>
              <a:t>VIDEO VISUAL</a:t>
            </a:r>
          </a:p>
        </p:txBody>
      </p:sp>
      <p:sp>
        <p:nvSpPr>
          <p:cNvPr id="14" name="">
            <a:extLst xmlns:a="http://schemas.openxmlformats.org/drawingml/2006/main">
              <a:ext uri="{FF2B5EF4-FFF2-40B4-BE49-F238E27FC236}">
                <a16:creationId xmlns:a16="http://schemas.microsoft.com/office/drawing/2014/main" id="{A4FF5FD4-CDAE-47EC-B5DE-4E3F64B75BE7}"/>
              </a:ext>
            </a:extLst>
          </p:cNvPr>
          <p:cNvSpPr>
            <a:spLocks xmlns:a="http://schemas.openxmlformats.org/drawingml/2006/main" noGrp="1"/>
          </p:cNvSpPr>
          <p:nvPr/>
        </p:nvSpPr>
        <p:spPr>
          <a:xfrm xmlns:a="http://schemas.openxmlformats.org/drawingml/2006/main">
            <a:off x="7200900" y="1543050"/>
            <a:ext cx="3810000" cy="1047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800" b="1">
                <a:solidFill>
                  <a:srgbClr val="12233A"/>
                </a:solidFill>
              </a:defRPr>
            </a:pPr>
            <a:r>
              <a:rPr sz="1800" b="1">
                <a:solidFill>
                  <a:srgbClr val="12233A"/>
                </a:solidFill>
              </a:rPr>
              <a:t>Show five simple goal words around a supervisor speaking with a crew.</a:t>
            </a:r>
          </a:p>
        </p:txBody>
      </p:sp>
      <p:sp>
        <p:nvSpPr>
          <p:cNvPr id="15" name="">
            <a:extLst xmlns:a="http://schemas.openxmlformats.org/drawingml/2006/main">
              <a:ext uri="{FF2B5EF4-FFF2-40B4-BE49-F238E27FC236}">
                <a16:creationId xmlns:a16="http://schemas.microsoft.com/office/drawing/2014/main" id="{2EB9B324-B151-4E6A-924C-AEB274A41612}"/>
              </a:ext>
            </a:extLst>
          </p:cNvPr>
          <p:cNvSpPr>
            <a:spLocks xmlns:a="http://schemas.openxmlformats.org/drawingml/2006/main" noGrp="1"/>
          </p:cNvSpPr>
          <p:nvPr/>
        </p:nvSpPr>
        <p:spPr>
          <a:xfrm xmlns:a="http://schemas.openxmlformats.org/drawingml/2006/main">
            <a:off x="7200900" y="3028950"/>
            <a:ext cx="171450" cy="171450"/>
          </a:xfrm>
          <a:prstGeom xmlns:a="http://schemas.openxmlformats.org/drawingml/2006/main" prst="rect">
            <a:avLst/>
          </a:prstGeom>
          <a:solidFill xmlns:a="http://schemas.openxmlformats.org/drawingml/2006/main">
            <a:srgbClr val="66C43A"/>
          </a:solidFill>
          <a:ln xmlns:a="http://schemas.openxmlformats.org/drawingml/2006/main" w="0">
            <a:noFill/>
            <a:prstDash val="solid"/>
          </a:ln>
        </p:spPr>
      </p:sp>
      <p:sp>
        <p:nvSpPr>
          <p:cNvPr id="16" name="">
            <a:extLst xmlns:a="http://schemas.openxmlformats.org/drawingml/2006/main">
              <a:ext uri="{FF2B5EF4-FFF2-40B4-BE49-F238E27FC236}">
                <a16:creationId xmlns:a16="http://schemas.microsoft.com/office/drawing/2014/main" id="{6F6EB83F-1482-4E40-AE4F-9234853ECCAE}"/>
              </a:ext>
            </a:extLst>
          </p:cNvPr>
          <p:cNvSpPr>
            <a:spLocks xmlns:a="http://schemas.openxmlformats.org/drawingml/2006/main" noGrp="1"/>
          </p:cNvSpPr>
          <p:nvPr/>
        </p:nvSpPr>
        <p:spPr>
          <a:xfrm xmlns:a="http://schemas.openxmlformats.org/drawingml/2006/main">
            <a:off x="7524750" y="3000375"/>
            <a:ext cx="3143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500" b="1">
                <a:solidFill>
                  <a:srgbClr val="0B243D"/>
                </a:solidFill>
              </a:defRPr>
            </a:pPr>
            <a:r>
              <a:rPr sz="1500" b="1">
                <a:solidFill>
                  <a:srgbClr val="0B243D"/>
                </a:solidFill>
              </a:rPr>
              <a:t>Protection</a:t>
            </a:r>
          </a:p>
        </p:txBody>
      </p:sp>
      <p:sp>
        <p:nvSpPr>
          <p:cNvPr id="17" name="">
            <a:extLst xmlns:a="http://schemas.openxmlformats.org/drawingml/2006/main">
              <a:ext uri="{FF2B5EF4-FFF2-40B4-BE49-F238E27FC236}">
                <a16:creationId xmlns:a16="http://schemas.microsoft.com/office/drawing/2014/main" id="{06B1C0B1-5E3F-4AD1-B82E-01631BAF090C}"/>
              </a:ext>
            </a:extLst>
          </p:cNvPr>
          <p:cNvSpPr>
            <a:spLocks xmlns:a="http://schemas.openxmlformats.org/drawingml/2006/main" noGrp="1"/>
          </p:cNvSpPr>
          <p:nvPr/>
        </p:nvSpPr>
        <p:spPr>
          <a:xfrm xmlns:a="http://schemas.openxmlformats.org/drawingml/2006/main">
            <a:off x="7200900" y="3467100"/>
            <a:ext cx="171450" cy="171450"/>
          </a:xfrm>
          <a:prstGeom xmlns:a="http://schemas.openxmlformats.org/drawingml/2006/main" prst="rect">
            <a:avLst/>
          </a:prstGeom>
          <a:solidFill xmlns:a="http://schemas.openxmlformats.org/drawingml/2006/main">
            <a:srgbClr val="66C43A"/>
          </a:solidFill>
          <a:ln xmlns:a="http://schemas.openxmlformats.org/drawingml/2006/main" w="0">
            <a:noFill/>
            <a:prstDash val="solid"/>
          </a:ln>
        </p:spPr>
      </p:sp>
      <p:sp>
        <p:nvSpPr>
          <p:cNvPr id="18" name="">
            <a:extLst xmlns:a="http://schemas.openxmlformats.org/drawingml/2006/main">
              <a:ext uri="{FF2B5EF4-FFF2-40B4-BE49-F238E27FC236}">
                <a16:creationId xmlns:a16="http://schemas.microsoft.com/office/drawing/2014/main" id="{8426B8C4-4F78-407E-83F9-74FCE1BE699C}"/>
              </a:ext>
            </a:extLst>
          </p:cNvPr>
          <p:cNvSpPr>
            <a:spLocks xmlns:a="http://schemas.openxmlformats.org/drawingml/2006/main" noGrp="1"/>
          </p:cNvSpPr>
          <p:nvPr/>
        </p:nvSpPr>
        <p:spPr>
          <a:xfrm xmlns:a="http://schemas.openxmlformats.org/drawingml/2006/main">
            <a:off x="7524750" y="3438525"/>
            <a:ext cx="3143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500" b="1">
                <a:solidFill>
                  <a:srgbClr val="0B243D"/>
                </a:solidFill>
              </a:defRPr>
            </a:pPr>
            <a:r>
              <a:rPr sz="1500" b="1">
                <a:solidFill>
                  <a:srgbClr val="0B243D"/>
                </a:solidFill>
              </a:rPr>
              <a:t>Prevention</a:t>
            </a:r>
          </a:p>
        </p:txBody>
      </p:sp>
      <p:sp>
        <p:nvSpPr>
          <p:cNvPr id="19" name="">
            <a:extLst xmlns:a="http://schemas.openxmlformats.org/drawingml/2006/main">
              <a:ext uri="{FF2B5EF4-FFF2-40B4-BE49-F238E27FC236}">
                <a16:creationId xmlns:a16="http://schemas.microsoft.com/office/drawing/2014/main" id="{1504EBA9-906D-4D05-B79A-A851A9859092}"/>
              </a:ext>
            </a:extLst>
          </p:cNvPr>
          <p:cNvSpPr>
            <a:spLocks xmlns:a="http://schemas.openxmlformats.org/drawingml/2006/main" noGrp="1"/>
          </p:cNvSpPr>
          <p:nvPr/>
        </p:nvSpPr>
        <p:spPr>
          <a:xfrm xmlns:a="http://schemas.openxmlformats.org/drawingml/2006/main">
            <a:off x="7200900" y="3905250"/>
            <a:ext cx="171450" cy="171450"/>
          </a:xfrm>
          <a:prstGeom xmlns:a="http://schemas.openxmlformats.org/drawingml/2006/main" prst="rect">
            <a:avLst/>
          </a:prstGeom>
          <a:solidFill xmlns:a="http://schemas.openxmlformats.org/drawingml/2006/main">
            <a:srgbClr val="66C43A"/>
          </a:solidFill>
          <a:ln xmlns:a="http://schemas.openxmlformats.org/drawingml/2006/main" w="0">
            <a:noFill/>
            <a:prstDash val="solid"/>
          </a:ln>
        </p:spPr>
      </p:sp>
      <p:sp>
        <p:nvSpPr>
          <p:cNvPr id="20" name="">
            <a:extLst xmlns:a="http://schemas.openxmlformats.org/drawingml/2006/main">
              <a:ext uri="{FF2B5EF4-FFF2-40B4-BE49-F238E27FC236}">
                <a16:creationId xmlns:a16="http://schemas.microsoft.com/office/drawing/2014/main" id="{B59BE7CA-D3C7-476D-8B39-C8A5061CDD41}"/>
              </a:ext>
            </a:extLst>
          </p:cNvPr>
          <p:cNvSpPr>
            <a:spLocks xmlns:a="http://schemas.openxmlformats.org/drawingml/2006/main" noGrp="1"/>
          </p:cNvSpPr>
          <p:nvPr/>
        </p:nvSpPr>
        <p:spPr>
          <a:xfrm xmlns:a="http://schemas.openxmlformats.org/drawingml/2006/main">
            <a:off x="7524750" y="3876675"/>
            <a:ext cx="3143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500" b="1">
                <a:solidFill>
                  <a:srgbClr val="0B243D"/>
                </a:solidFill>
              </a:defRPr>
            </a:pPr>
            <a:r>
              <a:rPr sz="1500" b="1">
                <a:solidFill>
                  <a:srgbClr val="0B243D"/>
                </a:solidFill>
              </a:rPr>
              <a:t>Education</a:t>
            </a:r>
          </a:p>
        </p:txBody>
      </p:sp>
      <p:sp>
        <p:nvSpPr>
          <p:cNvPr id="21" name="">
            <a:extLst xmlns:a="http://schemas.openxmlformats.org/drawingml/2006/main">
              <a:ext uri="{FF2B5EF4-FFF2-40B4-BE49-F238E27FC236}">
                <a16:creationId xmlns:a16="http://schemas.microsoft.com/office/drawing/2014/main" id="{622165CD-6933-4DD0-8596-1D22CEB8D993}"/>
              </a:ext>
            </a:extLst>
          </p:cNvPr>
          <p:cNvSpPr>
            <a:spLocks xmlns:a="http://schemas.openxmlformats.org/drawingml/2006/main" noGrp="1"/>
          </p:cNvSpPr>
          <p:nvPr/>
        </p:nvSpPr>
        <p:spPr>
          <a:xfrm xmlns:a="http://schemas.openxmlformats.org/drawingml/2006/main">
            <a:off x="7200900" y="4343400"/>
            <a:ext cx="171450" cy="171450"/>
          </a:xfrm>
          <a:prstGeom xmlns:a="http://schemas.openxmlformats.org/drawingml/2006/main" prst="rect">
            <a:avLst/>
          </a:prstGeom>
          <a:solidFill xmlns:a="http://schemas.openxmlformats.org/drawingml/2006/main">
            <a:srgbClr val="66C43A"/>
          </a:solidFill>
          <a:ln xmlns:a="http://schemas.openxmlformats.org/drawingml/2006/main" w="0">
            <a:noFill/>
            <a:prstDash val="solid"/>
          </a:ln>
        </p:spPr>
      </p:sp>
      <p:sp>
        <p:nvSpPr>
          <p:cNvPr id="22" name="">
            <a:extLst xmlns:a="http://schemas.openxmlformats.org/drawingml/2006/main">
              <a:ext uri="{FF2B5EF4-FFF2-40B4-BE49-F238E27FC236}">
                <a16:creationId xmlns:a16="http://schemas.microsoft.com/office/drawing/2014/main" id="{E1F980B0-3BC0-44CD-B2B3-0E272B341E99}"/>
              </a:ext>
            </a:extLst>
          </p:cNvPr>
          <p:cNvSpPr>
            <a:spLocks xmlns:a="http://schemas.openxmlformats.org/drawingml/2006/main" noGrp="1"/>
          </p:cNvSpPr>
          <p:nvPr/>
        </p:nvSpPr>
        <p:spPr>
          <a:xfrm xmlns:a="http://schemas.openxmlformats.org/drawingml/2006/main">
            <a:off x="7524750" y="4314825"/>
            <a:ext cx="3143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500" b="1">
                <a:solidFill>
                  <a:srgbClr val="0B243D"/>
                </a:solidFill>
              </a:defRPr>
            </a:pPr>
            <a:r>
              <a:rPr sz="1500" b="1">
                <a:solidFill>
                  <a:srgbClr val="0B243D"/>
                </a:solidFill>
              </a:rPr>
              <a:t>Compliance</a:t>
            </a:r>
          </a:p>
        </p:txBody>
      </p:sp>
      <p:sp>
        <p:nvSpPr>
          <p:cNvPr id="23" name="">
            <a:extLst xmlns:a="http://schemas.openxmlformats.org/drawingml/2006/main">
              <a:ext uri="{FF2B5EF4-FFF2-40B4-BE49-F238E27FC236}">
                <a16:creationId xmlns:a16="http://schemas.microsoft.com/office/drawing/2014/main" id="{6B24735C-E40F-4B9A-ABD1-75C4E0ABAAF0}"/>
              </a:ext>
            </a:extLst>
          </p:cNvPr>
          <p:cNvSpPr>
            <a:spLocks xmlns:a="http://schemas.openxmlformats.org/drawingml/2006/main" noGrp="1"/>
          </p:cNvSpPr>
          <p:nvPr/>
        </p:nvSpPr>
        <p:spPr>
          <a:xfrm xmlns:a="http://schemas.openxmlformats.org/drawingml/2006/main">
            <a:off x="7200900" y="4781550"/>
            <a:ext cx="171450" cy="171450"/>
          </a:xfrm>
          <a:prstGeom xmlns:a="http://schemas.openxmlformats.org/drawingml/2006/main" prst="rect">
            <a:avLst/>
          </a:prstGeom>
          <a:solidFill xmlns:a="http://schemas.openxmlformats.org/drawingml/2006/main">
            <a:srgbClr val="66C43A"/>
          </a:solidFill>
          <a:ln xmlns:a="http://schemas.openxmlformats.org/drawingml/2006/main" w="0">
            <a:noFill/>
            <a:prstDash val="solid"/>
          </a:ln>
        </p:spPr>
      </p:sp>
      <p:sp>
        <p:nvSpPr>
          <p:cNvPr id="24" name="">
            <a:extLst xmlns:a="http://schemas.openxmlformats.org/drawingml/2006/main">
              <a:ext uri="{FF2B5EF4-FFF2-40B4-BE49-F238E27FC236}">
                <a16:creationId xmlns:a16="http://schemas.microsoft.com/office/drawing/2014/main" id="{CF592D14-4E3C-49AC-A1DE-FB3935096F09}"/>
              </a:ext>
            </a:extLst>
          </p:cNvPr>
          <p:cNvSpPr>
            <a:spLocks xmlns:a="http://schemas.openxmlformats.org/drawingml/2006/main" noGrp="1"/>
          </p:cNvSpPr>
          <p:nvPr/>
        </p:nvSpPr>
        <p:spPr>
          <a:xfrm xmlns:a="http://schemas.openxmlformats.org/drawingml/2006/main">
            <a:off x="7524750" y="4752975"/>
            <a:ext cx="3143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500" b="1">
                <a:solidFill>
                  <a:srgbClr val="0B243D"/>
                </a:solidFill>
              </a:defRPr>
            </a:pPr>
            <a:r>
              <a:rPr sz="1500" b="1">
                <a:solidFill>
                  <a:srgbClr val="0B243D"/>
                </a:solidFill>
              </a:rPr>
              <a:t>Communication</a:t>
            </a:r>
          </a:p>
        </p:txBody>
      </p:sp>
      <p:sp>
        <p:nvSpPr>
          <p:cNvPr id="25" name="">
            <a:extLst xmlns:a="http://schemas.openxmlformats.org/drawingml/2006/main">
              <a:ext uri="{FF2B5EF4-FFF2-40B4-BE49-F238E27FC236}">
                <a16:creationId xmlns:a16="http://schemas.microsoft.com/office/drawing/2014/main" id="{32CE0289-7EE3-4D0B-B3BB-B9E49EA42BE6}"/>
              </a:ext>
            </a:extLst>
          </p:cNvPr>
          <p:cNvSpPr>
            <a:spLocks xmlns:a="http://schemas.openxmlformats.org/drawingml/2006/main" noGrp="1"/>
          </p:cNvSpPr>
          <p:nvPr/>
        </p:nvSpPr>
        <p:spPr>
          <a:xfrm xmlns:a="http://schemas.openxmlformats.org/drawingml/2006/main">
            <a:off x="7200900" y="5219700"/>
            <a:ext cx="1714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975" b="1">
                <a:solidFill>
                  <a:srgbClr val="5E6B7A"/>
                </a:solidFill>
              </a:defRPr>
            </a:pPr>
            <a:r>
              <a:rPr sz="975" b="1">
                <a:solidFill>
                  <a:srgbClr val="5E6B7A"/>
                </a:solidFill>
              </a:rPr>
              <a:t>Scene 2</a:t>
            </a:r>
          </a:p>
        </p:txBody>
      </p:sp>
      <p:sp>
        <p:nvSpPr>
          <p:cNvPr id="26" name="">
            <a:extLst xmlns:a="http://schemas.openxmlformats.org/drawingml/2006/main">
              <a:ext uri="{FF2B5EF4-FFF2-40B4-BE49-F238E27FC236}">
                <a16:creationId xmlns:a16="http://schemas.microsoft.com/office/drawing/2014/main" id="{1AB00B47-8F96-484A-A394-B993791FB281}"/>
              </a:ext>
            </a:extLst>
          </p:cNvPr>
          <p:cNvSpPr>
            <a:spLocks xmlns:a="http://schemas.openxmlformats.org/drawingml/2006/main" noGrp="1"/>
          </p:cNvSpPr>
          <p:nvPr/>
        </p:nvSpPr>
        <p:spPr>
          <a:xfrm xmlns:a="http://schemas.openxmlformats.org/drawingml/2006/main">
            <a:off x="0" y="6515100"/>
            <a:ext cx="12192000" cy="342900"/>
          </a:xfrm>
          <a:prstGeom xmlns:a="http://schemas.openxmlformats.org/drawingml/2006/main" prst="rect">
            <a:avLst/>
          </a:prstGeom>
          <a:solidFill xmlns:a="http://schemas.openxmlformats.org/drawingml/2006/main">
            <a:srgbClr val="0B243D"/>
          </a:solidFill>
          <a:ln xmlns:a="http://schemas.openxmlformats.org/drawingml/2006/main" w="0">
            <a:noFill/>
            <a:prstDash val="solid"/>
          </a:ln>
        </p:spPr>
      </p:sp>
      <p:sp>
        <p:nvSpPr>
          <p:cNvPr id="27" name="">
            <a:extLst xmlns:a="http://schemas.openxmlformats.org/drawingml/2006/main">
              <a:ext uri="{FF2B5EF4-FFF2-40B4-BE49-F238E27FC236}">
                <a16:creationId xmlns:a16="http://schemas.microsoft.com/office/drawing/2014/main" id="{E51B7862-ED43-43A9-A899-1E45D9F52F81}"/>
              </a:ext>
            </a:extLst>
          </p:cNvPr>
          <p:cNvSpPr>
            <a:spLocks xmlns:a="http://schemas.openxmlformats.org/drawingml/2006/main" noGrp="1"/>
          </p:cNvSpPr>
          <p:nvPr/>
        </p:nvSpPr>
        <p:spPr>
          <a:xfrm xmlns:a="http://schemas.openxmlformats.org/drawingml/2006/main">
            <a:off x="533400" y="6600825"/>
            <a:ext cx="3429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975" b="1">
                <a:solidFill>
                  <a:srgbClr val="FFFFFF"/>
                </a:solidFill>
              </a:defRPr>
            </a:pPr>
            <a:r>
              <a:rPr sz="975" b="1">
                <a:solidFill>
                  <a:srgbClr val="FFFFFF"/>
                </a:solidFill>
              </a:rPr>
              <a:t>PAL Environmental Services</a:t>
            </a:r>
          </a:p>
        </p:txBody>
      </p:sp>
      <p:sp>
        <p:nvSpPr>
          <p:cNvPr id="28" name="">
            <a:extLst xmlns:a="http://schemas.openxmlformats.org/drawingml/2006/main">
              <a:ext uri="{FF2B5EF4-FFF2-40B4-BE49-F238E27FC236}">
                <a16:creationId xmlns:a16="http://schemas.microsoft.com/office/drawing/2014/main" id="{B4924DD4-6FC3-4EE9-AF48-2C79A3CB8A9C}"/>
              </a:ext>
            </a:extLst>
          </p:cNvPr>
          <p:cNvSpPr>
            <a:spLocks xmlns:a="http://schemas.openxmlformats.org/drawingml/2006/main" noGrp="1"/>
          </p:cNvSpPr>
          <p:nvPr/>
        </p:nvSpPr>
        <p:spPr>
          <a:xfrm xmlns:a="http://schemas.openxmlformats.org/drawingml/2006/main">
            <a:off x="9620250" y="6600825"/>
            <a:ext cx="2095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900">
                <a:solidFill>
                  <a:srgbClr val="DDEAF5"/>
                </a:solidFill>
              </a:defRPr>
            </a:pPr>
            <a:r>
              <a:rPr sz="900">
                <a:solidFill>
                  <a:srgbClr val="DDEAF5"/>
                </a:solidFill>
              </a:rPr>
              <a:t>Employee Orientation  |  02</a:t>
            </a:r>
          </a:p>
        </p:txBody>
      </p:sp>
    </p:spTree>
    <p:extLst>
      <p:ext uri="{BB962C8B-B14F-4D97-AF65-F5344CB8AC3E}">
        <p14:creationId xmlns:p14="http://schemas.microsoft.com/office/powerpoint/2010/main" val="1978753132"/>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65678859-C726-4127-980D-AB43068A0784}"/>
              </a:ext>
            </a:extLst>
          </p:cNvPr>
          <p:cNvSpPr>
            <a:spLocks xmlns:a="http://schemas.openxmlformats.org/drawingml/2006/main" noGrp="1"/>
          </p:cNvSpPr>
          <p:nvPr/>
        </p:nvSpPr>
        <p:spPr>
          <a:xfrm xmlns:a="http://schemas.openxmlformats.org/drawingml/2006/main">
            <a:off x="0" y="0"/>
            <a:ext cx="12192000" cy="266700"/>
          </a:xfrm>
          <a:prstGeom xmlns:a="http://schemas.openxmlformats.org/drawingml/2006/main" prst="rect">
            <a:avLst/>
          </a:prstGeom>
          <a:solidFill xmlns:a="http://schemas.openxmlformats.org/drawingml/2006/main">
            <a:srgbClr val="0B243D"/>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172BF7D5-72E1-42D9-905F-3D6EB14AA48E}"/>
              </a:ext>
            </a:extLst>
          </p:cNvPr>
          <p:cNvSpPr>
            <a:spLocks xmlns:a="http://schemas.openxmlformats.org/drawingml/2006/main" noGrp="1"/>
          </p:cNvSpPr>
          <p:nvPr/>
        </p:nvSpPr>
        <p:spPr>
          <a:xfrm xmlns:a="http://schemas.openxmlformats.org/drawingml/2006/main">
            <a:off x="0" y="266700"/>
            <a:ext cx="171450" cy="6248400"/>
          </a:xfrm>
          <a:prstGeom xmlns:a="http://schemas.openxmlformats.org/drawingml/2006/main" prst="rect">
            <a:avLst/>
          </a:prstGeom>
          <a:solidFill xmlns:a="http://schemas.openxmlformats.org/drawingml/2006/main">
            <a:srgbClr val="66C43A"/>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86C244CC-5A2A-48ED-A65F-6CEDA5D8A843}"/>
              </a:ext>
            </a:extLst>
          </p:cNvPr>
          <p:cNvSpPr>
            <a:spLocks xmlns:a="http://schemas.openxmlformats.org/drawingml/2006/main" noGrp="1"/>
          </p:cNvSpPr>
          <p:nvPr/>
        </p:nvSpPr>
        <p:spPr>
          <a:xfrm xmlns:a="http://schemas.openxmlformats.org/drawingml/2006/main">
            <a:off x="533400" y="666750"/>
            <a:ext cx="44767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050" b="1">
                <a:solidFill>
                  <a:srgbClr val="5E6B7A"/>
                </a:solidFill>
              </a:defRPr>
            </a:pPr>
            <a:r>
              <a:rPr sz="1050" b="1">
                <a:solidFill>
                  <a:srgbClr val="5E6B7A"/>
                </a:solidFill>
              </a:rPr>
              <a:t>TRAINING RECORDS</a:t>
            </a:r>
          </a:p>
        </p:txBody>
      </p:sp>
      <p:sp>
        <p:nvSpPr>
          <p:cNvPr id="4" name="">
            <a:extLst xmlns:a="http://schemas.openxmlformats.org/drawingml/2006/main">
              <a:ext uri="{FF2B5EF4-FFF2-40B4-BE49-F238E27FC236}">
                <a16:creationId xmlns:a16="http://schemas.microsoft.com/office/drawing/2014/main" id="{2AEF0C50-168E-4E32-867B-960D60781700}"/>
              </a:ext>
            </a:extLst>
          </p:cNvPr>
          <p:cNvSpPr>
            <a:spLocks xmlns:a="http://schemas.openxmlformats.org/drawingml/2006/main" noGrp="1"/>
          </p:cNvSpPr>
          <p:nvPr/>
        </p:nvSpPr>
        <p:spPr>
          <a:xfrm xmlns:a="http://schemas.openxmlformats.org/drawingml/2006/main">
            <a:off x="533400" y="1047750"/>
            <a:ext cx="5524500" cy="1428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3150" b="1">
                <a:solidFill>
                  <a:srgbClr val="0B243D"/>
                </a:solidFill>
              </a:defRPr>
            </a:pPr>
            <a:r>
              <a:rPr sz="3150" b="1">
                <a:solidFill>
                  <a:srgbClr val="0B243D"/>
                </a:solidFill>
              </a:rPr>
              <a:t>Workers must have the training required for the task.</a:t>
            </a:r>
          </a:p>
        </p:txBody>
      </p:sp>
      <p:sp>
        <p:nvSpPr>
          <p:cNvPr id="5" name="">
            <a:extLst xmlns:a="http://schemas.openxmlformats.org/drawingml/2006/main">
              <a:ext uri="{FF2B5EF4-FFF2-40B4-BE49-F238E27FC236}">
                <a16:creationId xmlns:a16="http://schemas.microsoft.com/office/drawing/2014/main" id="{8631E81F-C923-4A4A-B3A4-CDC60EC10657}"/>
              </a:ext>
            </a:extLst>
          </p:cNvPr>
          <p:cNvSpPr>
            <a:spLocks xmlns:a="http://schemas.openxmlformats.org/drawingml/2006/main" noGrp="1"/>
          </p:cNvSpPr>
          <p:nvPr/>
        </p:nvSpPr>
        <p:spPr>
          <a:xfrm xmlns:a="http://schemas.openxmlformats.org/drawingml/2006/main">
            <a:off x="609600" y="2990850"/>
            <a:ext cx="114300" cy="114300"/>
          </a:xfrm>
          <a:prstGeom xmlns:a="http://schemas.openxmlformats.org/drawingml/2006/main" prst="rect">
            <a:avLst/>
          </a:prstGeom>
          <a:solidFill xmlns:a="http://schemas.openxmlformats.org/drawingml/2006/main">
            <a:srgbClr val="66C43A"/>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24A93F35-5DB0-44C7-96EB-5C3C3475BE44}"/>
              </a:ext>
            </a:extLst>
          </p:cNvPr>
          <p:cNvSpPr>
            <a:spLocks xmlns:a="http://schemas.openxmlformats.org/drawingml/2006/main" noGrp="1"/>
          </p:cNvSpPr>
          <p:nvPr/>
        </p:nvSpPr>
        <p:spPr>
          <a:xfrm xmlns:a="http://schemas.openxmlformats.org/drawingml/2006/main">
            <a:off x="914400" y="2914650"/>
            <a:ext cx="53340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800" b="1">
                <a:solidFill>
                  <a:srgbClr val="12233A"/>
                </a:solidFill>
              </a:defRPr>
            </a:pPr>
            <a:r>
              <a:rPr sz="1800" b="1">
                <a:solidFill>
                  <a:srgbClr val="12233A"/>
                </a:solidFill>
              </a:rPr>
              <a:t>NYC SST or OSHA training when required</a:t>
            </a:r>
          </a:p>
        </p:txBody>
      </p:sp>
      <p:sp>
        <p:nvSpPr>
          <p:cNvPr id="7" name="">
            <a:extLst xmlns:a="http://schemas.openxmlformats.org/drawingml/2006/main">
              <a:ext uri="{FF2B5EF4-FFF2-40B4-BE49-F238E27FC236}">
                <a16:creationId xmlns:a16="http://schemas.microsoft.com/office/drawing/2014/main" id="{9BEB9FD3-179F-43ED-B321-CD8E9726F1F7}"/>
              </a:ext>
            </a:extLst>
          </p:cNvPr>
          <p:cNvSpPr>
            <a:spLocks xmlns:a="http://schemas.openxmlformats.org/drawingml/2006/main" noGrp="1"/>
          </p:cNvSpPr>
          <p:nvPr/>
        </p:nvSpPr>
        <p:spPr>
          <a:xfrm xmlns:a="http://schemas.openxmlformats.org/drawingml/2006/main">
            <a:off x="609600" y="3600450"/>
            <a:ext cx="114300" cy="114300"/>
          </a:xfrm>
          <a:prstGeom xmlns:a="http://schemas.openxmlformats.org/drawingml/2006/main" prst="rect">
            <a:avLst/>
          </a:prstGeom>
          <a:solidFill xmlns:a="http://schemas.openxmlformats.org/drawingml/2006/main">
            <a:srgbClr val="66C43A"/>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C4648065-D7DF-4D59-B917-EC9E42D5D91D}"/>
              </a:ext>
            </a:extLst>
          </p:cNvPr>
          <p:cNvSpPr>
            <a:spLocks xmlns:a="http://schemas.openxmlformats.org/drawingml/2006/main" noGrp="1"/>
          </p:cNvSpPr>
          <p:nvPr/>
        </p:nvSpPr>
        <p:spPr>
          <a:xfrm xmlns:a="http://schemas.openxmlformats.org/drawingml/2006/main">
            <a:off x="914400" y="3524250"/>
            <a:ext cx="53340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800" b="0">
                <a:solidFill>
                  <a:srgbClr val="12233A"/>
                </a:solidFill>
              </a:defRPr>
            </a:pPr>
            <a:r>
              <a:rPr sz="1800" b="0">
                <a:solidFill>
                  <a:srgbClr val="12233A"/>
                </a:solidFill>
              </a:rPr>
              <a:t>Fall prevention and scaffold user training when required</a:t>
            </a:r>
          </a:p>
        </p:txBody>
      </p:sp>
      <p:sp>
        <p:nvSpPr>
          <p:cNvPr id="9" name="">
            <a:extLst xmlns:a="http://schemas.openxmlformats.org/drawingml/2006/main">
              <a:ext uri="{FF2B5EF4-FFF2-40B4-BE49-F238E27FC236}">
                <a16:creationId xmlns:a16="http://schemas.microsoft.com/office/drawing/2014/main" id="{58D5632C-F295-4D4E-A668-96503656E499}"/>
              </a:ext>
            </a:extLst>
          </p:cNvPr>
          <p:cNvSpPr>
            <a:spLocks xmlns:a="http://schemas.openxmlformats.org/drawingml/2006/main" noGrp="1"/>
          </p:cNvSpPr>
          <p:nvPr/>
        </p:nvSpPr>
        <p:spPr>
          <a:xfrm xmlns:a="http://schemas.openxmlformats.org/drawingml/2006/main">
            <a:off x="609600" y="4210050"/>
            <a:ext cx="114300" cy="114300"/>
          </a:xfrm>
          <a:prstGeom xmlns:a="http://schemas.openxmlformats.org/drawingml/2006/main" prst="rect">
            <a:avLst/>
          </a:prstGeom>
          <a:solidFill xmlns:a="http://schemas.openxmlformats.org/drawingml/2006/main">
            <a:srgbClr val="66C43A"/>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EE3377D0-435D-4771-AA2B-2A3796C98D89}"/>
              </a:ext>
            </a:extLst>
          </p:cNvPr>
          <p:cNvSpPr>
            <a:spLocks xmlns:a="http://schemas.openxmlformats.org/drawingml/2006/main" noGrp="1"/>
          </p:cNvSpPr>
          <p:nvPr/>
        </p:nvSpPr>
        <p:spPr>
          <a:xfrm xmlns:a="http://schemas.openxmlformats.org/drawingml/2006/main">
            <a:off x="914400" y="4133850"/>
            <a:ext cx="53340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800" b="0">
                <a:solidFill>
                  <a:srgbClr val="12233A"/>
                </a:solidFill>
              </a:defRPr>
            </a:pPr>
            <a:r>
              <a:rPr sz="1800" b="0">
                <a:solidFill>
                  <a:srgbClr val="12233A"/>
                </a:solidFill>
              </a:rPr>
              <a:t>Fit test and medical clearance before respirator use</a:t>
            </a:r>
          </a:p>
        </p:txBody>
      </p:sp>
      <p:sp>
        <p:nvSpPr>
          <p:cNvPr id="11" name="">
            <a:extLst xmlns:a="http://schemas.openxmlformats.org/drawingml/2006/main">
              <a:ext uri="{FF2B5EF4-FFF2-40B4-BE49-F238E27FC236}">
                <a16:creationId xmlns:a16="http://schemas.microsoft.com/office/drawing/2014/main" id="{CEB3E792-2F21-4068-B9C9-34709F2CD771}"/>
              </a:ext>
            </a:extLst>
          </p:cNvPr>
          <p:cNvSpPr>
            <a:spLocks xmlns:a="http://schemas.openxmlformats.org/drawingml/2006/main" noGrp="1"/>
          </p:cNvSpPr>
          <p:nvPr/>
        </p:nvSpPr>
        <p:spPr>
          <a:xfrm xmlns:a="http://schemas.openxmlformats.org/drawingml/2006/main">
            <a:off x="6858000" y="704850"/>
            <a:ext cx="4495800" cy="4953000"/>
          </a:xfrm>
          <a:prstGeom xmlns:a="http://schemas.openxmlformats.org/drawingml/2006/main" prst="rect">
            <a:avLst/>
          </a:prstGeom>
          <a:solidFill xmlns:a="http://schemas.openxmlformats.org/drawingml/2006/main">
            <a:srgbClr val="F3F6F8"/>
          </a:solidFill>
          <a:ln xmlns:a="http://schemas.openxmlformats.org/drawingml/2006/main" w="9525">
            <a:solidFill>
              <a:srgbClr val="D8E1EA"/>
            </a:solidFill>
            <a:prstDash val="solid"/>
          </a:ln>
        </p:spPr>
      </p:sp>
      <p:sp>
        <p:nvSpPr>
          <p:cNvPr id="12" name="">
            <a:extLst xmlns:a="http://schemas.openxmlformats.org/drawingml/2006/main">
              <a:ext uri="{FF2B5EF4-FFF2-40B4-BE49-F238E27FC236}">
                <a16:creationId xmlns:a16="http://schemas.microsoft.com/office/drawing/2014/main" id="{39611D60-1AD0-4FD1-A4C3-607F08751675}"/>
              </a:ext>
            </a:extLst>
          </p:cNvPr>
          <p:cNvSpPr>
            <a:spLocks xmlns:a="http://schemas.openxmlformats.org/drawingml/2006/main" noGrp="1"/>
          </p:cNvSpPr>
          <p:nvPr/>
        </p:nvSpPr>
        <p:spPr>
          <a:xfrm xmlns:a="http://schemas.openxmlformats.org/drawingml/2006/main">
            <a:off x="6858000" y="704850"/>
            <a:ext cx="4495800" cy="114300"/>
          </a:xfrm>
          <a:prstGeom xmlns:a="http://schemas.openxmlformats.org/drawingml/2006/main" prst="rect">
            <a:avLst/>
          </a:prstGeom>
          <a:solidFill xmlns:a="http://schemas.openxmlformats.org/drawingml/2006/main">
            <a:srgbClr val="66C43A"/>
          </a:solidFill>
          <a:ln xmlns:a="http://schemas.openxmlformats.org/drawingml/2006/main" w="0">
            <a:noFill/>
            <a:prstDash val="solid"/>
          </a:ln>
        </p:spPr>
      </p:sp>
      <p:sp>
        <p:nvSpPr>
          <p:cNvPr id="13" name="">
            <a:extLst xmlns:a="http://schemas.openxmlformats.org/drawingml/2006/main">
              <a:ext uri="{FF2B5EF4-FFF2-40B4-BE49-F238E27FC236}">
                <a16:creationId xmlns:a16="http://schemas.microsoft.com/office/drawing/2014/main" id="{A7D75419-9D48-405D-A587-E713821D2440}"/>
              </a:ext>
            </a:extLst>
          </p:cNvPr>
          <p:cNvSpPr>
            <a:spLocks xmlns:a="http://schemas.openxmlformats.org/drawingml/2006/main" noGrp="1"/>
          </p:cNvSpPr>
          <p:nvPr/>
        </p:nvSpPr>
        <p:spPr>
          <a:xfrm xmlns:a="http://schemas.openxmlformats.org/drawingml/2006/main">
            <a:off x="7200900" y="1123950"/>
            <a:ext cx="1714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050" b="1">
                <a:solidFill>
                  <a:srgbClr val="5E6B7A"/>
                </a:solidFill>
              </a:defRPr>
            </a:pPr>
            <a:r>
              <a:rPr sz="1050" b="1">
                <a:solidFill>
                  <a:srgbClr val="5E6B7A"/>
                </a:solidFill>
              </a:rPr>
              <a:t>VIDEO VISUAL</a:t>
            </a:r>
          </a:p>
        </p:txBody>
      </p:sp>
      <p:sp>
        <p:nvSpPr>
          <p:cNvPr id="14" name="">
            <a:extLst xmlns:a="http://schemas.openxmlformats.org/drawingml/2006/main">
              <a:ext uri="{FF2B5EF4-FFF2-40B4-BE49-F238E27FC236}">
                <a16:creationId xmlns:a16="http://schemas.microsoft.com/office/drawing/2014/main" id="{FC83F584-E688-40A5-B8FF-E6B00AC5385F}"/>
              </a:ext>
            </a:extLst>
          </p:cNvPr>
          <p:cNvSpPr>
            <a:spLocks xmlns:a="http://schemas.openxmlformats.org/drawingml/2006/main" noGrp="1"/>
          </p:cNvSpPr>
          <p:nvPr/>
        </p:nvSpPr>
        <p:spPr>
          <a:xfrm xmlns:a="http://schemas.openxmlformats.org/drawingml/2006/main">
            <a:off x="7200900" y="1543050"/>
            <a:ext cx="3810000" cy="1047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800" b="1">
                <a:solidFill>
                  <a:srgbClr val="12233A"/>
                </a:solidFill>
              </a:defRPr>
            </a:pPr>
            <a:r>
              <a:rPr sz="1800" b="1">
                <a:solidFill>
                  <a:srgbClr val="12233A"/>
                </a:solidFill>
              </a:rPr>
              <a:t>Safety coordinator reviewing training records with a worker.</a:t>
            </a:r>
          </a:p>
        </p:txBody>
      </p:sp>
      <p:sp>
        <p:nvSpPr>
          <p:cNvPr id="15" name="">
            <a:extLst xmlns:a="http://schemas.openxmlformats.org/drawingml/2006/main">
              <a:ext uri="{FF2B5EF4-FFF2-40B4-BE49-F238E27FC236}">
                <a16:creationId xmlns:a16="http://schemas.microsoft.com/office/drawing/2014/main" id="{B3CF1726-578A-404D-B018-97A2B50FFA7B}"/>
              </a:ext>
            </a:extLst>
          </p:cNvPr>
          <p:cNvSpPr>
            <a:spLocks xmlns:a="http://schemas.openxmlformats.org/drawingml/2006/main" noGrp="1"/>
          </p:cNvSpPr>
          <p:nvPr/>
        </p:nvSpPr>
        <p:spPr>
          <a:xfrm xmlns:a="http://schemas.openxmlformats.org/drawingml/2006/main">
            <a:off x="7200900" y="3028950"/>
            <a:ext cx="171450" cy="171450"/>
          </a:xfrm>
          <a:prstGeom xmlns:a="http://schemas.openxmlformats.org/drawingml/2006/main" prst="rect">
            <a:avLst/>
          </a:prstGeom>
          <a:solidFill xmlns:a="http://schemas.openxmlformats.org/drawingml/2006/main">
            <a:srgbClr val="66C43A"/>
          </a:solidFill>
          <a:ln xmlns:a="http://schemas.openxmlformats.org/drawingml/2006/main" w="0">
            <a:noFill/>
            <a:prstDash val="solid"/>
          </a:ln>
        </p:spPr>
      </p:sp>
      <p:sp>
        <p:nvSpPr>
          <p:cNvPr id="16" name="">
            <a:extLst xmlns:a="http://schemas.openxmlformats.org/drawingml/2006/main">
              <a:ext uri="{FF2B5EF4-FFF2-40B4-BE49-F238E27FC236}">
                <a16:creationId xmlns:a16="http://schemas.microsoft.com/office/drawing/2014/main" id="{63E50F32-867E-4FF1-A5DD-8EA90B2E65A1}"/>
              </a:ext>
            </a:extLst>
          </p:cNvPr>
          <p:cNvSpPr>
            <a:spLocks xmlns:a="http://schemas.openxmlformats.org/drawingml/2006/main" noGrp="1"/>
          </p:cNvSpPr>
          <p:nvPr/>
        </p:nvSpPr>
        <p:spPr>
          <a:xfrm xmlns:a="http://schemas.openxmlformats.org/drawingml/2006/main">
            <a:off x="7524750" y="3000375"/>
            <a:ext cx="3143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500" b="1">
                <a:solidFill>
                  <a:srgbClr val="0B243D"/>
                </a:solidFill>
              </a:defRPr>
            </a:pPr>
            <a:r>
              <a:rPr sz="1500" b="1">
                <a:solidFill>
                  <a:srgbClr val="0B243D"/>
                </a:solidFill>
              </a:rPr>
              <a:t>NYC SST or OSHA training when required</a:t>
            </a:r>
          </a:p>
        </p:txBody>
      </p:sp>
      <p:sp>
        <p:nvSpPr>
          <p:cNvPr id="17" name="">
            <a:extLst xmlns:a="http://schemas.openxmlformats.org/drawingml/2006/main">
              <a:ext uri="{FF2B5EF4-FFF2-40B4-BE49-F238E27FC236}">
                <a16:creationId xmlns:a16="http://schemas.microsoft.com/office/drawing/2014/main" id="{565907CF-D2BD-4BB6-A0B4-0FD8184E14EB}"/>
              </a:ext>
            </a:extLst>
          </p:cNvPr>
          <p:cNvSpPr>
            <a:spLocks xmlns:a="http://schemas.openxmlformats.org/drawingml/2006/main" noGrp="1"/>
          </p:cNvSpPr>
          <p:nvPr/>
        </p:nvSpPr>
        <p:spPr>
          <a:xfrm xmlns:a="http://schemas.openxmlformats.org/drawingml/2006/main">
            <a:off x="7200900" y="3467100"/>
            <a:ext cx="171450" cy="171450"/>
          </a:xfrm>
          <a:prstGeom xmlns:a="http://schemas.openxmlformats.org/drawingml/2006/main" prst="rect">
            <a:avLst/>
          </a:prstGeom>
          <a:solidFill xmlns:a="http://schemas.openxmlformats.org/drawingml/2006/main">
            <a:srgbClr val="66C43A"/>
          </a:solidFill>
          <a:ln xmlns:a="http://schemas.openxmlformats.org/drawingml/2006/main" w="0">
            <a:noFill/>
            <a:prstDash val="solid"/>
          </a:ln>
        </p:spPr>
      </p:sp>
      <p:sp>
        <p:nvSpPr>
          <p:cNvPr id="18" name="">
            <a:extLst xmlns:a="http://schemas.openxmlformats.org/drawingml/2006/main">
              <a:ext uri="{FF2B5EF4-FFF2-40B4-BE49-F238E27FC236}">
                <a16:creationId xmlns:a16="http://schemas.microsoft.com/office/drawing/2014/main" id="{83629966-34AD-4B67-B97E-F859E5C00C0F}"/>
              </a:ext>
            </a:extLst>
          </p:cNvPr>
          <p:cNvSpPr>
            <a:spLocks xmlns:a="http://schemas.openxmlformats.org/drawingml/2006/main" noGrp="1"/>
          </p:cNvSpPr>
          <p:nvPr/>
        </p:nvSpPr>
        <p:spPr>
          <a:xfrm xmlns:a="http://schemas.openxmlformats.org/drawingml/2006/main">
            <a:off x="7524750" y="3438525"/>
            <a:ext cx="3143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500" b="1">
                <a:solidFill>
                  <a:srgbClr val="0B243D"/>
                </a:solidFill>
              </a:defRPr>
            </a:pPr>
            <a:r>
              <a:rPr sz="1500" b="1">
                <a:solidFill>
                  <a:srgbClr val="0B243D"/>
                </a:solidFill>
              </a:rPr>
              <a:t>Fall prevention and scaffold user training when required</a:t>
            </a:r>
          </a:p>
        </p:txBody>
      </p:sp>
      <p:sp>
        <p:nvSpPr>
          <p:cNvPr id="19" name="">
            <a:extLst xmlns:a="http://schemas.openxmlformats.org/drawingml/2006/main">
              <a:ext uri="{FF2B5EF4-FFF2-40B4-BE49-F238E27FC236}">
                <a16:creationId xmlns:a16="http://schemas.microsoft.com/office/drawing/2014/main" id="{5A6B0553-DB3D-4015-8993-25345AF34AD3}"/>
              </a:ext>
            </a:extLst>
          </p:cNvPr>
          <p:cNvSpPr>
            <a:spLocks xmlns:a="http://schemas.openxmlformats.org/drawingml/2006/main" noGrp="1"/>
          </p:cNvSpPr>
          <p:nvPr/>
        </p:nvSpPr>
        <p:spPr>
          <a:xfrm xmlns:a="http://schemas.openxmlformats.org/drawingml/2006/main">
            <a:off x="7200900" y="3905250"/>
            <a:ext cx="171450" cy="171450"/>
          </a:xfrm>
          <a:prstGeom xmlns:a="http://schemas.openxmlformats.org/drawingml/2006/main" prst="rect">
            <a:avLst/>
          </a:prstGeom>
          <a:solidFill xmlns:a="http://schemas.openxmlformats.org/drawingml/2006/main">
            <a:srgbClr val="66C43A"/>
          </a:solidFill>
          <a:ln xmlns:a="http://schemas.openxmlformats.org/drawingml/2006/main" w="0">
            <a:noFill/>
            <a:prstDash val="solid"/>
          </a:ln>
        </p:spPr>
      </p:sp>
      <p:sp>
        <p:nvSpPr>
          <p:cNvPr id="20" name="">
            <a:extLst xmlns:a="http://schemas.openxmlformats.org/drawingml/2006/main">
              <a:ext uri="{FF2B5EF4-FFF2-40B4-BE49-F238E27FC236}">
                <a16:creationId xmlns:a16="http://schemas.microsoft.com/office/drawing/2014/main" id="{5195618B-D7B6-4AEE-AF22-DE8DAD3031B8}"/>
              </a:ext>
            </a:extLst>
          </p:cNvPr>
          <p:cNvSpPr>
            <a:spLocks xmlns:a="http://schemas.openxmlformats.org/drawingml/2006/main" noGrp="1"/>
          </p:cNvSpPr>
          <p:nvPr/>
        </p:nvSpPr>
        <p:spPr>
          <a:xfrm xmlns:a="http://schemas.openxmlformats.org/drawingml/2006/main">
            <a:off x="7524750" y="3876675"/>
            <a:ext cx="3143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500" b="1">
                <a:solidFill>
                  <a:srgbClr val="0B243D"/>
                </a:solidFill>
              </a:defRPr>
            </a:pPr>
            <a:r>
              <a:rPr sz="1500" b="1">
                <a:solidFill>
                  <a:srgbClr val="0B243D"/>
                </a:solidFill>
              </a:rPr>
              <a:t>Fit test and medical clearance before respirator use</a:t>
            </a:r>
          </a:p>
        </p:txBody>
      </p:sp>
      <p:sp>
        <p:nvSpPr>
          <p:cNvPr id="21" name="">
            <a:extLst xmlns:a="http://schemas.openxmlformats.org/drawingml/2006/main">
              <a:ext uri="{FF2B5EF4-FFF2-40B4-BE49-F238E27FC236}">
                <a16:creationId xmlns:a16="http://schemas.microsoft.com/office/drawing/2014/main" id="{1300C002-BAA5-4683-B0A4-CD72C509016E}"/>
              </a:ext>
            </a:extLst>
          </p:cNvPr>
          <p:cNvSpPr>
            <a:spLocks xmlns:a="http://schemas.openxmlformats.org/drawingml/2006/main" noGrp="1"/>
          </p:cNvSpPr>
          <p:nvPr/>
        </p:nvSpPr>
        <p:spPr>
          <a:xfrm xmlns:a="http://schemas.openxmlformats.org/drawingml/2006/main">
            <a:off x="7200900" y="5219700"/>
            <a:ext cx="1714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975" b="1">
                <a:solidFill>
                  <a:srgbClr val="5E6B7A"/>
                </a:solidFill>
              </a:defRPr>
            </a:pPr>
            <a:r>
              <a:rPr sz="975" b="1">
                <a:solidFill>
                  <a:srgbClr val="5E6B7A"/>
                </a:solidFill>
              </a:rPr>
              <a:t>Scene 3</a:t>
            </a:r>
          </a:p>
        </p:txBody>
      </p:sp>
      <p:sp>
        <p:nvSpPr>
          <p:cNvPr id="22" name="">
            <a:extLst xmlns:a="http://schemas.openxmlformats.org/drawingml/2006/main">
              <a:ext uri="{FF2B5EF4-FFF2-40B4-BE49-F238E27FC236}">
                <a16:creationId xmlns:a16="http://schemas.microsoft.com/office/drawing/2014/main" id="{1D63A134-31EA-43AD-A27A-5D89AA751D1E}"/>
              </a:ext>
            </a:extLst>
          </p:cNvPr>
          <p:cNvSpPr>
            <a:spLocks xmlns:a="http://schemas.openxmlformats.org/drawingml/2006/main" noGrp="1"/>
          </p:cNvSpPr>
          <p:nvPr/>
        </p:nvSpPr>
        <p:spPr>
          <a:xfrm xmlns:a="http://schemas.openxmlformats.org/drawingml/2006/main">
            <a:off x="0" y="6515100"/>
            <a:ext cx="12192000" cy="342900"/>
          </a:xfrm>
          <a:prstGeom xmlns:a="http://schemas.openxmlformats.org/drawingml/2006/main" prst="rect">
            <a:avLst/>
          </a:prstGeom>
          <a:solidFill xmlns:a="http://schemas.openxmlformats.org/drawingml/2006/main">
            <a:srgbClr val="0B243D"/>
          </a:solidFill>
          <a:ln xmlns:a="http://schemas.openxmlformats.org/drawingml/2006/main" w="0">
            <a:noFill/>
            <a:prstDash val="solid"/>
          </a:ln>
        </p:spPr>
      </p:sp>
      <p:sp>
        <p:nvSpPr>
          <p:cNvPr id="23" name="">
            <a:extLst xmlns:a="http://schemas.openxmlformats.org/drawingml/2006/main">
              <a:ext uri="{FF2B5EF4-FFF2-40B4-BE49-F238E27FC236}">
                <a16:creationId xmlns:a16="http://schemas.microsoft.com/office/drawing/2014/main" id="{154B91DC-3F0B-41BC-8D08-AB5D577FAB24}"/>
              </a:ext>
            </a:extLst>
          </p:cNvPr>
          <p:cNvSpPr>
            <a:spLocks xmlns:a="http://schemas.openxmlformats.org/drawingml/2006/main" noGrp="1"/>
          </p:cNvSpPr>
          <p:nvPr/>
        </p:nvSpPr>
        <p:spPr>
          <a:xfrm xmlns:a="http://schemas.openxmlformats.org/drawingml/2006/main">
            <a:off x="533400" y="6600825"/>
            <a:ext cx="3429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975" b="1">
                <a:solidFill>
                  <a:srgbClr val="FFFFFF"/>
                </a:solidFill>
              </a:defRPr>
            </a:pPr>
            <a:r>
              <a:rPr sz="975" b="1">
                <a:solidFill>
                  <a:srgbClr val="FFFFFF"/>
                </a:solidFill>
              </a:rPr>
              <a:t>PAL Environmental Services</a:t>
            </a:r>
          </a:p>
        </p:txBody>
      </p:sp>
      <p:sp>
        <p:nvSpPr>
          <p:cNvPr id="24" name="">
            <a:extLst xmlns:a="http://schemas.openxmlformats.org/drawingml/2006/main">
              <a:ext uri="{FF2B5EF4-FFF2-40B4-BE49-F238E27FC236}">
                <a16:creationId xmlns:a16="http://schemas.microsoft.com/office/drawing/2014/main" id="{F0416FA8-3CEF-40D4-91F0-59AD17F53196}"/>
              </a:ext>
            </a:extLst>
          </p:cNvPr>
          <p:cNvSpPr>
            <a:spLocks xmlns:a="http://schemas.openxmlformats.org/drawingml/2006/main" noGrp="1"/>
          </p:cNvSpPr>
          <p:nvPr/>
        </p:nvSpPr>
        <p:spPr>
          <a:xfrm xmlns:a="http://schemas.openxmlformats.org/drawingml/2006/main">
            <a:off x="9620250" y="6600825"/>
            <a:ext cx="2095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900">
                <a:solidFill>
                  <a:srgbClr val="DDEAF5"/>
                </a:solidFill>
              </a:defRPr>
            </a:pPr>
            <a:r>
              <a:rPr sz="900">
                <a:solidFill>
                  <a:srgbClr val="DDEAF5"/>
                </a:solidFill>
              </a:rPr>
              <a:t>Employee Orientation  |  03</a:t>
            </a:r>
          </a:p>
        </p:txBody>
      </p:sp>
    </p:spTree>
    <p:extLst>
      <p:ext uri="{BB962C8B-B14F-4D97-AF65-F5344CB8AC3E}">
        <p14:creationId xmlns:p14="http://schemas.microsoft.com/office/powerpoint/2010/main" val="486916989"/>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46B7A3E5-2412-4D28-B889-1D1FC8BF2024}"/>
              </a:ext>
            </a:extLst>
          </p:cNvPr>
          <p:cNvSpPr>
            <a:spLocks xmlns:a="http://schemas.openxmlformats.org/drawingml/2006/main" noGrp="1"/>
          </p:cNvSpPr>
          <p:nvPr/>
        </p:nvSpPr>
        <p:spPr>
          <a:xfrm xmlns:a="http://schemas.openxmlformats.org/drawingml/2006/main">
            <a:off x="0" y="0"/>
            <a:ext cx="12192000" cy="266700"/>
          </a:xfrm>
          <a:prstGeom xmlns:a="http://schemas.openxmlformats.org/drawingml/2006/main" prst="rect">
            <a:avLst/>
          </a:prstGeom>
          <a:solidFill xmlns:a="http://schemas.openxmlformats.org/drawingml/2006/main">
            <a:srgbClr val="0B243D"/>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C8D100B9-23CF-4557-9527-5910F2731F15}"/>
              </a:ext>
            </a:extLst>
          </p:cNvPr>
          <p:cNvSpPr>
            <a:spLocks xmlns:a="http://schemas.openxmlformats.org/drawingml/2006/main" noGrp="1"/>
          </p:cNvSpPr>
          <p:nvPr/>
        </p:nvSpPr>
        <p:spPr>
          <a:xfrm xmlns:a="http://schemas.openxmlformats.org/drawingml/2006/main">
            <a:off x="0" y="266700"/>
            <a:ext cx="171450" cy="6248400"/>
          </a:xfrm>
          <a:prstGeom xmlns:a="http://schemas.openxmlformats.org/drawingml/2006/main" prst="rect">
            <a:avLst/>
          </a:prstGeom>
          <a:solidFill xmlns:a="http://schemas.openxmlformats.org/drawingml/2006/main">
            <a:srgbClr val="66C43A"/>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2E3A643A-58C1-4DCB-A799-6FE0675B3DBA}"/>
              </a:ext>
            </a:extLst>
          </p:cNvPr>
          <p:cNvSpPr>
            <a:spLocks xmlns:a="http://schemas.openxmlformats.org/drawingml/2006/main" noGrp="1"/>
          </p:cNvSpPr>
          <p:nvPr/>
        </p:nvSpPr>
        <p:spPr>
          <a:xfrm xmlns:a="http://schemas.openxmlformats.org/drawingml/2006/main">
            <a:off x="533400" y="666750"/>
            <a:ext cx="44767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050" b="1">
                <a:solidFill>
                  <a:srgbClr val="5E6B7A"/>
                </a:solidFill>
              </a:defRPr>
            </a:pPr>
            <a:r>
              <a:rPr sz="1050" b="1">
                <a:solidFill>
                  <a:srgbClr val="5E6B7A"/>
                </a:solidFill>
              </a:rPr>
              <a:t>PPE REQUIRED</a:t>
            </a:r>
          </a:p>
        </p:txBody>
      </p:sp>
      <p:sp>
        <p:nvSpPr>
          <p:cNvPr id="4" name="">
            <a:extLst xmlns:a="http://schemas.openxmlformats.org/drawingml/2006/main">
              <a:ext uri="{FF2B5EF4-FFF2-40B4-BE49-F238E27FC236}">
                <a16:creationId xmlns:a16="http://schemas.microsoft.com/office/drawing/2014/main" id="{5D930CFF-D602-4095-A227-FFE392C1F889}"/>
              </a:ext>
            </a:extLst>
          </p:cNvPr>
          <p:cNvSpPr>
            <a:spLocks xmlns:a="http://schemas.openxmlformats.org/drawingml/2006/main" noGrp="1"/>
          </p:cNvSpPr>
          <p:nvPr/>
        </p:nvSpPr>
        <p:spPr>
          <a:xfrm xmlns:a="http://schemas.openxmlformats.org/drawingml/2006/main">
            <a:off x="533400" y="1047750"/>
            <a:ext cx="5524500" cy="1428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3150" b="1">
                <a:solidFill>
                  <a:srgbClr val="0B243D"/>
                </a:solidFill>
              </a:defRPr>
            </a:pPr>
            <a:r>
              <a:rPr sz="3150" b="1">
                <a:solidFill>
                  <a:srgbClr val="0B243D"/>
                </a:solidFill>
              </a:rPr>
              <a:t>Minimum PPE is required before work starts.</a:t>
            </a:r>
          </a:p>
        </p:txBody>
      </p:sp>
      <p:sp>
        <p:nvSpPr>
          <p:cNvPr id="5" name="">
            <a:extLst xmlns:a="http://schemas.openxmlformats.org/drawingml/2006/main">
              <a:ext uri="{FF2B5EF4-FFF2-40B4-BE49-F238E27FC236}">
                <a16:creationId xmlns:a16="http://schemas.microsoft.com/office/drawing/2014/main" id="{741249DA-1743-47DC-B73C-81B7FF340933}"/>
              </a:ext>
            </a:extLst>
          </p:cNvPr>
          <p:cNvSpPr>
            <a:spLocks xmlns:a="http://schemas.openxmlformats.org/drawingml/2006/main" noGrp="1"/>
          </p:cNvSpPr>
          <p:nvPr/>
        </p:nvSpPr>
        <p:spPr>
          <a:xfrm xmlns:a="http://schemas.openxmlformats.org/drawingml/2006/main">
            <a:off x="609600" y="2990850"/>
            <a:ext cx="114300" cy="114300"/>
          </a:xfrm>
          <a:prstGeom xmlns:a="http://schemas.openxmlformats.org/drawingml/2006/main" prst="rect">
            <a:avLst/>
          </a:prstGeom>
          <a:solidFill xmlns:a="http://schemas.openxmlformats.org/drawingml/2006/main">
            <a:srgbClr val="66C43A"/>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43ACC378-F7B4-4A75-A339-6C39E1A17FC3}"/>
              </a:ext>
            </a:extLst>
          </p:cNvPr>
          <p:cNvSpPr>
            <a:spLocks xmlns:a="http://schemas.openxmlformats.org/drawingml/2006/main" noGrp="1"/>
          </p:cNvSpPr>
          <p:nvPr/>
        </p:nvSpPr>
        <p:spPr>
          <a:xfrm xmlns:a="http://schemas.openxmlformats.org/drawingml/2006/main">
            <a:off x="914400" y="2914650"/>
            <a:ext cx="53340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800" b="1">
                <a:solidFill>
                  <a:srgbClr val="12233A"/>
                </a:solidFill>
              </a:defRPr>
            </a:pPr>
            <a:r>
              <a:rPr sz="1800" b="1">
                <a:solidFill>
                  <a:srgbClr val="12233A"/>
                </a:solidFill>
              </a:rPr>
              <a:t>Hard hat, safety glasses, work boots, and long pants</a:t>
            </a:r>
          </a:p>
        </p:txBody>
      </p:sp>
      <p:sp>
        <p:nvSpPr>
          <p:cNvPr id="7" name="">
            <a:extLst xmlns:a="http://schemas.openxmlformats.org/drawingml/2006/main">
              <a:ext uri="{FF2B5EF4-FFF2-40B4-BE49-F238E27FC236}">
                <a16:creationId xmlns:a16="http://schemas.microsoft.com/office/drawing/2014/main" id="{37ACF3A8-3A31-428F-98D2-F5720C8A87B0}"/>
              </a:ext>
            </a:extLst>
          </p:cNvPr>
          <p:cNvSpPr>
            <a:spLocks xmlns:a="http://schemas.openxmlformats.org/drawingml/2006/main" noGrp="1"/>
          </p:cNvSpPr>
          <p:nvPr/>
        </p:nvSpPr>
        <p:spPr>
          <a:xfrm xmlns:a="http://schemas.openxmlformats.org/drawingml/2006/main">
            <a:off x="609600" y="3600450"/>
            <a:ext cx="114300" cy="114300"/>
          </a:xfrm>
          <a:prstGeom xmlns:a="http://schemas.openxmlformats.org/drawingml/2006/main" prst="rect">
            <a:avLst/>
          </a:prstGeom>
          <a:solidFill xmlns:a="http://schemas.openxmlformats.org/drawingml/2006/main">
            <a:srgbClr val="66C43A"/>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1DD23CFB-EADE-4DCF-AE99-395001A384B8}"/>
              </a:ext>
            </a:extLst>
          </p:cNvPr>
          <p:cNvSpPr>
            <a:spLocks xmlns:a="http://schemas.openxmlformats.org/drawingml/2006/main" noGrp="1"/>
          </p:cNvSpPr>
          <p:nvPr/>
        </p:nvSpPr>
        <p:spPr>
          <a:xfrm xmlns:a="http://schemas.openxmlformats.org/drawingml/2006/main">
            <a:off x="914400" y="3524250"/>
            <a:ext cx="53340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800" b="0">
                <a:solidFill>
                  <a:srgbClr val="12233A"/>
                </a:solidFill>
              </a:defRPr>
            </a:pPr>
            <a:r>
              <a:rPr sz="1800" b="0">
                <a:solidFill>
                  <a:srgbClr val="12233A"/>
                </a:solidFill>
              </a:rPr>
              <a:t>High-visibility vest or clothing when required</a:t>
            </a:r>
          </a:p>
        </p:txBody>
      </p:sp>
      <p:sp>
        <p:nvSpPr>
          <p:cNvPr id="9" name="">
            <a:extLst xmlns:a="http://schemas.openxmlformats.org/drawingml/2006/main">
              <a:ext uri="{FF2B5EF4-FFF2-40B4-BE49-F238E27FC236}">
                <a16:creationId xmlns:a16="http://schemas.microsoft.com/office/drawing/2014/main" id="{E520D7E5-F379-45E5-A414-A9E6F2966768}"/>
              </a:ext>
            </a:extLst>
          </p:cNvPr>
          <p:cNvSpPr>
            <a:spLocks xmlns:a="http://schemas.openxmlformats.org/drawingml/2006/main" noGrp="1"/>
          </p:cNvSpPr>
          <p:nvPr/>
        </p:nvSpPr>
        <p:spPr>
          <a:xfrm xmlns:a="http://schemas.openxmlformats.org/drawingml/2006/main">
            <a:off x="609600" y="4210050"/>
            <a:ext cx="114300" cy="114300"/>
          </a:xfrm>
          <a:prstGeom xmlns:a="http://schemas.openxmlformats.org/drawingml/2006/main" prst="rect">
            <a:avLst/>
          </a:prstGeom>
          <a:solidFill xmlns:a="http://schemas.openxmlformats.org/drawingml/2006/main">
            <a:srgbClr val="66C43A"/>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02D26963-66B3-4352-8B92-D5E43397AA62}"/>
              </a:ext>
            </a:extLst>
          </p:cNvPr>
          <p:cNvSpPr>
            <a:spLocks xmlns:a="http://schemas.openxmlformats.org/drawingml/2006/main" noGrp="1"/>
          </p:cNvSpPr>
          <p:nvPr/>
        </p:nvSpPr>
        <p:spPr>
          <a:xfrm xmlns:a="http://schemas.openxmlformats.org/drawingml/2006/main">
            <a:off x="914400" y="4133850"/>
            <a:ext cx="53340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800" b="0">
                <a:solidFill>
                  <a:srgbClr val="12233A"/>
                </a:solidFill>
              </a:defRPr>
            </a:pPr>
            <a:r>
              <a:rPr sz="1800" b="0">
                <a:solidFill>
                  <a:srgbClr val="12233A"/>
                </a:solidFill>
              </a:rPr>
              <a:t>Rated gloves matched to the task</a:t>
            </a:r>
          </a:p>
        </p:txBody>
      </p:sp>
      <p:sp>
        <p:nvSpPr>
          <p:cNvPr id="11" name="">
            <a:extLst xmlns:a="http://schemas.openxmlformats.org/drawingml/2006/main">
              <a:ext uri="{FF2B5EF4-FFF2-40B4-BE49-F238E27FC236}">
                <a16:creationId xmlns:a16="http://schemas.microsoft.com/office/drawing/2014/main" id="{EDD5073B-B80D-4AD0-88D9-FF344D3EE537}"/>
              </a:ext>
            </a:extLst>
          </p:cNvPr>
          <p:cNvSpPr>
            <a:spLocks xmlns:a="http://schemas.openxmlformats.org/drawingml/2006/main" noGrp="1"/>
          </p:cNvSpPr>
          <p:nvPr/>
        </p:nvSpPr>
        <p:spPr>
          <a:xfrm xmlns:a="http://schemas.openxmlformats.org/drawingml/2006/main">
            <a:off x="6858000" y="704850"/>
            <a:ext cx="4495800" cy="4953000"/>
          </a:xfrm>
          <a:prstGeom xmlns:a="http://schemas.openxmlformats.org/drawingml/2006/main" prst="rect">
            <a:avLst/>
          </a:prstGeom>
          <a:solidFill xmlns:a="http://schemas.openxmlformats.org/drawingml/2006/main">
            <a:srgbClr val="F3F6F8"/>
          </a:solidFill>
          <a:ln xmlns:a="http://schemas.openxmlformats.org/drawingml/2006/main" w="9525">
            <a:solidFill>
              <a:srgbClr val="D8E1EA"/>
            </a:solidFill>
            <a:prstDash val="solid"/>
          </a:ln>
        </p:spPr>
      </p:sp>
      <p:sp>
        <p:nvSpPr>
          <p:cNvPr id="12" name="">
            <a:extLst xmlns:a="http://schemas.openxmlformats.org/drawingml/2006/main">
              <a:ext uri="{FF2B5EF4-FFF2-40B4-BE49-F238E27FC236}">
                <a16:creationId xmlns:a16="http://schemas.microsoft.com/office/drawing/2014/main" id="{EFAB068D-5C89-462F-98DE-7F79FCFD6B08}"/>
              </a:ext>
            </a:extLst>
          </p:cNvPr>
          <p:cNvSpPr>
            <a:spLocks xmlns:a="http://schemas.openxmlformats.org/drawingml/2006/main" noGrp="1"/>
          </p:cNvSpPr>
          <p:nvPr/>
        </p:nvSpPr>
        <p:spPr>
          <a:xfrm xmlns:a="http://schemas.openxmlformats.org/drawingml/2006/main">
            <a:off x="6858000" y="704850"/>
            <a:ext cx="4495800" cy="114300"/>
          </a:xfrm>
          <a:prstGeom xmlns:a="http://schemas.openxmlformats.org/drawingml/2006/main" prst="rect">
            <a:avLst/>
          </a:prstGeom>
          <a:solidFill xmlns:a="http://schemas.openxmlformats.org/drawingml/2006/main">
            <a:srgbClr val="66C43A"/>
          </a:solidFill>
          <a:ln xmlns:a="http://schemas.openxmlformats.org/drawingml/2006/main" w="0">
            <a:noFill/>
            <a:prstDash val="solid"/>
          </a:ln>
        </p:spPr>
      </p:sp>
      <p:sp>
        <p:nvSpPr>
          <p:cNvPr id="13" name="">
            <a:extLst xmlns:a="http://schemas.openxmlformats.org/drawingml/2006/main">
              <a:ext uri="{FF2B5EF4-FFF2-40B4-BE49-F238E27FC236}">
                <a16:creationId xmlns:a16="http://schemas.microsoft.com/office/drawing/2014/main" id="{399122F5-7FB7-462E-A53D-E81BB25E4CEE}"/>
              </a:ext>
            </a:extLst>
          </p:cNvPr>
          <p:cNvSpPr>
            <a:spLocks xmlns:a="http://schemas.openxmlformats.org/drawingml/2006/main" noGrp="1"/>
          </p:cNvSpPr>
          <p:nvPr/>
        </p:nvSpPr>
        <p:spPr>
          <a:xfrm xmlns:a="http://schemas.openxmlformats.org/drawingml/2006/main">
            <a:off x="7200900" y="1123950"/>
            <a:ext cx="1714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050" b="1">
                <a:solidFill>
                  <a:srgbClr val="5E6B7A"/>
                </a:solidFill>
              </a:defRPr>
            </a:pPr>
            <a:r>
              <a:rPr sz="1050" b="1">
                <a:solidFill>
                  <a:srgbClr val="5E6B7A"/>
                </a:solidFill>
              </a:rPr>
              <a:t>VIDEO VISUAL</a:t>
            </a:r>
          </a:p>
        </p:txBody>
      </p:sp>
      <p:sp>
        <p:nvSpPr>
          <p:cNvPr id="14" name="">
            <a:extLst xmlns:a="http://schemas.openxmlformats.org/drawingml/2006/main">
              <a:ext uri="{FF2B5EF4-FFF2-40B4-BE49-F238E27FC236}">
                <a16:creationId xmlns:a16="http://schemas.microsoft.com/office/drawing/2014/main" id="{DB1115A3-88D2-43F5-8F52-08F1954E32C8}"/>
              </a:ext>
            </a:extLst>
          </p:cNvPr>
          <p:cNvSpPr>
            <a:spLocks xmlns:a="http://schemas.openxmlformats.org/drawingml/2006/main" noGrp="1"/>
          </p:cNvSpPr>
          <p:nvPr/>
        </p:nvSpPr>
        <p:spPr>
          <a:xfrm xmlns:a="http://schemas.openxmlformats.org/drawingml/2006/main">
            <a:off x="7200900" y="1543050"/>
            <a:ext cx="3810000" cy="1047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800" b="1">
                <a:solidFill>
                  <a:srgbClr val="12233A"/>
                </a:solidFill>
              </a:defRPr>
            </a:pPr>
            <a:r>
              <a:rPr sz="1800" b="1">
                <a:solidFill>
                  <a:srgbClr val="12233A"/>
                </a:solidFill>
              </a:rPr>
              <a:t>Crew at site entry wearing proper PPE while a supervisor performs a check.</a:t>
            </a:r>
          </a:p>
        </p:txBody>
      </p:sp>
      <p:sp>
        <p:nvSpPr>
          <p:cNvPr id="15" name="">
            <a:extLst xmlns:a="http://schemas.openxmlformats.org/drawingml/2006/main">
              <a:ext uri="{FF2B5EF4-FFF2-40B4-BE49-F238E27FC236}">
                <a16:creationId xmlns:a16="http://schemas.microsoft.com/office/drawing/2014/main" id="{3FE01F92-E590-44DA-8A67-7C71CCB86F33}"/>
              </a:ext>
            </a:extLst>
          </p:cNvPr>
          <p:cNvSpPr>
            <a:spLocks xmlns:a="http://schemas.openxmlformats.org/drawingml/2006/main" noGrp="1"/>
          </p:cNvSpPr>
          <p:nvPr/>
        </p:nvSpPr>
        <p:spPr>
          <a:xfrm xmlns:a="http://schemas.openxmlformats.org/drawingml/2006/main">
            <a:off x="7200900" y="3028950"/>
            <a:ext cx="171450" cy="171450"/>
          </a:xfrm>
          <a:prstGeom xmlns:a="http://schemas.openxmlformats.org/drawingml/2006/main" prst="rect">
            <a:avLst/>
          </a:prstGeom>
          <a:solidFill xmlns:a="http://schemas.openxmlformats.org/drawingml/2006/main">
            <a:srgbClr val="66C43A"/>
          </a:solidFill>
          <a:ln xmlns:a="http://schemas.openxmlformats.org/drawingml/2006/main" w="0">
            <a:noFill/>
            <a:prstDash val="solid"/>
          </a:ln>
        </p:spPr>
      </p:sp>
      <p:sp>
        <p:nvSpPr>
          <p:cNvPr id="16" name="">
            <a:extLst xmlns:a="http://schemas.openxmlformats.org/drawingml/2006/main">
              <a:ext uri="{FF2B5EF4-FFF2-40B4-BE49-F238E27FC236}">
                <a16:creationId xmlns:a16="http://schemas.microsoft.com/office/drawing/2014/main" id="{64A0CE3C-41C7-483F-B8AB-343F03331728}"/>
              </a:ext>
            </a:extLst>
          </p:cNvPr>
          <p:cNvSpPr>
            <a:spLocks xmlns:a="http://schemas.openxmlformats.org/drawingml/2006/main" noGrp="1"/>
          </p:cNvSpPr>
          <p:nvPr/>
        </p:nvSpPr>
        <p:spPr>
          <a:xfrm xmlns:a="http://schemas.openxmlformats.org/drawingml/2006/main">
            <a:off x="7524750" y="3000375"/>
            <a:ext cx="3143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500" b="1">
                <a:solidFill>
                  <a:srgbClr val="0B243D"/>
                </a:solidFill>
              </a:defRPr>
            </a:pPr>
            <a:r>
              <a:rPr sz="1500" b="1">
                <a:solidFill>
                  <a:srgbClr val="0B243D"/>
                </a:solidFill>
              </a:rPr>
              <a:t>Hard Hat</a:t>
            </a:r>
          </a:p>
        </p:txBody>
      </p:sp>
      <p:sp>
        <p:nvSpPr>
          <p:cNvPr id="17" name="">
            <a:extLst xmlns:a="http://schemas.openxmlformats.org/drawingml/2006/main">
              <a:ext uri="{FF2B5EF4-FFF2-40B4-BE49-F238E27FC236}">
                <a16:creationId xmlns:a16="http://schemas.microsoft.com/office/drawing/2014/main" id="{D3F82678-CB5C-44F8-A48F-99EB9BAC0E8D}"/>
              </a:ext>
            </a:extLst>
          </p:cNvPr>
          <p:cNvSpPr>
            <a:spLocks xmlns:a="http://schemas.openxmlformats.org/drawingml/2006/main" noGrp="1"/>
          </p:cNvSpPr>
          <p:nvPr/>
        </p:nvSpPr>
        <p:spPr>
          <a:xfrm xmlns:a="http://schemas.openxmlformats.org/drawingml/2006/main">
            <a:off x="7200900" y="3467100"/>
            <a:ext cx="171450" cy="171450"/>
          </a:xfrm>
          <a:prstGeom xmlns:a="http://schemas.openxmlformats.org/drawingml/2006/main" prst="rect">
            <a:avLst/>
          </a:prstGeom>
          <a:solidFill xmlns:a="http://schemas.openxmlformats.org/drawingml/2006/main">
            <a:srgbClr val="66C43A"/>
          </a:solidFill>
          <a:ln xmlns:a="http://schemas.openxmlformats.org/drawingml/2006/main" w="0">
            <a:noFill/>
            <a:prstDash val="solid"/>
          </a:ln>
        </p:spPr>
      </p:sp>
      <p:sp>
        <p:nvSpPr>
          <p:cNvPr id="18" name="">
            <a:extLst xmlns:a="http://schemas.openxmlformats.org/drawingml/2006/main">
              <a:ext uri="{FF2B5EF4-FFF2-40B4-BE49-F238E27FC236}">
                <a16:creationId xmlns:a16="http://schemas.microsoft.com/office/drawing/2014/main" id="{BF4F9939-D008-415C-A445-A180924E10AD}"/>
              </a:ext>
            </a:extLst>
          </p:cNvPr>
          <p:cNvSpPr>
            <a:spLocks xmlns:a="http://schemas.openxmlformats.org/drawingml/2006/main" noGrp="1"/>
          </p:cNvSpPr>
          <p:nvPr/>
        </p:nvSpPr>
        <p:spPr>
          <a:xfrm xmlns:a="http://schemas.openxmlformats.org/drawingml/2006/main">
            <a:off x="7524750" y="3438525"/>
            <a:ext cx="3143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500" b="1">
                <a:solidFill>
                  <a:srgbClr val="0B243D"/>
                </a:solidFill>
              </a:defRPr>
            </a:pPr>
            <a:r>
              <a:rPr sz="1500" b="1">
                <a:solidFill>
                  <a:srgbClr val="0B243D"/>
                </a:solidFill>
              </a:rPr>
              <a:t>Glasses</a:t>
            </a:r>
          </a:p>
        </p:txBody>
      </p:sp>
      <p:sp>
        <p:nvSpPr>
          <p:cNvPr id="19" name="">
            <a:extLst xmlns:a="http://schemas.openxmlformats.org/drawingml/2006/main">
              <a:ext uri="{FF2B5EF4-FFF2-40B4-BE49-F238E27FC236}">
                <a16:creationId xmlns:a16="http://schemas.microsoft.com/office/drawing/2014/main" id="{131E4F1F-84AE-448F-A34B-B7EB0912C123}"/>
              </a:ext>
            </a:extLst>
          </p:cNvPr>
          <p:cNvSpPr>
            <a:spLocks xmlns:a="http://schemas.openxmlformats.org/drawingml/2006/main" noGrp="1"/>
          </p:cNvSpPr>
          <p:nvPr/>
        </p:nvSpPr>
        <p:spPr>
          <a:xfrm xmlns:a="http://schemas.openxmlformats.org/drawingml/2006/main">
            <a:off x="7200900" y="3905250"/>
            <a:ext cx="171450" cy="171450"/>
          </a:xfrm>
          <a:prstGeom xmlns:a="http://schemas.openxmlformats.org/drawingml/2006/main" prst="rect">
            <a:avLst/>
          </a:prstGeom>
          <a:solidFill xmlns:a="http://schemas.openxmlformats.org/drawingml/2006/main">
            <a:srgbClr val="66C43A"/>
          </a:solidFill>
          <a:ln xmlns:a="http://schemas.openxmlformats.org/drawingml/2006/main" w="0">
            <a:noFill/>
            <a:prstDash val="solid"/>
          </a:ln>
        </p:spPr>
      </p:sp>
      <p:sp>
        <p:nvSpPr>
          <p:cNvPr id="20" name="">
            <a:extLst xmlns:a="http://schemas.openxmlformats.org/drawingml/2006/main">
              <a:ext uri="{FF2B5EF4-FFF2-40B4-BE49-F238E27FC236}">
                <a16:creationId xmlns:a16="http://schemas.microsoft.com/office/drawing/2014/main" id="{11E04C7E-7325-4FBC-8752-5CAF4E9D7ADE}"/>
              </a:ext>
            </a:extLst>
          </p:cNvPr>
          <p:cNvSpPr>
            <a:spLocks xmlns:a="http://schemas.openxmlformats.org/drawingml/2006/main" noGrp="1"/>
          </p:cNvSpPr>
          <p:nvPr/>
        </p:nvSpPr>
        <p:spPr>
          <a:xfrm xmlns:a="http://schemas.openxmlformats.org/drawingml/2006/main">
            <a:off x="7524750" y="3876675"/>
            <a:ext cx="3143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500" b="1">
                <a:solidFill>
                  <a:srgbClr val="0B243D"/>
                </a:solidFill>
              </a:defRPr>
            </a:pPr>
            <a:r>
              <a:rPr sz="1500" b="1">
                <a:solidFill>
                  <a:srgbClr val="0B243D"/>
                </a:solidFill>
              </a:rPr>
              <a:t>Gloves</a:t>
            </a:r>
          </a:p>
        </p:txBody>
      </p:sp>
      <p:sp>
        <p:nvSpPr>
          <p:cNvPr id="21" name="">
            <a:extLst xmlns:a="http://schemas.openxmlformats.org/drawingml/2006/main">
              <a:ext uri="{FF2B5EF4-FFF2-40B4-BE49-F238E27FC236}">
                <a16:creationId xmlns:a16="http://schemas.microsoft.com/office/drawing/2014/main" id="{1EF8E633-F13A-486B-AFD9-31637B468992}"/>
              </a:ext>
            </a:extLst>
          </p:cNvPr>
          <p:cNvSpPr>
            <a:spLocks xmlns:a="http://schemas.openxmlformats.org/drawingml/2006/main" noGrp="1"/>
          </p:cNvSpPr>
          <p:nvPr/>
        </p:nvSpPr>
        <p:spPr>
          <a:xfrm xmlns:a="http://schemas.openxmlformats.org/drawingml/2006/main">
            <a:off x="7200900" y="4343400"/>
            <a:ext cx="171450" cy="171450"/>
          </a:xfrm>
          <a:prstGeom xmlns:a="http://schemas.openxmlformats.org/drawingml/2006/main" prst="rect">
            <a:avLst/>
          </a:prstGeom>
          <a:solidFill xmlns:a="http://schemas.openxmlformats.org/drawingml/2006/main">
            <a:srgbClr val="66C43A"/>
          </a:solidFill>
          <a:ln xmlns:a="http://schemas.openxmlformats.org/drawingml/2006/main" w="0">
            <a:noFill/>
            <a:prstDash val="solid"/>
          </a:ln>
        </p:spPr>
      </p:sp>
      <p:sp>
        <p:nvSpPr>
          <p:cNvPr id="22" name="">
            <a:extLst xmlns:a="http://schemas.openxmlformats.org/drawingml/2006/main">
              <a:ext uri="{FF2B5EF4-FFF2-40B4-BE49-F238E27FC236}">
                <a16:creationId xmlns:a16="http://schemas.microsoft.com/office/drawing/2014/main" id="{A9D51455-E0FE-44E8-9D1F-EB5A976F9262}"/>
              </a:ext>
            </a:extLst>
          </p:cNvPr>
          <p:cNvSpPr>
            <a:spLocks xmlns:a="http://schemas.openxmlformats.org/drawingml/2006/main" noGrp="1"/>
          </p:cNvSpPr>
          <p:nvPr/>
        </p:nvSpPr>
        <p:spPr>
          <a:xfrm xmlns:a="http://schemas.openxmlformats.org/drawingml/2006/main">
            <a:off x="7524750" y="4314825"/>
            <a:ext cx="3143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500" b="1">
                <a:solidFill>
                  <a:srgbClr val="0B243D"/>
                </a:solidFill>
              </a:defRPr>
            </a:pPr>
            <a:r>
              <a:rPr sz="1500" b="1">
                <a:solidFill>
                  <a:srgbClr val="0B243D"/>
                </a:solidFill>
              </a:rPr>
              <a:t>Boots</a:t>
            </a:r>
          </a:p>
        </p:txBody>
      </p:sp>
      <p:sp>
        <p:nvSpPr>
          <p:cNvPr id="23" name="">
            <a:extLst xmlns:a="http://schemas.openxmlformats.org/drawingml/2006/main">
              <a:ext uri="{FF2B5EF4-FFF2-40B4-BE49-F238E27FC236}">
                <a16:creationId xmlns:a16="http://schemas.microsoft.com/office/drawing/2014/main" id="{B3A06083-8428-4363-9BC7-6ED210387726}"/>
              </a:ext>
            </a:extLst>
          </p:cNvPr>
          <p:cNvSpPr>
            <a:spLocks xmlns:a="http://schemas.openxmlformats.org/drawingml/2006/main" noGrp="1"/>
          </p:cNvSpPr>
          <p:nvPr/>
        </p:nvSpPr>
        <p:spPr>
          <a:xfrm xmlns:a="http://schemas.openxmlformats.org/drawingml/2006/main">
            <a:off x="7200900" y="4781550"/>
            <a:ext cx="171450" cy="171450"/>
          </a:xfrm>
          <a:prstGeom xmlns:a="http://schemas.openxmlformats.org/drawingml/2006/main" prst="rect">
            <a:avLst/>
          </a:prstGeom>
          <a:solidFill xmlns:a="http://schemas.openxmlformats.org/drawingml/2006/main">
            <a:srgbClr val="66C43A"/>
          </a:solidFill>
          <a:ln xmlns:a="http://schemas.openxmlformats.org/drawingml/2006/main" w="0">
            <a:noFill/>
            <a:prstDash val="solid"/>
          </a:ln>
        </p:spPr>
      </p:sp>
      <p:sp>
        <p:nvSpPr>
          <p:cNvPr id="24" name="">
            <a:extLst xmlns:a="http://schemas.openxmlformats.org/drawingml/2006/main">
              <a:ext uri="{FF2B5EF4-FFF2-40B4-BE49-F238E27FC236}">
                <a16:creationId xmlns:a16="http://schemas.microsoft.com/office/drawing/2014/main" id="{96136241-D7D1-4B1A-AB7D-10A59C354BB6}"/>
              </a:ext>
            </a:extLst>
          </p:cNvPr>
          <p:cNvSpPr>
            <a:spLocks xmlns:a="http://schemas.openxmlformats.org/drawingml/2006/main" noGrp="1"/>
          </p:cNvSpPr>
          <p:nvPr/>
        </p:nvSpPr>
        <p:spPr>
          <a:xfrm xmlns:a="http://schemas.openxmlformats.org/drawingml/2006/main">
            <a:off x="7524750" y="4752975"/>
            <a:ext cx="3143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500" b="1">
                <a:solidFill>
                  <a:srgbClr val="0B243D"/>
                </a:solidFill>
              </a:defRPr>
            </a:pPr>
            <a:r>
              <a:rPr sz="1500" b="1">
                <a:solidFill>
                  <a:srgbClr val="0B243D"/>
                </a:solidFill>
              </a:rPr>
              <a:t>Hi-Vis</a:t>
            </a:r>
          </a:p>
        </p:txBody>
      </p:sp>
      <p:sp>
        <p:nvSpPr>
          <p:cNvPr id="25" name="">
            <a:extLst xmlns:a="http://schemas.openxmlformats.org/drawingml/2006/main">
              <a:ext uri="{FF2B5EF4-FFF2-40B4-BE49-F238E27FC236}">
                <a16:creationId xmlns:a16="http://schemas.microsoft.com/office/drawing/2014/main" id="{D340A80B-5C4B-4FC7-8F64-C5DB5D71B016}"/>
              </a:ext>
            </a:extLst>
          </p:cNvPr>
          <p:cNvSpPr>
            <a:spLocks xmlns:a="http://schemas.openxmlformats.org/drawingml/2006/main" noGrp="1"/>
          </p:cNvSpPr>
          <p:nvPr/>
        </p:nvSpPr>
        <p:spPr>
          <a:xfrm xmlns:a="http://schemas.openxmlformats.org/drawingml/2006/main">
            <a:off x="7200900" y="5219700"/>
            <a:ext cx="1714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975" b="1">
                <a:solidFill>
                  <a:srgbClr val="5E6B7A"/>
                </a:solidFill>
              </a:defRPr>
            </a:pPr>
            <a:r>
              <a:rPr sz="975" b="1">
                <a:solidFill>
                  <a:srgbClr val="5E6B7A"/>
                </a:solidFill>
              </a:rPr>
              <a:t>Scene 4</a:t>
            </a:r>
          </a:p>
        </p:txBody>
      </p:sp>
      <p:sp>
        <p:nvSpPr>
          <p:cNvPr id="26" name="">
            <a:extLst xmlns:a="http://schemas.openxmlformats.org/drawingml/2006/main">
              <a:ext uri="{FF2B5EF4-FFF2-40B4-BE49-F238E27FC236}">
                <a16:creationId xmlns:a16="http://schemas.microsoft.com/office/drawing/2014/main" id="{9E25AC5C-709A-492E-9AA8-66EE1043BC0B}"/>
              </a:ext>
            </a:extLst>
          </p:cNvPr>
          <p:cNvSpPr>
            <a:spLocks xmlns:a="http://schemas.openxmlformats.org/drawingml/2006/main" noGrp="1"/>
          </p:cNvSpPr>
          <p:nvPr/>
        </p:nvSpPr>
        <p:spPr>
          <a:xfrm xmlns:a="http://schemas.openxmlformats.org/drawingml/2006/main">
            <a:off x="0" y="6515100"/>
            <a:ext cx="12192000" cy="342900"/>
          </a:xfrm>
          <a:prstGeom xmlns:a="http://schemas.openxmlformats.org/drawingml/2006/main" prst="rect">
            <a:avLst/>
          </a:prstGeom>
          <a:solidFill xmlns:a="http://schemas.openxmlformats.org/drawingml/2006/main">
            <a:srgbClr val="0B243D"/>
          </a:solidFill>
          <a:ln xmlns:a="http://schemas.openxmlformats.org/drawingml/2006/main" w="0">
            <a:noFill/>
            <a:prstDash val="solid"/>
          </a:ln>
        </p:spPr>
      </p:sp>
      <p:sp>
        <p:nvSpPr>
          <p:cNvPr id="27" name="">
            <a:extLst xmlns:a="http://schemas.openxmlformats.org/drawingml/2006/main">
              <a:ext uri="{FF2B5EF4-FFF2-40B4-BE49-F238E27FC236}">
                <a16:creationId xmlns:a16="http://schemas.microsoft.com/office/drawing/2014/main" id="{30AA2FE7-A4B3-4F8E-AB67-812D60CDFEC9}"/>
              </a:ext>
            </a:extLst>
          </p:cNvPr>
          <p:cNvSpPr>
            <a:spLocks xmlns:a="http://schemas.openxmlformats.org/drawingml/2006/main" noGrp="1"/>
          </p:cNvSpPr>
          <p:nvPr/>
        </p:nvSpPr>
        <p:spPr>
          <a:xfrm xmlns:a="http://schemas.openxmlformats.org/drawingml/2006/main">
            <a:off x="533400" y="6600825"/>
            <a:ext cx="3429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975" b="1">
                <a:solidFill>
                  <a:srgbClr val="FFFFFF"/>
                </a:solidFill>
              </a:defRPr>
            </a:pPr>
            <a:r>
              <a:rPr sz="975" b="1">
                <a:solidFill>
                  <a:srgbClr val="FFFFFF"/>
                </a:solidFill>
              </a:rPr>
              <a:t>PAL Environmental Services</a:t>
            </a:r>
          </a:p>
        </p:txBody>
      </p:sp>
      <p:sp>
        <p:nvSpPr>
          <p:cNvPr id="28" name="">
            <a:extLst xmlns:a="http://schemas.openxmlformats.org/drawingml/2006/main">
              <a:ext uri="{FF2B5EF4-FFF2-40B4-BE49-F238E27FC236}">
                <a16:creationId xmlns:a16="http://schemas.microsoft.com/office/drawing/2014/main" id="{B3909762-E09B-498B-8C8F-A40454C85921}"/>
              </a:ext>
            </a:extLst>
          </p:cNvPr>
          <p:cNvSpPr>
            <a:spLocks xmlns:a="http://schemas.openxmlformats.org/drawingml/2006/main" noGrp="1"/>
          </p:cNvSpPr>
          <p:nvPr/>
        </p:nvSpPr>
        <p:spPr>
          <a:xfrm xmlns:a="http://schemas.openxmlformats.org/drawingml/2006/main">
            <a:off x="9620250" y="6600825"/>
            <a:ext cx="2095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900">
                <a:solidFill>
                  <a:srgbClr val="DDEAF5"/>
                </a:solidFill>
              </a:defRPr>
            </a:pPr>
            <a:r>
              <a:rPr sz="900">
                <a:solidFill>
                  <a:srgbClr val="DDEAF5"/>
                </a:solidFill>
              </a:rPr>
              <a:t>Employee Orientation  |  04</a:t>
            </a:r>
          </a:p>
        </p:txBody>
      </p:sp>
    </p:spTree>
    <p:extLst>
      <p:ext uri="{BB962C8B-B14F-4D97-AF65-F5344CB8AC3E}">
        <p14:creationId xmlns:p14="http://schemas.microsoft.com/office/powerpoint/2010/main" val="1822036488"/>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1C43EA24-4A50-4370-BEF4-FCF2319FB9FE}"/>
              </a:ext>
            </a:extLst>
          </p:cNvPr>
          <p:cNvSpPr>
            <a:spLocks xmlns:a="http://schemas.openxmlformats.org/drawingml/2006/main" noGrp="1"/>
          </p:cNvSpPr>
          <p:nvPr/>
        </p:nvSpPr>
        <p:spPr>
          <a:xfrm xmlns:a="http://schemas.openxmlformats.org/drawingml/2006/main">
            <a:off x="0" y="0"/>
            <a:ext cx="12192000" cy="266700"/>
          </a:xfrm>
          <a:prstGeom xmlns:a="http://schemas.openxmlformats.org/drawingml/2006/main" prst="rect">
            <a:avLst/>
          </a:prstGeom>
          <a:solidFill xmlns:a="http://schemas.openxmlformats.org/drawingml/2006/main">
            <a:srgbClr val="0B243D"/>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19C85960-F934-42EC-B8F3-9570C886F8B8}"/>
              </a:ext>
            </a:extLst>
          </p:cNvPr>
          <p:cNvSpPr>
            <a:spLocks xmlns:a="http://schemas.openxmlformats.org/drawingml/2006/main" noGrp="1"/>
          </p:cNvSpPr>
          <p:nvPr/>
        </p:nvSpPr>
        <p:spPr>
          <a:xfrm xmlns:a="http://schemas.openxmlformats.org/drawingml/2006/main">
            <a:off x="0" y="266700"/>
            <a:ext cx="171450" cy="6248400"/>
          </a:xfrm>
          <a:prstGeom xmlns:a="http://schemas.openxmlformats.org/drawingml/2006/main" prst="rect">
            <a:avLst/>
          </a:prstGeom>
          <a:solidFill xmlns:a="http://schemas.openxmlformats.org/drawingml/2006/main">
            <a:srgbClr val="66C43A"/>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D9817406-972C-4EE5-815B-2D7213286D28}"/>
              </a:ext>
            </a:extLst>
          </p:cNvPr>
          <p:cNvSpPr>
            <a:spLocks xmlns:a="http://schemas.openxmlformats.org/drawingml/2006/main" noGrp="1"/>
          </p:cNvSpPr>
          <p:nvPr/>
        </p:nvSpPr>
        <p:spPr>
          <a:xfrm xmlns:a="http://schemas.openxmlformats.org/drawingml/2006/main">
            <a:off x="533400" y="666750"/>
            <a:ext cx="44767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050" b="1">
                <a:solidFill>
                  <a:srgbClr val="5E6B7A"/>
                </a:solidFill>
              </a:defRPr>
            </a:pPr>
            <a:r>
              <a:rPr sz="1050" b="1">
                <a:solidFill>
                  <a:srgbClr val="5E6B7A"/>
                </a:solidFill>
              </a:rPr>
              <a:t>TASK-SPECIFIC PPE</a:t>
            </a:r>
          </a:p>
        </p:txBody>
      </p:sp>
      <p:sp>
        <p:nvSpPr>
          <p:cNvPr id="4" name="">
            <a:extLst xmlns:a="http://schemas.openxmlformats.org/drawingml/2006/main">
              <a:ext uri="{FF2B5EF4-FFF2-40B4-BE49-F238E27FC236}">
                <a16:creationId xmlns:a16="http://schemas.microsoft.com/office/drawing/2014/main" id="{E658ACC8-E206-4625-B623-AA1623C01517}"/>
              </a:ext>
            </a:extLst>
          </p:cNvPr>
          <p:cNvSpPr>
            <a:spLocks xmlns:a="http://schemas.openxmlformats.org/drawingml/2006/main" noGrp="1"/>
          </p:cNvSpPr>
          <p:nvPr/>
        </p:nvSpPr>
        <p:spPr>
          <a:xfrm xmlns:a="http://schemas.openxmlformats.org/drawingml/2006/main">
            <a:off x="533400" y="1047750"/>
            <a:ext cx="5524500" cy="1428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3150" b="1">
                <a:solidFill>
                  <a:srgbClr val="0B243D"/>
                </a:solidFill>
              </a:defRPr>
            </a:pPr>
            <a:r>
              <a:rPr sz="3150" b="1">
                <a:solidFill>
                  <a:srgbClr val="0B243D"/>
                </a:solidFill>
              </a:rPr>
              <a:t>Some work requires more protection.</a:t>
            </a:r>
          </a:p>
        </p:txBody>
      </p:sp>
      <p:sp>
        <p:nvSpPr>
          <p:cNvPr id="5" name="">
            <a:extLst xmlns:a="http://schemas.openxmlformats.org/drawingml/2006/main">
              <a:ext uri="{FF2B5EF4-FFF2-40B4-BE49-F238E27FC236}">
                <a16:creationId xmlns:a16="http://schemas.microsoft.com/office/drawing/2014/main" id="{BA4698A6-6FB6-44F0-82A8-EE66B715E521}"/>
              </a:ext>
            </a:extLst>
          </p:cNvPr>
          <p:cNvSpPr>
            <a:spLocks xmlns:a="http://schemas.openxmlformats.org/drawingml/2006/main" noGrp="1"/>
          </p:cNvSpPr>
          <p:nvPr/>
        </p:nvSpPr>
        <p:spPr>
          <a:xfrm xmlns:a="http://schemas.openxmlformats.org/drawingml/2006/main">
            <a:off x="609600" y="2990850"/>
            <a:ext cx="114300" cy="114300"/>
          </a:xfrm>
          <a:prstGeom xmlns:a="http://schemas.openxmlformats.org/drawingml/2006/main" prst="rect">
            <a:avLst/>
          </a:prstGeom>
          <a:solidFill xmlns:a="http://schemas.openxmlformats.org/drawingml/2006/main">
            <a:srgbClr val="66C43A"/>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0B135700-E545-4C74-832A-F6D392A7A4DE}"/>
              </a:ext>
            </a:extLst>
          </p:cNvPr>
          <p:cNvSpPr>
            <a:spLocks xmlns:a="http://schemas.openxmlformats.org/drawingml/2006/main" noGrp="1"/>
          </p:cNvSpPr>
          <p:nvPr/>
        </p:nvSpPr>
        <p:spPr>
          <a:xfrm xmlns:a="http://schemas.openxmlformats.org/drawingml/2006/main">
            <a:off x="914400" y="2914650"/>
            <a:ext cx="53340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800" b="1">
                <a:solidFill>
                  <a:srgbClr val="12233A"/>
                </a:solidFill>
              </a:defRPr>
            </a:pPr>
            <a:r>
              <a:rPr sz="1800" b="1">
                <a:solidFill>
                  <a:srgbClr val="12233A"/>
                </a:solidFill>
              </a:rPr>
              <a:t>Face shields, hearing protection, and coveralls may be required</a:t>
            </a:r>
          </a:p>
        </p:txBody>
      </p:sp>
      <p:sp>
        <p:nvSpPr>
          <p:cNvPr id="7" name="">
            <a:extLst xmlns:a="http://schemas.openxmlformats.org/drawingml/2006/main">
              <a:ext uri="{FF2B5EF4-FFF2-40B4-BE49-F238E27FC236}">
                <a16:creationId xmlns:a16="http://schemas.microsoft.com/office/drawing/2014/main" id="{98250FE5-AF7A-4A8B-803B-BBD161053E1A}"/>
              </a:ext>
            </a:extLst>
          </p:cNvPr>
          <p:cNvSpPr>
            <a:spLocks xmlns:a="http://schemas.openxmlformats.org/drawingml/2006/main" noGrp="1"/>
          </p:cNvSpPr>
          <p:nvPr/>
        </p:nvSpPr>
        <p:spPr>
          <a:xfrm xmlns:a="http://schemas.openxmlformats.org/drawingml/2006/main">
            <a:off x="609600" y="3600450"/>
            <a:ext cx="114300" cy="114300"/>
          </a:xfrm>
          <a:prstGeom xmlns:a="http://schemas.openxmlformats.org/drawingml/2006/main" prst="rect">
            <a:avLst/>
          </a:prstGeom>
          <a:solidFill xmlns:a="http://schemas.openxmlformats.org/drawingml/2006/main">
            <a:srgbClr val="66C43A"/>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A89EBB0A-480F-4998-B083-8D1EBA4A6B4A}"/>
              </a:ext>
            </a:extLst>
          </p:cNvPr>
          <p:cNvSpPr>
            <a:spLocks xmlns:a="http://schemas.openxmlformats.org/drawingml/2006/main" noGrp="1"/>
          </p:cNvSpPr>
          <p:nvPr/>
        </p:nvSpPr>
        <p:spPr>
          <a:xfrm xmlns:a="http://schemas.openxmlformats.org/drawingml/2006/main">
            <a:off x="914400" y="3524250"/>
            <a:ext cx="53340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800" b="0">
                <a:solidFill>
                  <a:srgbClr val="12233A"/>
                </a:solidFill>
              </a:defRPr>
            </a:pPr>
            <a:r>
              <a:rPr sz="1800" b="0">
                <a:solidFill>
                  <a:srgbClr val="12233A"/>
                </a:solidFill>
              </a:rPr>
              <a:t>Rubber gloves or boots may be required for specific hazards</a:t>
            </a:r>
          </a:p>
        </p:txBody>
      </p:sp>
      <p:sp>
        <p:nvSpPr>
          <p:cNvPr id="9" name="">
            <a:extLst xmlns:a="http://schemas.openxmlformats.org/drawingml/2006/main">
              <a:ext uri="{FF2B5EF4-FFF2-40B4-BE49-F238E27FC236}">
                <a16:creationId xmlns:a16="http://schemas.microsoft.com/office/drawing/2014/main" id="{7521DB26-554A-4403-B52C-BDEB88A3DB1B}"/>
              </a:ext>
            </a:extLst>
          </p:cNvPr>
          <p:cNvSpPr>
            <a:spLocks xmlns:a="http://schemas.openxmlformats.org/drawingml/2006/main" noGrp="1"/>
          </p:cNvSpPr>
          <p:nvPr/>
        </p:nvSpPr>
        <p:spPr>
          <a:xfrm xmlns:a="http://schemas.openxmlformats.org/drawingml/2006/main">
            <a:off x="609600" y="4210050"/>
            <a:ext cx="114300" cy="114300"/>
          </a:xfrm>
          <a:prstGeom xmlns:a="http://schemas.openxmlformats.org/drawingml/2006/main" prst="rect">
            <a:avLst/>
          </a:prstGeom>
          <a:solidFill xmlns:a="http://schemas.openxmlformats.org/drawingml/2006/main">
            <a:srgbClr val="66C43A"/>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115C12DE-7F35-4D51-8E9F-A6FE22B239A8}"/>
              </a:ext>
            </a:extLst>
          </p:cNvPr>
          <p:cNvSpPr>
            <a:spLocks xmlns:a="http://schemas.openxmlformats.org/drawingml/2006/main" noGrp="1"/>
          </p:cNvSpPr>
          <p:nvPr/>
        </p:nvSpPr>
        <p:spPr>
          <a:xfrm xmlns:a="http://schemas.openxmlformats.org/drawingml/2006/main">
            <a:off x="914400" y="4133850"/>
            <a:ext cx="53340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800" b="0">
                <a:solidFill>
                  <a:srgbClr val="12233A"/>
                </a:solidFill>
              </a:defRPr>
            </a:pPr>
            <a:r>
              <a:rPr sz="1800" b="0">
                <a:solidFill>
                  <a:srgbClr val="12233A"/>
                </a:solidFill>
              </a:rPr>
              <a:t>Respirators require medical clearance, fit test, training, and authorization</a:t>
            </a:r>
          </a:p>
        </p:txBody>
      </p:sp>
      <p:sp>
        <p:nvSpPr>
          <p:cNvPr id="11" name="">
            <a:extLst xmlns:a="http://schemas.openxmlformats.org/drawingml/2006/main">
              <a:ext uri="{FF2B5EF4-FFF2-40B4-BE49-F238E27FC236}">
                <a16:creationId xmlns:a16="http://schemas.microsoft.com/office/drawing/2014/main" id="{7CB19900-0424-4D3D-A135-69DDD63BEFEA}"/>
              </a:ext>
            </a:extLst>
          </p:cNvPr>
          <p:cNvSpPr>
            <a:spLocks xmlns:a="http://schemas.openxmlformats.org/drawingml/2006/main" noGrp="1"/>
          </p:cNvSpPr>
          <p:nvPr/>
        </p:nvSpPr>
        <p:spPr>
          <a:xfrm xmlns:a="http://schemas.openxmlformats.org/drawingml/2006/main">
            <a:off x="6858000" y="704850"/>
            <a:ext cx="4495800" cy="4953000"/>
          </a:xfrm>
          <a:prstGeom xmlns:a="http://schemas.openxmlformats.org/drawingml/2006/main" prst="rect">
            <a:avLst/>
          </a:prstGeom>
          <a:solidFill xmlns:a="http://schemas.openxmlformats.org/drawingml/2006/main">
            <a:srgbClr val="F3F6F8"/>
          </a:solidFill>
          <a:ln xmlns:a="http://schemas.openxmlformats.org/drawingml/2006/main" w="9525">
            <a:solidFill>
              <a:srgbClr val="D8E1EA"/>
            </a:solidFill>
            <a:prstDash val="solid"/>
          </a:ln>
        </p:spPr>
      </p:sp>
      <p:sp>
        <p:nvSpPr>
          <p:cNvPr id="12" name="">
            <a:extLst xmlns:a="http://schemas.openxmlformats.org/drawingml/2006/main">
              <a:ext uri="{FF2B5EF4-FFF2-40B4-BE49-F238E27FC236}">
                <a16:creationId xmlns:a16="http://schemas.microsoft.com/office/drawing/2014/main" id="{7EBDEF2A-FE58-4B00-95E4-F975E3B8588A}"/>
              </a:ext>
            </a:extLst>
          </p:cNvPr>
          <p:cNvSpPr>
            <a:spLocks xmlns:a="http://schemas.openxmlformats.org/drawingml/2006/main" noGrp="1"/>
          </p:cNvSpPr>
          <p:nvPr/>
        </p:nvSpPr>
        <p:spPr>
          <a:xfrm xmlns:a="http://schemas.openxmlformats.org/drawingml/2006/main">
            <a:off x="6858000" y="704850"/>
            <a:ext cx="4495800" cy="114300"/>
          </a:xfrm>
          <a:prstGeom xmlns:a="http://schemas.openxmlformats.org/drawingml/2006/main" prst="rect">
            <a:avLst/>
          </a:prstGeom>
          <a:solidFill xmlns:a="http://schemas.openxmlformats.org/drawingml/2006/main">
            <a:srgbClr val="66C43A"/>
          </a:solidFill>
          <a:ln xmlns:a="http://schemas.openxmlformats.org/drawingml/2006/main" w="0">
            <a:noFill/>
            <a:prstDash val="solid"/>
          </a:ln>
        </p:spPr>
      </p:sp>
      <p:sp>
        <p:nvSpPr>
          <p:cNvPr id="13" name="">
            <a:extLst xmlns:a="http://schemas.openxmlformats.org/drawingml/2006/main">
              <a:ext uri="{FF2B5EF4-FFF2-40B4-BE49-F238E27FC236}">
                <a16:creationId xmlns:a16="http://schemas.microsoft.com/office/drawing/2014/main" id="{23D8800E-2DE0-4C4B-9391-14CDE4379913}"/>
              </a:ext>
            </a:extLst>
          </p:cNvPr>
          <p:cNvSpPr>
            <a:spLocks xmlns:a="http://schemas.openxmlformats.org/drawingml/2006/main" noGrp="1"/>
          </p:cNvSpPr>
          <p:nvPr/>
        </p:nvSpPr>
        <p:spPr>
          <a:xfrm xmlns:a="http://schemas.openxmlformats.org/drawingml/2006/main">
            <a:off x="7200900" y="1123950"/>
            <a:ext cx="1714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050" b="1">
                <a:solidFill>
                  <a:srgbClr val="5E6B7A"/>
                </a:solidFill>
              </a:defRPr>
            </a:pPr>
            <a:r>
              <a:rPr sz="1050" b="1">
                <a:solidFill>
                  <a:srgbClr val="5E6B7A"/>
                </a:solidFill>
              </a:rPr>
              <a:t>VIDEO VISUAL</a:t>
            </a:r>
          </a:p>
        </p:txBody>
      </p:sp>
      <p:sp>
        <p:nvSpPr>
          <p:cNvPr id="14" name="">
            <a:extLst xmlns:a="http://schemas.openxmlformats.org/drawingml/2006/main">
              <a:ext uri="{FF2B5EF4-FFF2-40B4-BE49-F238E27FC236}">
                <a16:creationId xmlns:a16="http://schemas.microsoft.com/office/drawing/2014/main" id="{044624FE-B9D4-4F57-A9DC-EFFE10021A94}"/>
              </a:ext>
            </a:extLst>
          </p:cNvPr>
          <p:cNvSpPr>
            <a:spLocks xmlns:a="http://schemas.openxmlformats.org/drawingml/2006/main" noGrp="1"/>
          </p:cNvSpPr>
          <p:nvPr/>
        </p:nvSpPr>
        <p:spPr>
          <a:xfrm xmlns:a="http://schemas.openxmlformats.org/drawingml/2006/main">
            <a:off x="7200900" y="1543050"/>
            <a:ext cx="3810000" cy="1047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800" b="1">
                <a:solidFill>
                  <a:srgbClr val="12233A"/>
                </a:solidFill>
              </a:defRPr>
            </a:pPr>
            <a:r>
              <a:rPr sz="1800" b="1">
                <a:solidFill>
                  <a:srgbClr val="12233A"/>
                </a:solidFill>
              </a:rPr>
              <a:t>Show task-specific PPE neatly arranged, with respirator stored properly.</a:t>
            </a:r>
          </a:p>
        </p:txBody>
      </p:sp>
      <p:sp>
        <p:nvSpPr>
          <p:cNvPr id="15" name="">
            <a:extLst xmlns:a="http://schemas.openxmlformats.org/drawingml/2006/main">
              <a:ext uri="{FF2B5EF4-FFF2-40B4-BE49-F238E27FC236}">
                <a16:creationId xmlns:a16="http://schemas.microsoft.com/office/drawing/2014/main" id="{5C8C9569-578B-4E20-B620-34AF18036EB0}"/>
              </a:ext>
            </a:extLst>
          </p:cNvPr>
          <p:cNvSpPr>
            <a:spLocks xmlns:a="http://schemas.openxmlformats.org/drawingml/2006/main" noGrp="1"/>
          </p:cNvSpPr>
          <p:nvPr/>
        </p:nvSpPr>
        <p:spPr>
          <a:xfrm xmlns:a="http://schemas.openxmlformats.org/drawingml/2006/main">
            <a:off x="7200900" y="3028950"/>
            <a:ext cx="171450" cy="171450"/>
          </a:xfrm>
          <a:prstGeom xmlns:a="http://schemas.openxmlformats.org/drawingml/2006/main" prst="rect">
            <a:avLst/>
          </a:prstGeom>
          <a:solidFill xmlns:a="http://schemas.openxmlformats.org/drawingml/2006/main">
            <a:srgbClr val="66C43A"/>
          </a:solidFill>
          <a:ln xmlns:a="http://schemas.openxmlformats.org/drawingml/2006/main" w="0">
            <a:noFill/>
            <a:prstDash val="solid"/>
          </a:ln>
        </p:spPr>
      </p:sp>
      <p:sp>
        <p:nvSpPr>
          <p:cNvPr id="16" name="">
            <a:extLst xmlns:a="http://schemas.openxmlformats.org/drawingml/2006/main">
              <a:ext uri="{FF2B5EF4-FFF2-40B4-BE49-F238E27FC236}">
                <a16:creationId xmlns:a16="http://schemas.microsoft.com/office/drawing/2014/main" id="{20792B51-E515-42A5-A9F4-4ED81F82D4A5}"/>
              </a:ext>
            </a:extLst>
          </p:cNvPr>
          <p:cNvSpPr>
            <a:spLocks xmlns:a="http://schemas.openxmlformats.org/drawingml/2006/main" noGrp="1"/>
          </p:cNvSpPr>
          <p:nvPr/>
        </p:nvSpPr>
        <p:spPr>
          <a:xfrm xmlns:a="http://schemas.openxmlformats.org/drawingml/2006/main">
            <a:off x="7524750" y="3000375"/>
            <a:ext cx="3143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500" b="1">
                <a:solidFill>
                  <a:srgbClr val="0B243D"/>
                </a:solidFill>
              </a:defRPr>
            </a:pPr>
            <a:r>
              <a:rPr sz="1500" b="1">
                <a:solidFill>
                  <a:srgbClr val="0B243D"/>
                </a:solidFill>
              </a:rPr>
              <a:t>Face shields, hearing protection, and coveralls may be required</a:t>
            </a:r>
          </a:p>
        </p:txBody>
      </p:sp>
      <p:sp>
        <p:nvSpPr>
          <p:cNvPr id="17" name="">
            <a:extLst xmlns:a="http://schemas.openxmlformats.org/drawingml/2006/main">
              <a:ext uri="{FF2B5EF4-FFF2-40B4-BE49-F238E27FC236}">
                <a16:creationId xmlns:a16="http://schemas.microsoft.com/office/drawing/2014/main" id="{9AF417D0-1190-4315-AC7D-4C2EE435A736}"/>
              </a:ext>
            </a:extLst>
          </p:cNvPr>
          <p:cNvSpPr>
            <a:spLocks xmlns:a="http://schemas.openxmlformats.org/drawingml/2006/main" noGrp="1"/>
          </p:cNvSpPr>
          <p:nvPr/>
        </p:nvSpPr>
        <p:spPr>
          <a:xfrm xmlns:a="http://schemas.openxmlformats.org/drawingml/2006/main">
            <a:off x="7200900" y="3467100"/>
            <a:ext cx="171450" cy="171450"/>
          </a:xfrm>
          <a:prstGeom xmlns:a="http://schemas.openxmlformats.org/drawingml/2006/main" prst="rect">
            <a:avLst/>
          </a:prstGeom>
          <a:solidFill xmlns:a="http://schemas.openxmlformats.org/drawingml/2006/main">
            <a:srgbClr val="66C43A"/>
          </a:solidFill>
          <a:ln xmlns:a="http://schemas.openxmlformats.org/drawingml/2006/main" w="0">
            <a:noFill/>
            <a:prstDash val="solid"/>
          </a:ln>
        </p:spPr>
      </p:sp>
      <p:sp>
        <p:nvSpPr>
          <p:cNvPr id="18" name="">
            <a:extLst xmlns:a="http://schemas.openxmlformats.org/drawingml/2006/main">
              <a:ext uri="{FF2B5EF4-FFF2-40B4-BE49-F238E27FC236}">
                <a16:creationId xmlns:a16="http://schemas.microsoft.com/office/drawing/2014/main" id="{F11A07AE-864F-4BE6-9744-5164419C7080}"/>
              </a:ext>
            </a:extLst>
          </p:cNvPr>
          <p:cNvSpPr>
            <a:spLocks xmlns:a="http://schemas.openxmlformats.org/drawingml/2006/main" noGrp="1"/>
          </p:cNvSpPr>
          <p:nvPr/>
        </p:nvSpPr>
        <p:spPr>
          <a:xfrm xmlns:a="http://schemas.openxmlformats.org/drawingml/2006/main">
            <a:off x="7524750" y="3438525"/>
            <a:ext cx="3143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500" b="1">
                <a:solidFill>
                  <a:srgbClr val="0B243D"/>
                </a:solidFill>
              </a:defRPr>
            </a:pPr>
            <a:r>
              <a:rPr sz="1500" b="1">
                <a:solidFill>
                  <a:srgbClr val="0B243D"/>
                </a:solidFill>
              </a:rPr>
              <a:t>Rubber gloves or boots may be required for specific hazards</a:t>
            </a:r>
          </a:p>
        </p:txBody>
      </p:sp>
      <p:sp>
        <p:nvSpPr>
          <p:cNvPr id="19" name="">
            <a:extLst xmlns:a="http://schemas.openxmlformats.org/drawingml/2006/main">
              <a:ext uri="{FF2B5EF4-FFF2-40B4-BE49-F238E27FC236}">
                <a16:creationId xmlns:a16="http://schemas.microsoft.com/office/drawing/2014/main" id="{6EB72928-E13B-4DB5-95F7-D35C085C08C7}"/>
              </a:ext>
            </a:extLst>
          </p:cNvPr>
          <p:cNvSpPr>
            <a:spLocks xmlns:a="http://schemas.openxmlformats.org/drawingml/2006/main" noGrp="1"/>
          </p:cNvSpPr>
          <p:nvPr/>
        </p:nvSpPr>
        <p:spPr>
          <a:xfrm xmlns:a="http://schemas.openxmlformats.org/drawingml/2006/main">
            <a:off x="7200900" y="3905250"/>
            <a:ext cx="171450" cy="171450"/>
          </a:xfrm>
          <a:prstGeom xmlns:a="http://schemas.openxmlformats.org/drawingml/2006/main" prst="rect">
            <a:avLst/>
          </a:prstGeom>
          <a:solidFill xmlns:a="http://schemas.openxmlformats.org/drawingml/2006/main">
            <a:srgbClr val="66C43A"/>
          </a:solidFill>
          <a:ln xmlns:a="http://schemas.openxmlformats.org/drawingml/2006/main" w="0">
            <a:noFill/>
            <a:prstDash val="solid"/>
          </a:ln>
        </p:spPr>
      </p:sp>
      <p:sp>
        <p:nvSpPr>
          <p:cNvPr id="20" name="">
            <a:extLst xmlns:a="http://schemas.openxmlformats.org/drawingml/2006/main">
              <a:ext uri="{FF2B5EF4-FFF2-40B4-BE49-F238E27FC236}">
                <a16:creationId xmlns:a16="http://schemas.microsoft.com/office/drawing/2014/main" id="{68D0BE40-C511-4912-830E-E6F9121F1F8D}"/>
              </a:ext>
            </a:extLst>
          </p:cNvPr>
          <p:cNvSpPr>
            <a:spLocks xmlns:a="http://schemas.openxmlformats.org/drawingml/2006/main" noGrp="1"/>
          </p:cNvSpPr>
          <p:nvPr/>
        </p:nvSpPr>
        <p:spPr>
          <a:xfrm xmlns:a="http://schemas.openxmlformats.org/drawingml/2006/main">
            <a:off x="7524750" y="3876675"/>
            <a:ext cx="3143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500" b="1">
                <a:solidFill>
                  <a:srgbClr val="0B243D"/>
                </a:solidFill>
              </a:defRPr>
            </a:pPr>
            <a:r>
              <a:rPr sz="1500" b="1">
                <a:solidFill>
                  <a:srgbClr val="0B243D"/>
                </a:solidFill>
              </a:rPr>
              <a:t>Respirators require medical clearance, fit test, training, and authorization</a:t>
            </a:r>
          </a:p>
        </p:txBody>
      </p:sp>
      <p:sp>
        <p:nvSpPr>
          <p:cNvPr id="21" name="">
            <a:extLst xmlns:a="http://schemas.openxmlformats.org/drawingml/2006/main">
              <a:ext uri="{FF2B5EF4-FFF2-40B4-BE49-F238E27FC236}">
                <a16:creationId xmlns:a16="http://schemas.microsoft.com/office/drawing/2014/main" id="{B98D1C5F-1411-4443-BA25-B52B5A5CE8DC}"/>
              </a:ext>
            </a:extLst>
          </p:cNvPr>
          <p:cNvSpPr>
            <a:spLocks xmlns:a="http://schemas.openxmlformats.org/drawingml/2006/main" noGrp="1"/>
          </p:cNvSpPr>
          <p:nvPr/>
        </p:nvSpPr>
        <p:spPr>
          <a:xfrm xmlns:a="http://schemas.openxmlformats.org/drawingml/2006/main">
            <a:off x="7200900" y="5219700"/>
            <a:ext cx="1714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975" b="1">
                <a:solidFill>
                  <a:srgbClr val="5E6B7A"/>
                </a:solidFill>
              </a:defRPr>
            </a:pPr>
            <a:r>
              <a:rPr sz="975" b="1">
                <a:solidFill>
                  <a:srgbClr val="5E6B7A"/>
                </a:solidFill>
              </a:rPr>
              <a:t>Scene 5</a:t>
            </a:r>
          </a:p>
        </p:txBody>
      </p:sp>
      <p:sp>
        <p:nvSpPr>
          <p:cNvPr id="22" name="">
            <a:extLst xmlns:a="http://schemas.openxmlformats.org/drawingml/2006/main">
              <a:ext uri="{FF2B5EF4-FFF2-40B4-BE49-F238E27FC236}">
                <a16:creationId xmlns:a16="http://schemas.microsoft.com/office/drawing/2014/main" id="{6DD275AF-2F82-4218-AD07-09BFEF3179CF}"/>
              </a:ext>
            </a:extLst>
          </p:cNvPr>
          <p:cNvSpPr>
            <a:spLocks xmlns:a="http://schemas.openxmlformats.org/drawingml/2006/main" noGrp="1"/>
          </p:cNvSpPr>
          <p:nvPr/>
        </p:nvSpPr>
        <p:spPr>
          <a:xfrm xmlns:a="http://schemas.openxmlformats.org/drawingml/2006/main">
            <a:off x="0" y="6515100"/>
            <a:ext cx="12192000" cy="342900"/>
          </a:xfrm>
          <a:prstGeom xmlns:a="http://schemas.openxmlformats.org/drawingml/2006/main" prst="rect">
            <a:avLst/>
          </a:prstGeom>
          <a:solidFill xmlns:a="http://schemas.openxmlformats.org/drawingml/2006/main">
            <a:srgbClr val="0B243D"/>
          </a:solidFill>
          <a:ln xmlns:a="http://schemas.openxmlformats.org/drawingml/2006/main" w="0">
            <a:noFill/>
            <a:prstDash val="solid"/>
          </a:ln>
        </p:spPr>
      </p:sp>
      <p:sp>
        <p:nvSpPr>
          <p:cNvPr id="23" name="">
            <a:extLst xmlns:a="http://schemas.openxmlformats.org/drawingml/2006/main">
              <a:ext uri="{FF2B5EF4-FFF2-40B4-BE49-F238E27FC236}">
                <a16:creationId xmlns:a16="http://schemas.microsoft.com/office/drawing/2014/main" id="{4C5EBEE9-E337-4401-BEA7-CB9E93AEFF9E}"/>
              </a:ext>
            </a:extLst>
          </p:cNvPr>
          <p:cNvSpPr>
            <a:spLocks xmlns:a="http://schemas.openxmlformats.org/drawingml/2006/main" noGrp="1"/>
          </p:cNvSpPr>
          <p:nvPr/>
        </p:nvSpPr>
        <p:spPr>
          <a:xfrm xmlns:a="http://schemas.openxmlformats.org/drawingml/2006/main">
            <a:off x="533400" y="6600825"/>
            <a:ext cx="3429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975" b="1">
                <a:solidFill>
                  <a:srgbClr val="FFFFFF"/>
                </a:solidFill>
              </a:defRPr>
            </a:pPr>
            <a:r>
              <a:rPr sz="975" b="1">
                <a:solidFill>
                  <a:srgbClr val="FFFFFF"/>
                </a:solidFill>
              </a:rPr>
              <a:t>PAL Environmental Services</a:t>
            </a:r>
          </a:p>
        </p:txBody>
      </p:sp>
      <p:sp>
        <p:nvSpPr>
          <p:cNvPr id="24" name="">
            <a:extLst xmlns:a="http://schemas.openxmlformats.org/drawingml/2006/main">
              <a:ext uri="{FF2B5EF4-FFF2-40B4-BE49-F238E27FC236}">
                <a16:creationId xmlns:a16="http://schemas.microsoft.com/office/drawing/2014/main" id="{5CC2B68A-FAA4-4AD5-A667-8C9F87CA5C67}"/>
              </a:ext>
            </a:extLst>
          </p:cNvPr>
          <p:cNvSpPr>
            <a:spLocks xmlns:a="http://schemas.openxmlformats.org/drawingml/2006/main" noGrp="1"/>
          </p:cNvSpPr>
          <p:nvPr/>
        </p:nvSpPr>
        <p:spPr>
          <a:xfrm xmlns:a="http://schemas.openxmlformats.org/drawingml/2006/main">
            <a:off x="9620250" y="6600825"/>
            <a:ext cx="2095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900">
                <a:solidFill>
                  <a:srgbClr val="DDEAF5"/>
                </a:solidFill>
              </a:defRPr>
            </a:pPr>
            <a:r>
              <a:rPr sz="900">
                <a:solidFill>
                  <a:srgbClr val="DDEAF5"/>
                </a:solidFill>
              </a:rPr>
              <a:t>Employee Orientation  |  05</a:t>
            </a:r>
          </a:p>
        </p:txBody>
      </p:sp>
    </p:spTree>
    <p:extLst>
      <p:ext uri="{BB962C8B-B14F-4D97-AF65-F5344CB8AC3E}">
        <p14:creationId xmlns:p14="http://schemas.microsoft.com/office/powerpoint/2010/main" val="1434017353"/>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64675789-F6D5-44CF-A8F8-35EBA6145A6B}"/>
              </a:ext>
            </a:extLst>
          </p:cNvPr>
          <p:cNvSpPr>
            <a:spLocks xmlns:a="http://schemas.openxmlformats.org/drawingml/2006/main" noGrp="1"/>
          </p:cNvSpPr>
          <p:nvPr/>
        </p:nvSpPr>
        <p:spPr>
          <a:xfrm xmlns:a="http://schemas.openxmlformats.org/drawingml/2006/main">
            <a:off x="0" y="0"/>
            <a:ext cx="12192000" cy="266700"/>
          </a:xfrm>
          <a:prstGeom xmlns:a="http://schemas.openxmlformats.org/drawingml/2006/main" prst="rect">
            <a:avLst/>
          </a:prstGeom>
          <a:solidFill xmlns:a="http://schemas.openxmlformats.org/drawingml/2006/main">
            <a:srgbClr val="0B243D"/>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ADD96E03-95DD-436B-B260-429C82DEC20B}"/>
              </a:ext>
            </a:extLst>
          </p:cNvPr>
          <p:cNvSpPr>
            <a:spLocks xmlns:a="http://schemas.openxmlformats.org/drawingml/2006/main" noGrp="1"/>
          </p:cNvSpPr>
          <p:nvPr/>
        </p:nvSpPr>
        <p:spPr>
          <a:xfrm xmlns:a="http://schemas.openxmlformats.org/drawingml/2006/main">
            <a:off x="0" y="266700"/>
            <a:ext cx="171450" cy="6248400"/>
          </a:xfrm>
          <a:prstGeom xmlns:a="http://schemas.openxmlformats.org/drawingml/2006/main" prst="rect">
            <a:avLst/>
          </a:prstGeom>
          <a:solidFill xmlns:a="http://schemas.openxmlformats.org/drawingml/2006/main">
            <a:srgbClr val="B42318"/>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7FF8FECA-6325-4C31-ABD8-BCB91F5152B3}"/>
              </a:ext>
            </a:extLst>
          </p:cNvPr>
          <p:cNvSpPr>
            <a:spLocks xmlns:a="http://schemas.openxmlformats.org/drawingml/2006/main" noGrp="1"/>
          </p:cNvSpPr>
          <p:nvPr/>
        </p:nvSpPr>
        <p:spPr>
          <a:xfrm xmlns:a="http://schemas.openxmlformats.org/drawingml/2006/main">
            <a:off x="533400" y="666750"/>
            <a:ext cx="44767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050" b="1">
                <a:solidFill>
                  <a:srgbClr val="5E6B7A"/>
                </a:solidFill>
              </a:defRPr>
            </a:pPr>
            <a:r>
              <a:rPr sz="1050" b="1">
                <a:solidFill>
                  <a:srgbClr val="5E6B7A"/>
                </a:solidFill>
              </a:rPr>
              <a:t>RESPIRATORS</a:t>
            </a:r>
          </a:p>
        </p:txBody>
      </p:sp>
      <p:sp>
        <p:nvSpPr>
          <p:cNvPr id="4" name="">
            <a:extLst xmlns:a="http://schemas.openxmlformats.org/drawingml/2006/main">
              <a:ext uri="{FF2B5EF4-FFF2-40B4-BE49-F238E27FC236}">
                <a16:creationId xmlns:a16="http://schemas.microsoft.com/office/drawing/2014/main" id="{F499C20C-4755-488C-A685-5985DE7D232C}"/>
              </a:ext>
            </a:extLst>
          </p:cNvPr>
          <p:cNvSpPr>
            <a:spLocks xmlns:a="http://schemas.openxmlformats.org/drawingml/2006/main" noGrp="1"/>
          </p:cNvSpPr>
          <p:nvPr/>
        </p:nvSpPr>
        <p:spPr>
          <a:xfrm xmlns:a="http://schemas.openxmlformats.org/drawingml/2006/main">
            <a:off x="533400" y="1047750"/>
            <a:ext cx="5524500" cy="1428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3150" b="1">
                <a:solidFill>
                  <a:srgbClr val="0B243D"/>
                </a:solidFill>
              </a:defRPr>
            </a:pPr>
            <a:r>
              <a:rPr sz="3150" b="1">
                <a:solidFill>
                  <a:srgbClr val="0B243D"/>
                </a:solidFill>
              </a:rPr>
              <a:t>Respirators cannot be used without authorization.</a:t>
            </a:r>
          </a:p>
        </p:txBody>
      </p:sp>
      <p:sp>
        <p:nvSpPr>
          <p:cNvPr id="5" name="">
            <a:extLst xmlns:a="http://schemas.openxmlformats.org/drawingml/2006/main">
              <a:ext uri="{FF2B5EF4-FFF2-40B4-BE49-F238E27FC236}">
                <a16:creationId xmlns:a16="http://schemas.microsoft.com/office/drawing/2014/main" id="{5018B3A6-E2A8-4EA2-BE5F-01405650083A}"/>
              </a:ext>
            </a:extLst>
          </p:cNvPr>
          <p:cNvSpPr>
            <a:spLocks xmlns:a="http://schemas.openxmlformats.org/drawingml/2006/main" noGrp="1"/>
          </p:cNvSpPr>
          <p:nvPr/>
        </p:nvSpPr>
        <p:spPr>
          <a:xfrm xmlns:a="http://schemas.openxmlformats.org/drawingml/2006/main">
            <a:off x="609600" y="2990850"/>
            <a:ext cx="114300" cy="114300"/>
          </a:xfrm>
          <a:prstGeom xmlns:a="http://schemas.openxmlformats.org/drawingml/2006/main" prst="rect">
            <a:avLst/>
          </a:prstGeom>
          <a:solidFill xmlns:a="http://schemas.openxmlformats.org/drawingml/2006/main">
            <a:srgbClr val="B42318"/>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4CCF3D13-DA99-42A6-AC9A-6F9DCA387594}"/>
              </a:ext>
            </a:extLst>
          </p:cNvPr>
          <p:cNvSpPr>
            <a:spLocks xmlns:a="http://schemas.openxmlformats.org/drawingml/2006/main" noGrp="1"/>
          </p:cNvSpPr>
          <p:nvPr/>
        </p:nvSpPr>
        <p:spPr>
          <a:xfrm xmlns:a="http://schemas.openxmlformats.org/drawingml/2006/main">
            <a:off x="914400" y="2914650"/>
            <a:ext cx="53340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800" b="1">
                <a:solidFill>
                  <a:srgbClr val="12233A"/>
                </a:solidFill>
              </a:defRPr>
            </a:pPr>
            <a:r>
              <a:rPr sz="1800" b="1">
                <a:solidFill>
                  <a:srgbClr val="12233A"/>
                </a:solidFill>
              </a:rPr>
              <a:t>Medical clearance</a:t>
            </a:r>
          </a:p>
        </p:txBody>
      </p:sp>
      <p:sp>
        <p:nvSpPr>
          <p:cNvPr id="7" name="">
            <a:extLst xmlns:a="http://schemas.openxmlformats.org/drawingml/2006/main">
              <a:ext uri="{FF2B5EF4-FFF2-40B4-BE49-F238E27FC236}">
                <a16:creationId xmlns:a16="http://schemas.microsoft.com/office/drawing/2014/main" id="{19F173BE-B6EC-4911-A821-A6451F7DEDA0}"/>
              </a:ext>
            </a:extLst>
          </p:cNvPr>
          <p:cNvSpPr>
            <a:spLocks xmlns:a="http://schemas.openxmlformats.org/drawingml/2006/main" noGrp="1"/>
          </p:cNvSpPr>
          <p:nvPr/>
        </p:nvSpPr>
        <p:spPr>
          <a:xfrm xmlns:a="http://schemas.openxmlformats.org/drawingml/2006/main">
            <a:off x="609600" y="3600450"/>
            <a:ext cx="114300" cy="114300"/>
          </a:xfrm>
          <a:prstGeom xmlns:a="http://schemas.openxmlformats.org/drawingml/2006/main" prst="rect">
            <a:avLst/>
          </a:prstGeom>
          <a:solidFill xmlns:a="http://schemas.openxmlformats.org/drawingml/2006/main">
            <a:srgbClr val="B42318"/>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8E755903-CFF5-4D2B-B77E-16A1F16D5EBF}"/>
              </a:ext>
            </a:extLst>
          </p:cNvPr>
          <p:cNvSpPr>
            <a:spLocks xmlns:a="http://schemas.openxmlformats.org/drawingml/2006/main" noGrp="1"/>
          </p:cNvSpPr>
          <p:nvPr/>
        </p:nvSpPr>
        <p:spPr>
          <a:xfrm xmlns:a="http://schemas.openxmlformats.org/drawingml/2006/main">
            <a:off x="914400" y="3524250"/>
            <a:ext cx="53340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800" b="0">
                <a:solidFill>
                  <a:srgbClr val="12233A"/>
                </a:solidFill>
              </a:defRPr>
            </a:pPr>
            <a:r>
              <a:rPr sz="1800" b="0">
                <a:solidFill>
                  <a:srgbClr val="12233A"/>
                </a:solidFill>
              </a:rPr>
              <a:t>Annual fit test</a:t>
            </a:r>
          </a:p>
        </p:txBody>
      </p:sp>
      <p:sp>
        <p:nvSpPr>
          <p:cNvPr id="9" name="">
            <a:extLst xmlns:a="http://schemas.openxmlformats.org/drawingml/2006/main">
              <a:ext uri="{FF2B5EF4-FFF2-40B4-BE49-F238E27FC236}">
                <a16:creationId xmlns:a16="http://schemas.microsoft.com/office/drawing/2014/main" id="{C459E6BE-B511-4571-A9C9-059DB340A9FF}"/>
              </a:ext>
            </a:extLst>
          </p:cNvPr>
          <p:cNvSpPr>
            <a:spLocks xmlns:a="http://schemas.openxmlformats.org/drawingml/2006/main" noGrp="1"/>
          </p:cNvSpPr>
          <p:nvPr/>
        </p:nvSpPr>
        <p:spPr>
          <a:xfrm xmlns:a="http://schemas.openxmlformats.org/drawingml/2006/main">
            <a:off x="609600" y="4210050"/>
            <a:ext cx="114300" cy="114300"/>
          </a:xfrm>
          <a:prstGeom xmlns:a="http://schemas.openxmlformats.org/drawingml/2006/main" prst="rect">
            <a:avLst/>
          </a:prstGeom>
          <a:solidFill xmlns:a="http://schemas.openxmlformats.org/drawingml/2006/main">
            <a:srgbClr val="B42318"/>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45C3437E-0A87-41AB-B966-42929028D3C2}"/>
              </a:ext>
            </a:extLst>
          </p:cNvPr>
          <p:cNvSpPr>
            <a:spLocks xmlns:a="http://schemas.openxmlformats.org/drawingml/2006/main" noGrp="1"/>
          </p:cNvSpPr>
          <p:nvPr/>
        </p:nvSpPr>
        <p:spPr>
          <a:xfrm xmlns:a="http://schemas.openxmlformats.org/drawingml/2006/main">
            <a:off x="914400" y="4133850"/>
            <a:ext cx="53340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800" b="0">
                <a:solidFill>
                  <a:srgbClr val="12233A"/>
                </a:solidFill>
              </a:defRPr>
            </a:pPr>
            <a:r>
              <a:rPr sz="1800" b="0">
                <a:solidFill>
                  <a:srgbClr val="12233A"/>
                </a:solidFill>
              </a:rPr>
              <a:t>Training and PAL authorization</a:t>
            </a:r>
          </a:p>
        </p:txBody>
      </p:sp>
      <p:sp>
        <p:nvSpPr>
          <p:cNvPr id="11" name="">
            <a:extLst xmlns:a="http://schemas.openxmlformats.org/drawingml/2006/main">
              <a:ext uri="{FF2B5EF4-FFF2-40B4-BE49-F238E27FC236}">
                <a16:creationId xmlns:a16="http://schemas.microsoft.com/office/drawing/2014/main" id="{A201DD11-77CA-4CF6-8DBD-001063E1A713}"/>
              </a:ext>
            </a:extLst>
          </p:cNvPr>
          <p:cNvSpPr>
            <a:spLocks xmlns:a="http://schemas.openxmlformats.org/drawingml/2006/main" noGrp="1"/>
          </p:cNvSpPr>
          <p:nvPr/>
        </p:nvSpPr>
        <p:spPr>
          <a:xfrm xmlns:a="http://schemas.openxmlformats.org/drawingml/2006/main">
            <a:off x="6858000" y="704850"/>
            <a:ext cx="4495800" cy="4953000"/>
          </a:xfrm>
          <a:prstGeom xmlns:a="http://schemas.openxmlformats.org/drawingml/2006/main" prst="rect">
            <a:avLst/>
          </a:prstGeom>
          <a:solidFill xmlns:a="http://schemas.openxmlformats.org/drawingml/2006/main">
            <a:srgbClr val="F3F6F8"/>
          </a:solidFill>
          <a:ln xmlns:a="http://schemas.openxmlformats.org/drawingml/2006/main" w="9525">
            <a:solidFill>
              <a:srgbClr val="D8E1EA"/>
            </a:solidFill>
            <a:prstDash val="solid"/>
          </a:ln>
        </p:spPr>
      </p:sp>
      <p:sp>
        <p:nvSpPr>
          <p:cNvPr id="12" name="">
            <a:extLst xmlns:a="http://schemas.openxmlformats.org/drawingml/2006/main">
              <a:ext uri="{FF2B5EF4-FFF2-40B4-BE49-F238E27FC236}">
                <a16:creationId xmlns:a16="http://schemas.microsoft.com/office/drawing/2014/main" id="{0EB93A78-71EF-42C7-BDE7-62A8E0092F90}"/>
              </a:ext>
            </a:extLst>
          </p:cNvPr>
          <p:cNvSpPr>
            <a:spLocks xmlns:a="http://schemas.openxmlformats.org/drawingml/2006/main" noGrp="1"/>
          </p:cNvSpPr>
          <p:nvPr/>
        </p:nvSpPr>
        <p:spPr>
          <a:xfrm xmlns:a="http://schemas.openxmlformats.org/drawingml/2006/main">
            <a:off x="6858000" y="704850"/>
            <a:ext cx="4495800" cy="114300"/>
          </a:xfrm>
          <a:prstGeom xmlns:a="http://schemas.openxmlformats.org/drawingml/2006/main" prst="rect">
            <a:avLst/>
          </a:prstGeom>
          <a:solidFill xmlns:a="http://schemas.openxmlformats.org/drawingml/2006/main">
            <a:srgbClr val="B42318"/>
          </a:solidFill>
          <a:ln xmlns:a="http://schemas.openxmlformats.org/drawingml/2006/main" w="0">
            <a:noFill/>
            <a:prstDash val="solid"/>
          </a:ln>
        </p:spPr>
      </p:sp>
      <p:sp>
        <p:nvSpPr>
          <p:cNvPr id="13" name="">
            <a:extLst xmlns:a="http://schemas.openxmlformats.org/drawingml/2006/main">
              <a:ext uri="{FF2B5EF4-FFF2-40B4-BE49-F238E27FC236}">
                <a16:creationId xmlns:a16="http://schemas.microsoft.com/office/drawing/2014/main" id="{DC358416-366E-4D6A-8BF7-4EC8E92FAC16}"/>
              </a:ext>
            </a:extLst>
          </p:cNvPr>
          <p:cNvSpPr>
            <a:spLocks xmlns:a="http://schemas.openxmlformats.org/drawingml/2006/main" noGrp="1"/>
          </p:cNvSpPr>
          <p:nvPr/>
        </p:nvSpPr>
        <p:spPr>
          <a:xfrm xmlns:a="http://schemas.openxmlformats.org/drawingml/2006/main">
            <a:off x="7200900" y="1123950"/>
            <a:ext cx="1714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050" b="1">
                <a:solidFill>
                  <a:srgbClr val="5E6B7A"/>
                </a:solidFill>
              </a:defRPr>
            </a:pPr>
            <a:r>
              <a:rPr sz="1050" b="1">
                <a:solidFill>
                  <a:srgbClr val="5E6B7A"/>
                </a:solidFill>
              </a:rPr>
              <a:t>VIDEO VISUAL</a:t>
            </a:r>
          </a:p>
        </p:txBody>
      </p:sp>
      <p:sp>
        <p:nvSpPr>
          <p:cNvPr id="14" name="">
            <a:extLst xmlns:a="http://schemas.openxmlformats.org/drawingml/2006/main">
              <a:ext uri="{FF2B5EF4-FFF2-40B4-BE49-F238E27FC236}">
                <a16:creationId xmlns:a16="http://schemas.microsoft.com/office/drawing/2014/main" id="{56F9417C-AB85-4A89-A216-8434468DCAE1}"/>
              </a:ext>
            </a:extLst>
          </p:cNvPr>
          <p:cNvSpPr>
            <a:spLocks xmlns:a="http://schemas.openxmlformats.org/drawingml/2006/main" noGrp="1"/>
          </p:cNvSpPr>
          <p:nvPr/>
        </p:nvSpPr>
        <p:spPr>
          <a:xfrm xmlns:a="http://schemas.openxmlformats.org/drawingml/2006/main">
            <a:off x="7200900" y="1543050"/>
            <a:ext cx="3810000" cy="1047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800" b="1">
                <a:solidFill>
                  <a:srgbClr val="12233A"/>
                </a:solidFill>
              </a:defRPr>
            </a:pPr>
            <a:r>
              <a:rPr sz="1800" b="1">
                <a:solidFill>
                  <a:srgbClr val="12233A"/>
                </a:solidFill>
              </a:rPr>
              <a:t>Respirator authorization checklist. Do not show casual respirator use.</a:t>
            </a:r>
          </a:p>
        </p:txBody>
      </p:sp>
      <p:sp>
        <p:nvSpPr>
          <p:cNvPr id="15" name="">
            <a:extLst xmlns:a="http://schemas.openxmlformats.org/drawingml/2006/main">
              <a:ext uri="{FF2B5EF4-FFF2-40B4-BE49-F238E27FC236}">
                <a16:creationId xmlns:a16="http://schemas.microsoft.com/office/drawing/2014/main" id="{755F0D30-1E7B-43CC-9648-5A5A731ECA98}"/>
              </a:ext>
            </a:extLst>
          </p:cNvPr>
          <p:cNvSpPr>
            <a:spLocks xmlns:a="http://schemas.openxmlformats.org/drawingml/2006/main" noGrp="1"/>
          </p:cNvSpPr>
          <p:nvPr/>
        </p:nvSpPr>
        <p:spPr>
          <a:xfrm xmlns:a="http://schemas.openxmlformats.org/drawingml/2006/main">
            <a:off x="7200900" y="3028950"/>
            <a:ext cx="171450" cy="171450"/>
          </a:xfrm>
          <a:prstGeom xmlns:a="http://schemas.openxmlformats.org/drawingml/2006/main" prst="rect">
            <a:avLst/>
          </a:prstGeom>
          <a:solidFill xmlns:a="http://schemas.openxmlformats.org/drawingml/2006/main">
            <a:srgbClr val="B42318"/>
          </a:solidFill>
          <a:ln xmlns:a="http://schemas.openxmlformats.org/drawingml/2006/main" w="0">
            <a:noFill/>
            <a:prstDash val="solid"/>
          </a:ln>
        </p:spPr>
      </p:sp>
      <p:sp>
        <p:nvSpPr>
          <p:cNvPr id="16" name="">
            <a:extLst xmlns:a="http://schemas.openxmlformats.org/drawingml/2006/main">
              <a:ext uri="{FF2B5EF4-FFF2-40B4-BE49-F238E27FC236}">
                <a16:creationId xmlns:a16="http://schemas.microsoft.com/office/drawing/2014/main" id="{D0A5C669-5CF8-451F-974C-0F0D7C065011}"/>
              </a:ext>
            </a:extLst>
          </p:cNvPr>
          <p:cNvSpPr>
            <a:spLocks xmlns:a="http://schemas.openxmlformats.org/drawingml/2006/main" noGrp="1"/>
          </p:cNvSpPr>
          <p:nvPr/>
        </p:nvSpPr>
        <p:spPr>
          <a:xfrm xmlns:a="http://schemas.openxmlformats.org/drawingml/2006/main">
            <a:off x="7524750" y="3000375"/>
            <a:ext cx="3143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500" b="1">
                <a:solidFill>
                  <a:srgbClr val="0B243D"/>
                </a:solidFill>
              </a:defRPr>
            </a:pPr>
            <a:r>
              <a:rPr sz="1500" b="1">
                <a:solidFill>
                  <a:srgbClr val="0B243D"/>
                </a:solidFill>
              </a:rPr>
              <a:t>Medical clearance</a:t>
            </a:r>
          </a:p>
        </p:txBody>
      </p:sp>
      <p:sp>
        <p:nvSpPr>
          <p:cNvPr id="17" name="">
            <a:extLst xmlns:a="http://schemas.openxmlformats.org/drawingml/2006/main">
              <a:ext uri="{FF2B5EF4-FFF2-40B4-BE49-F238E27FC236}">
                <a16:creationId xmlns:a16="http://schemas.microsoft.com/office/drawing/2014/main" id="{65EFDEF6-741A-403F-B6E0-7697D1BA9862}"/>
              </a:ext>
            </a:extLst>
          </p:cNvPr>
          <p:cNvSpPr>
            <a:spLocks xmlns:a="http://schemas.openxmlformats.org/drawingml/2006/main" noGrp="1"/>
          </p:cNvSpPr>
          <p:nvPr/>
        </p:nvSpPr>
        <p:spPr>
          <a:xfrm xmlns:a="http://schemas.openxmlformats.org/drawingml/2006/main">
            <a:off x="7200900" y="3467100"/>
            <a:ext cx="171450" cy="171450"/>
          </a:xfrm>
          <a:prstGeom xmlns:a="http://schemas.openxmlformats.org/drawingml/2006/main" prst="rect">
            <a:avLst/>
          </a:prstGeom>
          <a:solidFill xmlns:a="http://schemas.openxmlformats.org/drawingml/2006/main">
            <a:srgbClr val="B42318"/>
          </a:solidFill>
          <a:ln xmlns:a="http://schemas.openxmlformats.org/drawingml/2006/main" w="0">
            <a:noFill/>
            <a:prstDash val="solid"/>
          </a:ln>
        </p:spPr>
      </p:sp>
      <p:sp>
        <p:nvSpPr>
          <p:cNvPr id="18" name="">
            <a:extLst xmlns:a="http://schemas.openxmlformats.org/drawingml/2006/main">
              <a:ext uri="{FF2B5EF4-FFF2-40B4-BE49-F238E27FC236}">
                <a16:creationId xmlns:a16="http://schemas.microsoft.com/office/drawing/2014/main" id="{64B9533C-2440-4B3B-97B9-1588CCABEBE4}"/>
              </a:ext>
            </a:extLst>
          </p:cNvPr>
          <p:cNvSpPr>
            <a:spLocks xmlns:a="http://schemas.openxmlformats.org/drawingml/2006/main" noGrp="1"/>
          </p:cNvSpPr>
          <p:nvPr/>
        </p:nvSpPr>
        <p:spPr>
          <a:xfrm xmlns:a="http://schemas.openxmlformats.org/drawingml/2006/main">
            <a:off x="7524750" y="3438525"/>
            <a:ext cx="3143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500" b="1">
                <a:solidFill>
                  <a:srgbClr val="0B243D"/>
                </a:solidFill>
              </a:defRPr>
            </a:pPr>
            <a:r>
              <a:rPr sz="1500" b="1">
                <a:solidFill>
                  <a:srgbClr val="0B243D"/>
                </a:solidFill>
              </a:rPr>
              <a:t>Annual fit test</a:t>
            </a:r>
          </a:p>
        </p:txBody>
      </p:sp>
      <p:sp>
        <p:nvSpPr>
          <p:cNvPr id="19" name="">
            <a:extLst xmlns:a="http://schemas.openxmlformats.org/drawingml/2006/main">
              <a:ext uri="{FF2B5EF4-FFF2-40B4-BE49-F238E27FC236}">
                <a16:creationId xmlns:a16="http://schemas.microsoft.com/office/drawing/2014/main" id="{A874A2B3-9884-41E4-9A6F-20A53014D8B0}"/>
              </a:ext>
            </a:extLst>
          </p:cNvPr>
          <p:cNvSpPr>
            <a:spLocks xmlns:a="http://schemas.openxmlformats.org/drawingml/2006/main" noGrp="1"/>
          </p:cNvSpPr>
          <p:nvPr/>
        </p:nvSpPr>
        <p:spPr>
          <a:xfrm xmlns:a="http://schemas.openxmlformats.org/drawingml/2006/main">
            <a:off x="7200900" y="3905250"/>
            <a:ext cx="171450" cy="171450"/>
          </a:xfrm>
          <a:prstGeom xmlns:a="http://schemas.openxmlformats.org/drawingml/2006/main" prst="rect">
            <a:avLst/>
          </a:prstGeom>
          <a:solidFill xmlns:a="http://schemas.openxmlformats.org/drawingml/2006/main">
            <a:srgbClr val="B42318"/>
          </a:solidFill>
          <a:ln xmlns:a="http://schemas.openxmlformats.org/drawingml/2006/main" w="0">
            <a:noFill/>
            <a:prstDash val="solid"/>
          </a:ln>
        </p:spPr>
      </p:sp>
      <p:sp>
        <p:nvSpPr>
          <p:cNvPr id="20" name="">
            <a:extLst xmlns:a="http://schemas.openxmlformats.org/drawingml/2006/main">
              <a:ext uri="{FF2B5EF4-FFF2-40B4-BE49-F238E27FC236}">
                <a16:creationId xmlns:a16="http://schemas.microsoft.com/office/drawing/2014/main" id="{645B6F3E-A0D9-4086-8E2F-C26485FE00FA}"/>
              </a:ext>
            </a:extLst>
          </p:cNvPr>
          <p:cNvSpPr>
            <a:spLocks xmlns:a="http://schemas.openxmlformats.org/drawingml/2006/main" noGrp="1"/>
          </p:cNvSpPr>
          <p:nvPr/>
        </p:nvSpPr>
        <p:spPr>
          <a:xfrm xmlns:a="http://schemas.openxmlformats.org/drawingml/2006/main">
            <a:off x="7524750" y="3876675"/>
            <a:ext cx="3143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500" b="1">
                <a:solidFill>
                  <a:srgbClr val="0B243D"/>
                </a:solidFill>
              </a:defRPr>
            </a:pPr>
            <a:r>
              <a:rPr sz="1500" b="1">
                <a:solidFill>
                  <a:srgbClr val="0B243D"/>
                </a:solidFill>
              </a:rPr>
              <a:t>Training and PAL authorization</a:t>
            </a:r>
          </a:p>
        </p:txBody>
      </p:sp>
      <p:sp>
        <p:nvSpPr>
          <p:cNvPr id="21" name="">
            <a:extLst xmlns:a="http://schemas.openxmlformats.org/drawingml/2006/main">
              <a:ext uri="{FF2B5EF4-FFF2-40B4-BE49-F238E27FC236}">
                <a16:creationId xmlns:a16="http://schemas.microsoft.com/office/drawing/2014/main" id="{E3A0079B-B06E-4704-8200-03B2F8D0AF26}"/>
              </a:ext>
            </a:extLst>
          </p:cNvPr>
          <p:cNvSpPr>
            <a:spLocks xmlns:a="http://schemas.openxmlformats.org/drawingml/2006/main" noGrp="1"/>
          </p:cNvSpPr>
          <p:nvPr/>
        </p:nvSpPr>
        <p:spPr>
          <a:xfrm xmlns:a="http://schemas.openxmlformats.org/drawingml/2006/main">
            <a:off x="7200900" y="5219700"/>
            <a:ext cx="1714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975" b="1">
                <a:solidFill>
                  <a:srgbClr val="5E6B7A"/>
                </a:solidFill>
              </a:defRPr>
            </a:pPr>
            <a:r>
              <a:rPr sz="975" b="1">
                <a:solidFill>
                  <a:srgbClr val="5E6B7A"/>
                </a:solidFill>
              </a:rPr>
              <a:t>Scene 6</a:t>
            </a:r>
          </a:p>
        </p:txBody>
      </p:sp>
      <p:sp>
        <p:nvSpPr>
          <p:cNvPr id="22" name="">
            <a:extLst xmlns:a="http://schemas.openxmlformats.org/drawingml/2006/main">
              <a:ext uri="{FF2B5EF4-FFF2-40B4-BE49-F238E27FC236}">
                <a16:creationId xmlns:a16="http://schemas.microsoft.com/office/drawing/2014/main" id="{9C8A9EED-A4BA-4881-BC72-1D49C23BDBC0}"/>
              </a:ext>
            </a:extLst>
          </p:cNvPr>
          <p:cNvSpPr>
            <a:spLocks xmlns:a="http://schemas.openxmlformats.org/drawingml/2006/main" noGrp="1"/>
          </p:cNvSpPr>
          <p:nvPr/>
        </p:nvSpPr>
        <p:spPr>
          <a:xfrm xmlns:a="http://schemas.openxmlformats.org/drawingml/2006/main">
            <a:off x="0" y="6515100"/>
            <a:ext cx="12192000" cy="342900"/>
          </a:xfrm>
          <a:prstGeom xmlns:a="http://schemas.openxmlformats.org/drawingml/2006/main" prst="rect">
            <a:avLst/>
          </a:prstGeom>
          <a:solidFill xmlns:a="http://schemas.openxmlformats.org/drawingml/2006/main">
            <a:srgbClr val="0B243D"/>
          </a:solidFill>
          <a:ln xmlns:a="http://schemas.openxmlformats.org/drawingml/2006/main" w="0">
            <a:noFill/>
            <a:prstDash val="solid"/>
          </a:ln>
        </p:spPr>
      </p:sp>
      <p:sp>
        <p:nvSpPr>
          <p:cNvPr id="23" name="">
            <a:extLst xmlns:a="http://schemas.openxmlformats.org/drawingml/2006/main">
              <a:ext uri="{FF2B5EF4-FFF2-40B4-BE49-F238E27FC236}">
                <a16:creationId xmlns:a16="http://schemas.microsoft.com/office/drawing/2014/main" id="{DE76D316-4DCB-4030-BABD-75C3830E4D06}"/>
              </a:ext>
            </a:extLst>
          </p:cNvPr>
          <p:cNvSpPr>
            <a:spLocks xmlns:a="http://schemas.openxmlformats.org/drawingml/2006/main" noGrp="1"/>
          </p:cNvSpPr>
          <p:nvPr/>
        </p:nvSpPr>
        <p:spPr>
          <a:xfrm xmlns:a="http://schemas.openxmlformats.org/drawingml/2006/main">
            <a:off x="533400" y="6600825"/>
            <a:ext cx="3429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975" b="1">
                <a:solidFill>
                  <a:srgbClr val="FFFFFF"/>
                </a:solidFill>
              </a:defRPr>
            </a:pPr>
            <a:r>
              <a:rPr sz="975" b="1">
                <a:solidFill>
                  <a:srgbClr val="FFFFFF"/>
                </a:solidFill>
              </a:rPr>
              <a:t>PAL Environmental Services</a:t>
            </a:r>
          </a:p>
        </p:txBody>
      </p:sp>
      <p:sp>
        <p:nvSpPr>
          <p:cNvPr id="24" name="">
            <a:extLst xmlns:a="http://schemas.openxmlformats.org/drawingml/2006/main">
              <a:ext uri="{FF2B5EF4-FFF2-40B4-BE49-F238E27FC236}">
                <a16:creationId xmlns:a16="http://schemas.microsoft.com/office/drawing/2014/main" id="{EBF8DB6A-B54A-470E-81E5-50A5025070D7}"/>
              </a:ext>
            </a:extLst>
          </p:cNvPr>
          <p:cNvSpPr>
            <a:spLocks xmlns:a="http://schemas.openxmlformats.org/drawingml/2006/main" noGrp="1"/>
          </p:cNvSpPr>
          <p:nvPr/>
        </p:nvSpPr>
        <p:spPr>
          <a:xfrm xmlns:a="http://schemas.openxmlformats.org/drawingml/2006/main">
            <a:off x="9620250" y="6600825"/>
            <a:ext cx="2095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900">
                <a:solidFill>
                  <a:srgbClr val="DDEAF5"/>
                </a:solidFill>
              </a:defRPr>
            </a:pPr>
            <a:r>
              <a:rPr sz="900">
                <a:solidFill>
                  <a:srgbClr val="DDEAF5"/>
                </a:solidFill>
              </a:rPr>
              <a:t>Employee Orientation  |  06</a:t>
            </a:r>
          </a:p>
        </p:txBody>
      </p:sp>
    </p:spTree>
    <p:extLst>
      <p:ext uri="{BB962C8B-B14F-4D97-AF65-F5344CB8AC3E}">
        <p14:creationId xmlns:p14="http://schemas.microsoft.com/office/powerpoint/2010/main" val="1976737943"/>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5CB13780-0577-4C22-A50B-A835967FE16F}"/>
              </a:ext>
            </a:extLst>
          </p:cNvPr>
          <p:cNvSpPr>
            <a:spLocks xmlns:a="http://schemas.openxmlformats.org/drawingml/2006/main" noGrp="1"/>
          </p:cNvSpPr>
          <p:nvPr/>
        </p:nvSpPr>
        <p:spPr>
          <a:xfrm xmlns:a="http://schemas.openxmlformats.org/drawingml/2006/main">
            <a:off x="0" y="0"/>
            <a:ext cx="12192000" cy="266700"/>
          </a:xfrm>
          <a:prstGeom xmlns:a="http://schemas.openxmlformats.org/drawingml/2006/main" prst="rect">
            <a:avLst/>
          </a:prstGeom>
          <a:solidFill xmlns:a="http://schemas.openxmlformats.org/drawingml/2006/main">
            <a:srgbClr val="0B243D"/>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FF4D1E02-2BFD-4111-8F1F-C3D68C4B3A02}"/>
              </a:ext>
            </a:extLst>
          </p:cNvPr>
          <p:cNvSpPr>
            <a:spLocks xmlns:a="http://schemas.openxmlformats.org/drawingml/2006/main" noGrp="1"/>
          </p:cNvSpPr>
          <p:nvPr/>
        </p:nvSpPr>
        <p:spPr>
          <a:xfrm xmlns:a="http://schemas.openxmlformats.org/drawingml/2006/main">
            <a:off x="0" y="266700"/>
            <a:ext cx="171450" cy="6248400"/>
          </a:xfrm>
          <a:prstGeom xmlns:a="http://schemas.openxmlformats.org/drawingml/2006/main" prst="rect">
            <a:avLst/>
          </a:prstGeom>
          <a:solidFill xmlns:a="http://schemas.openxmlformats.org/drawingml/2006/main">
            <a:srgbClr val="66C43A"/>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4C871E62-860B-4569-803E-77E54E77CEE2}"/>
              </a:ext>
            </a:extLst>
          </p:cNvPr>
          <p:cNvSpPr>
            <a:spLocks xmlns:a="http://schemas.openxmlformats.org/drawingml/2006/main" noGrp="1"/>
          </p:cNvSpPr>
          <p:nvPr/>
        </p:nvSpPr>
        <p:spPr>
          <a:xfrm xmlns:a="http://schemas.openxmlformats.org/drawingml/2006/main">
            <a:off x="533400" y="666750"/>
            <a:ext cx="44767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050" b="1">
                <a:solidFill>
                  <a:srgbClr val="5E6B7A"/>
                </a:solidFill>
              </a:defRPr>
            </a:pPr>
            <a:r>
              <a:rPr sz="1050" b="1">
                <a:solidFill>
                  <a:srgbClr val="5E6B7A"/>
                </a:solidFill>
              </a:rPr>
              <a:t>FALL PROTECTION</a:t>
            </a:r>
          </a:p>
        </p:txBody>
      </p:sp>
      <p:sp>
        <p:nvSpPr>
          <p:cNvPr id="4" name="">
            <a:extLst xmlns:a="http://schemas.openxmlformats.org/drawingml/2006/main">
              <a:ext uri="{FF2B5EF4-FFF2-40B4-BE49-F238E27FC236}">
                <a16:creationId xmlns:a16="http://schemas.microsoft.com/office/drawing/2014/main" id="{4C672D2F-66EA-4BD8-ABC5-59A381A168F9}"/>
              </a:ext>
            </a:extLst>
          </p:cNvPr>
          <p:cNvSpPr>
            <a:spLocks xmlns:a="http://schemas.openxmlformats.org/drawingml/2006/main" noGrp="1"/>
          </p:cNvSpPr>
          <p:nvPr/>
        </p:nvSpPr>
        <p:spPr>
          <a:xfrm xmlns:a="http://schemas.openxmlformats.org/drawingml/2006/main">
            <a:off x="533400" y="1047750"/>
            <a:ext cx="5524500" cy="1428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3150" b="1">
                <a:solidFill>
                  <a:srgbClr val="0B243D"/>
                </a:solidFill>
              </a:defRPr>
            </a:pPr>
            <a:r>
              <a:rPr sz="3150" b="1">
                <a:solidFill>
                  <a:srgbClr val="0B243D"/>
                </a:solidFill>
              </a:rPr>
              <a:t>Fall hazards begin at six feet or greater.</a:t>
            </a:r>
          </a:p>
        </p:txBody>
      </p:sp>
      <p:sp>
        <p:nvSpPr>
          <p:cNvPr id="5" name="">
            <a:extLst xmlns:a="http://schemas.openxmlformats.org/drawingml/2006/main">
              <a:ext uri="{FF2B5EF4-FFF2-40B4-BE49-F238E27FC236}">
                <a16:creationId xmlns:a16="http://schemas.microsoft.com/office/drawing/2014/main" id="{0A2C1401-5EEF-47FB-B3E9-16444685FEBB}"/>
              </a:ext>
            </a:extLst>
          </p:cNvPr>
          <p:cNvSpPr>
            <a:spLocks xmlns:a="http://schemas.openxmlformats.org/drawingml/2006/main" noGrp="1"/>
          </p:cNvSpPr>
          <p:nvPr/>
        </p:nvSpPr>
        <p:spPr>
          <a:xfrm xmlns:a="http://schemas.openxmlformats.org/drawingml/2006/main">
            <a:off x="609600" y="2990850"/>
            <a:ext cx="114300" cy="114300"/>
          </a:xfrm>
          <a:prstGeom xmlns:a="http://schemas.openxmlformats.org/drawingml/2006/main" prst="rect">
            <a:avLst/>
          </a:prstGeom>
          <a:solidFill xmlns:a="http://schemas.openxmlformats.org/drawingml/2006/main">
            <a:srgbClr val="66C43A"/>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3497E7D5-25D6-4FC4-85B6-3578E10FEC3A}"/>
              </a:ext>
            </a:extLst>
          </p:cNvPr>
          <p:cNvSpPr>
            <a:spLocks xmlns:a="http://schemas.openxmlformats.org/drawingml/2006/main" noGrp="1"/>
          </p:cNvSpPr>
          <p:nvPr/>
        </p:nvSpPr>
        <p:spPr>
          <a:xfrm xmlns:a="http://schemas.openxmlformats.org/drawingml/2006/main">
            <a:off x="914400" y="2914650"/>
            <a:ext cx="53340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800" b="1">
                <a:solidFill>
                  <a:srgbClr val="12233A"/>
                </a:solidFill>
              </a:defRPr>
            </a:pPr>
            <a:r>
              <a:rPr sz="1800" b="1">
                <a:solidFill>
                  <a:srgbClr val="12233A"/>
                </a:solidFill>
              </a:rPr>
              <a:t>Open edges, lifts, scaffolds, and walkway gaps</a:t>
            </a:r>
          </a:p>
        </p:txBody>
      </p:sp>
      <p:sp>
        <p:nvSpPr>
          <p:cNvPr id="7" name="">
            <a:extLst xmlns:a="http://schemas.openxmlformats.org/drawingml/2006/main">
              <a:ext uri="{FF2B5EF4-FFF2-40B4-BE49-F238E27FC236}">
                <a16:creationId xmlns:a16="http://schemas.microsoft.com/office/drawing/2014/main" id="{0C11050D-3B5B-4F5C-8E0E-9E616D618A9D}"/>
              </a:ext>
            </a:extLst>
          </p:cNvPr>
          <p:cNvSpPr>
            <a:spLocks xmlns:a="http://schemas.openxmlformats.org/drawingml/2006/main" noGrp="1"/>
          </p:cNvSpPr>
          <p:nvPr/>
        </p:nvSpPr>
        <p:spPr>
          <a:xfrm xmlns:a="http://schemas.openxmlformats.org/drawingml/2006/main">
            <a:off x="609600" y="3600450"/>
            <a:ext cx="114300" cy="114300"/>
          </a:xfrm>
          <a:prstGeom xmlns:a="http://schemas.openxmlformats.org/drawingml/2006/main" prst="rect">
            <a:avLst/>
          </a:prstGeom>
          <a:solidFill xmlns:a="http://schemas.openxmlformats.org/drawingml/2006/main">
            <a:srgbClr val="66C43A"/>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D9C84B5D-0BEE-45BA-A6E1-5BA70B422D86}"/>
              </a:ext>
            </a:extLst>
          </p:cNvPr>
          <p:cNvSpPr>
            <a:spLocks xmlns:a="http://schemas.openxmlformats.org/drawingml/2006/main" noGrp="1"/>
          </p:cNvSpPr>
          <p:nvPr/>
        </p:nvSpPr>
        <p:spPr>
          <a:xfrm xmlns:a="http://schemas.openxmlformats.org/drawingml/2006/main">
            <a:off x="914400" y="3524250"/>
            <a:ext cx="53340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800" b="0">
                <a:solidFill>
                  <a:srgbClr val="12233A"/>
                </a:solidFill>
              </a:defRPr>
            </a:pPr>
            <a:r>
              <a:rPr sz="1800" b="0">
                <a:solidFill>
                  <a:srgbClr val="12233A"/>
                </a:solidFill>
              </a:rPr>
              <a:t>Guardrails and hole covers must be installed and secured</a:t>
            </a:r>
          </a:p>
        </p:txBody>
      </p:sp>
      <p:sp>
        <p:nvSpPr>
          <p:cNvPr id="9" name="">
            <a:extLst xmlns:a="http://schemas.openxmlformats.org/drawingml/2006/main">
              <a:ext uri="{FF2B5EF4-FFF2-40B4-BE49-F238E27FC236}">
                <a16:creationId xmlns:a16="http://schemas.microsoft.com/office/drawing/2014/main" id="{D9D754E9-9354-4F69-A23C-0A0204E6F844}"/>
              </a:ext>
            </a:extLst>
          </p:cNvPr>
          <p:cNvSpPr>
            <a:spLocks xmlns:a="http://schemas.openxmlformats.org/drawingml/2006/main" noGrp="1"/>
          </p:cNvSpPr>
          <p:nvPr/>
        </p:nvSpPr>
        <p:spPr>
          <a:xfrm xmlns:a="http://schemas.openxmlformats.org/drawingml/2006/main">
            <a:off x="609600" y="4210050"/>
            <a:ext cx="114300" cy="114300"/>
          </a:xfrm>
          <a:prstGeom xmlns:a="http://schemas.openxmlformats.org/drawingml/2006/main" prst="rect">
            <a:avLst/>
          </a:prstGeom>
          <a:solidFill xmlns:a="http://schemas.openxmlformats.org/drawingml/2006/main">
            <a:srgbClr val="66C43A"/>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5F47218E-5855-49CC-BD81-7F9E58CBC854}"/>
              </a:ext>
            </a:extLst>
          </p:cNvPr>
          <p:cNvSpPr>
            <a:spLocks xmlns:a="http://schemas.openxmlformats.org/drawingml/2006/main" noGrp="1"/>
          </p:cNvSpPr>
          <p:nvPr/>
        </p:nvSpPr>
        <p:spPr>
          <a:xfrm xmlns:a="http://schemas.openxmlformats.org/drawingml/2006/main">
            <a:off x="914400" y="4133850"/>
            <a:ext cx="53340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800" b="0">
                <a:solidFill>
                  <a:srgbClr val="12233A"/>
                </a:solidFill>
              </a:defRPr>
            </a:pPr>
            <a:r>
              <a:rPr sz="1800" b="0">
                <a:solidFill>
                  <a:srgbClr val="12233A"/>
                </a:solidFill>
              </a:rPr>
              <a:t>Barricade below when overhead work creates exposure</a:t>
            </a:r>
          </a:p>
        </p:txBody>
      </p:sp>
      <p:sp>
        <p:nvSpPr>
          <p:cNvPr id="11" name="">
            <a:extLst xmlns:a="http://schemas.openxmlformats.org/drawingml/2006/main">
              <a:ext uri="{FF2B5EF4-FFF2-40B4-BE49-F238E27FC236}">
                <a16:creationId xmlns:a16="http://schemas.microsoft.com/office/drawing/2014/main" id="{2493522D-5009-4B52-8E9C-8221E37FA554}"/>
              </a:ext>
            </a:extLst>
          </p:cNvPr>
          <p:cNvSpPr>
            <a:spLocks xmlns:a="http://schemas.openxmlformats.org/drawingml/2006/main" noGrp="1"/>
          </p:cNvSpPr>
          <p:nvPr/>
        </p:nvSpPr>
        <p:spPr>
          <a:xfrm xmlns:a="http://schemas.openxmlformats.org/drawingml/2006/main">
            <a:off x="6858000" y="704850"/>
            <a:ext cx="4495800" cy="4953000"/>
          </a:xfrm>
          <a:prstGeom xmlns:a="http://schemas.openxmlformats.org/drawingml/2006/main" prst="rect">
            <a:avLst/>
          </a:prstGeom>
          <a:solidFill xmlns:a="http://schemas.openxmlformats.org/drawingml/2006/main">
            <a:srgbClr val="F3F6F8"/>
          </a:solidFill>
          <a:ln xmlns:a="http://schemas.openxmlformats.org/drawingml/2006/main" w="9525">
            <a:solidFill>
              <a:srgbClr val="D8E1EA"/>
            </a:solidFill>
            <a:prstDash val="solid"/>
          </a:ln>
        </p:spPr>
      </p:sp>
      <p:sp>
        <p:nvSpPr>
          <p:cNvPr id="12" name="">
            <a:extLst xmlns:a="http://schemas.openxmlformats.org/drawingml/2006/main">
              <a:ext uri="{FF2B5EF4-FFF2-40B4-BE49-F238E27FC236}">
                <a16:creationId xmlns:a16="http://schemas.microsoft.com/office/drawing/2014/main" id="{1D745B8D-4AD9-4D88-8888-C1229F28D078}"/>
              </a:ext>
            </a:extLst>
          </p:cNvPr>
          <p:cNvSpPr>
            <a:spLocks xmlns:a="http://schemas.openxmlformats.org/drawingml/2006/main" noGrp="1"/>
          </p:cNvSpPr>
          <p:nvPr/>
        </p:nvSpPr>
        <p:spPr>
          <a:xfrm xmlns:a="http://schemas.openxmlformats.org/drawingml/2006/main">
            <a:off x="6858000" y="704850"/>
            <a:ext cx="4495800" cy="114300"/>
          </a:xfrm>
          <a:prstGeom xmlns:a="http://schemas.openxmlformats.org/drawingml/2006/main" prst="rect">
            <a:avLst/>
          </a:prstGeom>
          <a:solidFill xmlns:a="http://schemas.openxmlformats.org/drawingml/2006/main">
            <a:srgbClr val="66C43A"/>
          </a:solidFill>
          <a:ln xmlns:a="http://schemas.openxmlformats.org/drawingml/2006/main" w="0">
            <a:noFill/>
            <a:prstDash val="solid"/>
          </a:ln>
        </p:spPr>
      </p:sp>
      <p:sp>
        <p:nvSpPr>
          <p:cNvPr id="13" name="">
            <a:extLst xmlns:a="http://schemas.openxmlformats.org/drawingml/2006/main">
              <a:ext uri="{FF2B5EF4-FFF2-40B4-BE49-F238E27FC236}">
                <a16:creationId xmlns:a16="http://schemas.microsoft.com/office/drawing/2014/main" id="{5BFF04EB-01FF-4633-9487-4091F671A630}"/>
              </a:ext>
            </a:extLst>
          </p:cNvPr>
          <p:cNvSpPr>
            <a:spLocks xmlns:a="http://schemas.openxmlformats.org/drawingml/2006/main" noGrp="1"/>
          </p:cNvSpPr>
          <p:nvPr/>
        </p:nvSpPr>
        <p:spPr>
          <a:xfrm xmlns:a="http://schemas.openxmlformats.org/drawingml/2006/main">
            <a:off x="7200900" y="1123950"/>
            <a:ext cx="1714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050" b="1">
                <a:solidFill>
                  <a:srgbClr val="5E6B7A"/>
                </a:solidFill>
              </a:defRPr>
            </a:pPr>
            <a:r>
              <a:rPr sz="1050" b="1">
                <a:solidFill>
                  <a:srgbClr val="5E6B7A"/>
                </a:solidFill>
              </a:rPr>
              <a:t>VIDEO VISUAL</a:t>
            </a:r>
          </a:p>
        </p:txBody>
      </p:sp>
      <p:sp>
        <p:nvSpPr>
          <p:cNvPr id="14" name="">
            <a:extLst xmlns:a="http://schemas.openxmlformats.org/drawingml/2006/main">
              <a:ext uri="{FF2B5EF4-FFF2-40B4-BE49-F238E27FC236}">
                <a16:creationId xmlns:a16="http://schemas.microsoft.com/office/drawing/2014/main" id="{EBCD0CD0-3981-4B56-B108-25A0146996FE}"/>
              </a:ext>
            </a:extLst>
          </p:cNvPr>
          <p:cNvSpPr>
            <a:spLocks xmlns:a="http://schemas.openxmlformats.org/drawingml/2006/main" noGrp="1"/>
          </p:cNvSpPr>
          <p:nvPr/>
        </p:nvSpPr>
        <p:spPr>
          <a:xfrm xmlns:a="http://schemas.openxmlformats.org/drawingml/2006/main">
            <a:off x="7200900" y="1543050"/>
            <a:ext cx="3810000" cy="1047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800" b="1">
                <a:solidFill>
                  <a:srgbClr val="12233A"/>
                </a:solidFill>
              </a:defRPr>
            </a:pPr>
            <a:r>
              <a:rPr sz="1800" b="1">
                <a:solidFill>
                  <a:srgbClr val="12233A"/>
                </a:solidFill>
              </a:rPr>
              <a:t>Guarded edge, secured hole cover, and barricaded work below.</a:t>
            </a:r>
          </a:p>
        </p:txBody>
      </p:sp>
      <p:sp>
        <p:nvSpPr>
          <p:cNvPr id="15" name="">
            <a:extLst xmlns:a="http://schemas.openxmlformats.org/drawingml/2006/main">
              <a:ext uri="{FF2B5EF4-FFF2-40B4-BE49-F238E27FC236}">
                <a16:creationId xmlns:a16="http://schemas.microsoft.com/office/drawing/2014/main" id="{3A7C27B2-A9A1-4A8A-B3C6-E4FEF209B173}"/>
              </a:ext>
            </a:extLst>
          </p:cNvPr>
          <p:cNvSpPr>
            <a:spLocks xmlns:a="http://schemas.openxmlformats.org/drawingml/2006/main" noGrp="1"/>
          </p:cNvSpPr>
          <p:nvPr/>
        </p:nvSpPr>
        <p:spPr>
          <a:xfrm xmlns:a="http://schemas.openxmlformats.org/drawingml/2006/main">
            <a:off x="7200900" y="3028950"/>
            <a:ext cx="171450" cy="171450"/>
          </a:xfrm>
          <a:prstGeom xmlns:a="http://schemas.openxmlformats.org/drawingml/2006/main" prst="rect">
            <a:avLst/>
          </a:prstGeom>
          <a:solidFill xmlns:a="http://schemas.openxmlformats.org/drawingml/2006/main">
            <a:srgbClr val="66C43A"/>
          </a:solidFill>
          <a:ln xmlns:a="http://schemas.openxmlformats.org/drawingml/2006/main" w="0">
            <a:noFill/>
            <a:prstDash val="solid"/>
          </a:ln>
        </p:spPr>
      </p:sp>
      <p:sp>
        <p:nvSpPr>
          <p:cNvPr id="16" name="">
            <a:extLst xmlns:a="http://schemas.openxmlformats.org/drawingml/2006/main">
              <a:ext uri="{FF2B5EF4-FFF2-40B4-BE49-F238E27FC236}">
                <a16:creationId xmlns:a16="http://schemas.microsoft.com/office/drawing/2014/main" id="{FE28AAED-CA07-416C-A146-F9AEDDA5712F}"/>
              </a:ext>
            </a:extLst>
          </p:cNvPr>
          <p:cNvSpPr>
            <a:spLocks xmlns:a="http://schemas.openxmlformats.org/drawingml/2006/main" noGrp="1"/>
          </p:cNvSpPr>
          <p:nvPr/>
        </p:nvSpPr>
        <p:spPr>
          <a:xfrm xmlns:a="http://schemas.openxmlformats.org/drawingml/2006/main">
            <a:off x="7524750" y="3000375"/>
            <a:ext cx="3143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500" b="1">
                <a:solidFill>
                  <a:srgbClr val="0B243D"/>
                </a:solidFill>
              </a:defRPr>
            </a:pPr>
            <a:r>
              <a:rPr sz="1500" b="1">
                <a:solidFill>
                  <a:srgbClr val="0B243D"/>
                </a:solidFill>
              </a:rPr>
              <a:t>Open edges, lifts, scaffolds, and walkway gaps</a:t>
            </a:r>
          </a:p>
        </p:txBody>
      </p:sp>
      <p:sp>
        <p:nvSpPr>
          <p:cNvPr id="17" name="">
            <a:extLst xmlns:a="http://schemas.openxmlformats.org/drawingml/2006/main">
              <a:ext uri="{FF2B5EF4-FFF2-40B4-BE49-F238E27FC236}">
                <a16:creationId xmlns:a16="http://schemas.microsoft.com/office/drawing/2014/main" id="{538CF9A8-35C0-494D-A24D-CE367F939552}"/>
              </a:ext>
            </a:extLst>
          </p:cNvPr>
          <p:cNvSpPr>
            <a:spLocks xmlns:a="http://schemas.openxmlformats.org/drawingml/2006/main" noGrp="1"/>
          </p:cNvSpPr>
          <p:nvPr/>
        </p:nvSpPr>
        <p:spPr>
          <a:xfrm xmlns:a="http://schemas.openxmlformats.org/drawingml/2006/main">
            <a:off x="7200900" y="3467100"/>
            <a:ext cx="171450" cy="171450"/>
          </a:xfrm>
          <a:prstGeom xmlns:a="http://schemas.openxmlformats.org/drawingml/2006/main" prst="rect">
            <a:avLst/>
          </a:prstGeom>
          <a:solidFill xmlns:a="http://schemas.openxmlformats.org/drawingml/2006/main">
            <a:srgbClr val="66C43A"/>
          </a:solidFill>
          <a:ln xmlns:a="http://schemas.openxmlformats.org/drawingml/2006/main" w="0">
            <a:noFill/>
            <a:prstDash val="solid"/>
          </a:ln>
        </p:spPr>
      </p:sp>
      <p:sp>
        <p:nvSpPr>
          <p:cNvPr id="18" name="">
            <a:extLst xmlns:a="http://schemas.openxmlformats.org/drawingml/2006/main">
              <a:ext uri="{FF2B5EF4-FFF2-40B4-BE49-F238E27FC236}">
                <a16:creationId xmlns:a16="http://schemas.microsoft.com/office/drawing/2014/main" id="{10F66BB2-4191-476C-88B7-532D2E5C85A0}"/>
              </a:ext>
            </a:extLst>
          </p:cNvPr>
          <p:cNvSpPr>
            <a:spLocks xmlns:a="http://schemas.openxmlformats.org/drawingml/2006/main" noGrp="1"/>
          </p:cNvSpPr>
          <p:nvPr/>
        </p:nvSpPr>
        <p:spPr>
          <a:xfrm xmlns:a="http://schemas.openxmlformats.org/drawingml/2006/main">
            <a:off x="7524750" y="3438525"/>
            <a:ext cx="3143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500" b="1">
                <a:solidFill>
                  <a:srgbClr val="0B243D"/>
                </a:solidFill>
              </a:defRPr>
            </a:pPr>
            <a:r>
              <a:rPr sz="1500" b="1">
                <a:solidFill>
                  <a:srgbClr val="0B243D"/>
                </a:solidFill>
              </a:rPr>
              <a:t>Guardrails and hole covers must be installed and secured</a:t>
            </a:r>
          </a:p>
        </p:txBody>
      </p:sp>
      <p:sp>
        <p:nvSpPr>
          <p:cNvPr id="19" name="">
            <a:extLst xmlns:a="http://schemas.openxmlformats.org/drawingml/2006/main">
              <a:ext uri="{FF2B5EF4-FFF2-40B4-BE49-F238E27FC236}">
                <a16:creationId xmlns:a16="http://schemas.microsoft.com/office/drawing/2014/main" id="{499DA135-192A-4069-BD05-C1262B072B1F}"/>
              </a:ext>
            </a:extLst>
          </p:cNvPr>
          <p:cNvSpPr>
            <a:spLocks xmlns:a="http://schemas.openxmlformats.org/drawingml/2006/main" noGrp="1"/>
          </p:cNvSpPr>
          <p:nvPr/>
        </p:nvSpPr>
        <p:spPr>
          <a:xfrm xmlns:a="http://schemas.openxmlformats.org/drawingml/2006/main">
            <a:off x="7200900" y="3905250"/>
            <a:ext cx="171450" cy="171450"/>
          </a:xfrm>
          <a:prstGeom xmlns:a="http://schemas.openxmlformats.org/drawingml/2006/main" prst="rect">
            <a:avLst/>
          </a:prstGeom>
          <a:solidFill xmlns:a="http://schemas.openxmlformats.org/drawingml/2006/main">
            <a:srgbClr val="66C43A"/>
          </a:solidFill>
          <a:ln xmlns:a="http://schemas.openxmlformats.org/drawingml/2006/main" w="0">
            <a:noFill/>
            <a:prstDash val="solid"/>
          </a:ln>
        </p:spPr>
      </p:sp>
      <p:sp>
        <p:nvSpPr>
          <p:cNvPr id="20" name="">
            <a:extLst xmlns:a="http://schemas.openxmlformats.org/drawingml/2006/main">
              <a:ext uri="{FF2B5EF4-FFF2-40B4-BE49-F238E27FC236}">
                <a16:creationId xmlns:a16="http://schemas.microsoft.com/office/drawing/2014/main" id="{D10744BF-65EA-4947-992C-2CF41C55ADCD}"/>
              </a:ext>
            </a:extLst>
          </p:cNvPr>
          <p:cNvSpPr>
            <a:spLocks xmlns:a="http://schemas.openxmlformats.org/drawingml/2006/main" noGrp="1"/>
          </p:cNvSpPr>
          <p:nvPr/>
        </p:nvSpPr>
        <p:spPr>
          <a:xfrm xmlns:a="http://schemas.openxmlformats.org/drawingml/2006/main">
            <a:off x="7524750" y="3876675"/>
            <a:ext cx="3143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500" b="1">
                <a:solidFill>
                  <a:srgbClr val="0B243D"/>
                </a:solidFill>
              </a:defRPr>
            </a:pPr>
            <a:r>
              <a:rPr sz="1500" b="1">
                <a:solidFill>
                  <a:srgbClr val="0B243D"/>
                </a:solidFill>
              </a:rPr>
              <a:t>Barricade below when overhead work creates exposure</a:t>
            </a:r>
          </a:p>
        </p:txBody>
      </p:sp>
      <p:sp>
        <p:nvSpPr>
          <p:cNvPr id="21" name="">
            <a:extLst xmlns:a="http://schemas.openxmlformats.org/drawingml/2006/main">
              <a:ext uri="{FF2B5EF4-FFF2-40B4-BE49-F238E27FC236}">
                <a16:creationId xmlns:a16="http://schemas.microsoft.com/office/drawing/2014/main" id="{A1C227E0-6D05-4A77-910D-35B0C52DDE0E}"/>
              </a:ext>
            </a:extLst>
          </p:cNvPr>
          <p:cNvSpPr>
            <a:spLocks xmlns:a="http://schemas.openxmlformats.org/drawingml/2006/main" noGrp="1"/>
          </p:cNvSpPr>
          <p:nvPr/>
        </p:nvSpPr>
        <p:spPr>
          <a:xfrm xmlns:a="http://schemas.openxmlformats.org/drawingml/2006/main">
            <a:off x="7200900" y="5219700"/>
            <a:ext cx="1714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975" b="1">
                <a:solidFill>
                  <a:srgbClr val="5E6B7A"/>
                </a:solidFill>
              </a:defRPr>
            </a:pPr>
            <a:r>
              <a:rPr sz="975" b="1">
                <a:solidFill>
                  <a:srgbClr val="5E6B7A"/>
                </a:solidFill>
              </a:rPr>
              <a:t>Scene 7</a:t>
            </a:r>
          </a:p>
        </p:txBody>
      </p:sp>
      <p:sp>
        <p:nvSpPr>
          <p:cNvPr id="22" name="">
            <a:extLst xmlns:a="http://schemas.openxmlformats.org/drawingml/2006/main">
              <a:ext uri="{FF2B5EF4-FFF2-40B4-BE49-F238E27FC236}">
                <a16:creationId xmlns:a16="http://schemas.microsoft.com/office/drawing/2014/main" id="{0C039CCB-8B5C-4C52-9C56-DFB6AD96DE04}"/>
              </a:ext>
            </a:extLst>
          </p:cNvPr>
          <p:cNvSpPr>
            <a:spLocks xmlns:a="http://schemas.openxmlformats.org/drawingml/2006/main" noGrp="1"/>
          </p:cNvSpPr>
          <p:nvPr/>
        </p:nvSpPr>
        <p:spPr>
          <a:xfrm xmlns:a="http://schemas.openxmlformats.org/drawingml/2006/main">
            <a:off x="0" y="6515100"/>
            <a:ext cx="12192000" cy="342900"/>
          </a:xfrm>
          <a:prstGeom xmlns:a="http://schemas.openxmlformats.org/drawingml/2006/main" prst="rect">
            <a:avLst/>
          </a:prstGeom>
          <a:solidFill xmlns:a="http://schemas.openxmlformats.org/drawingml/2006/main">
            <a:srgbClr val="0B243D"/>
          </a:solidFill>
          <a:ln xmlns:a="http://schemas.openxmlformats.org/drawingml/2006/main" w="0">
            <a:noFill/>
            <a:prstDash val="solid"/>
          </a:ln>
        </p:spPr>
      </p:sp>
      <p:sp>
        <p:nvSpPr>
          <p:cNvPr id="23" name="">
            <a:extLst xmlns:a="http://schemas.openxmlformats.org/drawingml/2006/main">
              <a:ext uri="{FF2B5EF4-FFF2-40B4-BE49-F238E27FC236}">
                <a16:creationId xmlns:a16="http://schemas.microsoft.com/office/drawing/2014/main" id="{22D9456E-F1AC-413C-9398-AD288A9794B8}"/>
              </a:ext>
            </a:extLst>
          </p:cNvPr>
          <p:cNvSpPr>
            <a:spLocks xmlns:a="http://schemas.openxmlformats.org/drawingml/2006/main" noGrp="1"/>
          </p:cNvSpPr>
          <p:nvPr/>
        </p:nvSpPr>
        <p:spPr>
          <a:xfrm xmlns:a="http://schemas.openxmlformats.org/drawingml/2006/main">
            <a:off x="533400" y="6600825"/>
            <a:ext cx="3429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975" b="1">
                <a:solidFill>
                  <a:srgbClr val="FFFFFF"/>
                </a:solidFill>
              </a:defRPr>
            </a:pPr>
            <a:r>
              <a:rPr sz="975" b="1">
                <a:solidFill>
                  <a:srgbClr val="FFFFFF"/>
                </a:solidFill>
              </a:rPr>
              <a:t>PAL Environmental Services</a:t>
            </a:r>
          </a:p>
        </p:txBody>
      </p:sp>
      <p:sp>
        <p:nvSpPr>
          <p:cNvPr id="24" name="">
            <a:extLst xmlns:a="http://schemas.openxmlformats.org/drawingml/2006/main">
              <a:ext uri="{FF2B5EF4-FFF2-40B4-BE49-F238E27FC236}">
                <a16:creationId xmlns:a16="http://schemas.microsoft.com/office/drawing/2014/main" id="{FD6BFDB5-D02A-45B7-BC1C-CE3AAC05987D}"/>
              </a:ext>
            </a:extLst>
          </p:cNvPr>
          <p:cNvSpPr>
            <a:spLocks xmlns:a="http://schemas.openxmlformats.org/drawingml/2006/main" noGrp="1"/>
          </p:cNvSpPr>
          <p:nvPr/>
        </p:nvSpPr>
        <p:spPr>
          <a:xfrm xmlns:a="http://schemas.openxmlformats.org/drawingml/2006/main">
            <a:off x="9620250" y="6600825"/>
            <a:ext cx="2095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900">
                <a:solidFill>
                  <a:srgbClr val="DDEAF5"/>
                </a:solidFill>
              </a:defRPr>
            </a:pPr>
            <a:r>
              <a:rPr sz="900">
                <a:solidFill>
                  <a:srgbClr val="DDEAF5"/>
                </a:solidFill>
              </a:rPr>
              <a:t>Employee Orientation  |  07</a:t>
            </a:r>
          </a:p>
        </p:txBody>
      </p:sp>
    </p:spTree>
    <p:extLst>
      <p:ext uri="{BB962C8B-B14F-4D97-AF65-F5344CB8AC3E}">
        <p14:creationId xmlns:p14="http://schemas.microsoft.com/office/powerpoint/2010/main" val="720386836"/>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0496EFD6-6F0A-4074-AA7B-9AA3BDFC7D13}"/>
              </a:ext>
            </a:extLst>
          </p:cNvPr>
          <p:cNvSpPr>
            <a:spLocks xmlns:a="http://schemas.openxmlformats.org/drawingml/2006/main" noGrp="1"/>
          </p:cNvSpPr>
          <p:nvPr/>
        </p:nvSpPr>
        <p:spPr>
          <a:xfrm xmlns:a="http://schemas.openxmlformats.org/drawingml/2006/main">
            <a:off x="0" y="0"/>
            <a:ext cx="12192000" cy="266700"/>
          </a:xfrm>
          <a:prstGeom xmlns:a="http://schemas.openxmlformats.org/drawingml/2006/main" prst="rect">
            <a:avLst/>
          </a:prstGeom>
          <a:solidFill xmlns:a="http://schemas.openxmlformats.org/drawingml/2006/main">
            <a:srgbClr val="0B243D"/>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1D02AFF5-6F60-4CC4-9E33-55C6E92E3748}"/>
              </a:ext>
            </a:extLst>
          </p:cNvPr>
          <p:cNvSpPr>
            <a:spLocks xmlns:a="http://schemas.openxmlformats.org/drawingml/2006/main" noGrp="1"/>
          </p:cNvSpPr>
          <p:nvPr/>
        </p:nvSpPr>
        <p:spPr>
          <a:xfrm xmlns:a="http://schemas.openxmlformats.org/drawingml/2006/main">
            <a:off x="0" y="266700"/>
            <a:ext cx="171450" cy="6248400"/>
          </a:xfrm>
          <a:prstGeom xmlns:a="http://schemas.openxmlformats.org/drawingml/2006/main" prst="rect">
            <a:avLst/>
          </a:prstGeom>
          <a:solidFill xmlns:a="http://schemas.openxmlformats.org/drawingml/2006/main">
            <a:srgbClr val="66C43A"/>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F1C2CA13-0AC2-424F-B487-D29B2A2796AD}"/>
              </a:ext>
            </a:extLst>
          </p:cNvPr>
          <p:cNvSpPr>
            <a:spLocks xmlns:a="http://schemas.openxmlformats.org/drawingml/2006/main" noGrp="1"/>
          </p:cNvSpPr>
          <p:nvPr/>
        </p:nvSpPr>
        <p:spPr>
          <a:xfrm xmlns:a="http://schemas.openxmlformats.org/drawingml/2006/main">
            <a:off x="533400" y="666750"/>
            <a:ext cx="44767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050" b="1">
                <a:solidFill>
                  <a:srgbClr val="5E6B7A"/>
                </a:solidFill>
              </a:defRPr>
            </a:pPr>
            <a:r>
              <a:rPr sz="1050" b="1">
                <a:solidFill>
                  <a:srgbClr val="5E6B7A"/>
                </a:solidFill>
              </a:rPr>
              <a:t>HARNESS INSPECTION</a:t>
            </a:r>
          </a:p>
        </p:txBody>
      </p:sp>
      <p:sp>
        <p:nvSpPr>
          <p:cNvPr id="4" name="">
            <a:extLst xmlns:a="http://schemas.openxmlformats.org/drawingml/2006/main">
              <a:ext uri="{FF2B5EF4-FFF2-40B4-BE49-F238E27FC236}">
                <a16:creationId xmlns:a16="http://schemas.microsoft.com/office/drawing/2014/main" id="{29E6A0E8-8304-48A0-87BF-2E75BBD00484}"/>
              </a:ext>
            </a:extLst>
          </p:cNvPr>
          <p:cNvSpPr>
            <a:spLocks xmlns:a="http://schemas.openxmlformats.org/drawingml/2006/main" noGrp="1"/>
          </p:cNvSpPr>
          <p:nvPr/>
        </p:nvSpPr>
        <p:spPr>
          <a:xfrm xmlns:a="http://schemas.openxmlformats.org/drawingml/2006/main">
            <a:off x="533400" y="1047750"/>
            <a:ext cx="5524500" cy="1428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3150" b="1">
                <a:solidFill>
                  <a:srgbClr val="0B243D"/>
                </a:solidFill>
              </a:defRPr>
            </a:pPr>
            <a:r>
              <a:rPr sz="3150" b="1">
                <a:solidFill>
                  <a:srgbClr val="0B243D"/>
                </a:solidFill>
              </a:rPr>
              <a:t>Inspect fall protection before every use.</a:t>
            </a:r>
          </a:p>
        </p:txBody>
      </p:sp>
      <p:sp>
        <p:nvSpPr>
          <p:cNvPr id="5" name="">
            <a:extLst xmlns:a="http://schemas.openxmlformats.org/drawingml/2006/main">
              <a:ext uri="{FF2B5EF4-FFF2-40B4-BE49-F238E27FC236}">
                <a16:creationId xmlns:a16="http://schemas.microsoft.com/office/drawing/2014/main" id="{1756F530-0869-4955-AFDB-220CFAC5360E}"/>
              </a:ext>
            </a:extLst>
          </p:cNvPr>
          <p:cNvSpPr>
            <a:spLocks xmlns:a="http://schemas.openxmlformats.org/drawingml/2006/main" noGrp="1"/>
          </p:cNvSpPr>
          <p:nvPr/>
        </p:nvSpPr>
        <p:spPr>
          <a:xfrm xmlns:a="http://schemas.openxmlformats.org/drawingml/2006/main">
            <a:off x="609600" y="2990850"/>
            <a:ext cx="114300" cy="114300"/>
          </a:xfrm>
          <a:prstGeom xmlns:a="http://schemas.openxmlformats.org/drawingml/2006/main" prst="rect">
            <a:avLst/>
          </a:prstGeom>
          <a:solidFill xmlns:a="http://schemas.openxmlformats.org/drawingml/2006/main">
            <a:srgbClr val="66C43A"/>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49D8956A-760D-4B6B-AB49-5E4DA77024FF}"/>
              </a:ext>
            </a:extLst>
          </p:cNvPr>
          <p:cNvSpPr>
            <a:spLocks xmlns:a="http://schemas.openxmlformats.org/drawingml/2006/main" noGrp="1"/>
          </p:cNvSpPr>
          <p:nvPr/>
        </p:nvSpPr>
        <p:spPr>
          <a:xfrm xmlns:a="http://schemas.openxmlformats.org/drawingml/2006/main">
            <a:off x="914400" y="2914650"/>
            <a:ext cx="53340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800" b="1">
                <a:solidFill>
                  <a:srgbClr val="12233A"/>
                </a:solidFill>
              </a:defRPr>
            </a:pPr>
            <a:r>
              <a:rPr sz="1800" b="1">
                <a:solidFill>
                  <a:srgbClr val="12233A"/>
                </a:solidFill>
              </a:rPr>
              <a:t>Check harness, lanyard, connectors, and anchor point</a:t>
            </a:r>
          </a:p>
        </p:txBody>
      </p:sp>
      <p:sp>
        <p:nvSpPr>
          <p:cNvPr id="7" name="">
            <a:extLst xmlns:a="http://schemas.openxmlformats.org/drawingml/2006/main">
              <a:ext uri="{FF2B5EF4-FFF2-40B4-BE49-F238E27FC236}">
                <a16:creationId xmlns:a16="http://schemas.microsoft.com/office/drawing/2014/main" id="{1F3ADCC0-113B-465B-A344-0E243F20B6AF}"/>
              </a:ext>
            </a:extLst>
          </p:cNvPr>
          <p:cNvSpPr>
            <a:spLocks xmlns:a="http://schemas.openxmlformats.org/drawingml/2006/main" noGrp="1"/>
          </p:cNvSpPr>
          <p:nvPr/>
        </p:nvSpPr>
        <p:spPr>
          <a:xfrm xmlns:a="http://schemas.openxmlformats.org/drawingml/2006/main">
            <a:off x="609600" y="3600450"/>
            <a:ext cx="114300" cy="114300"/>
          </a:xfrm>
          <a:prstGeom xmlns:a="http://schemas.openxmlformats.org/drawingml/2006/main" prst="rect">
            <a:avLst/>
          </a:prstGeom>
          <a:solidFill xmlns:a="http://schemas.openxmlformats.org/drawingml/2006/main">
            <a:srgbClr val="66C43A"/>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585BDAD3-9D04-4F77-822E-802FCAA324FD}"/>
              </a:ext>
            </a:extLst>
          </p:cNvPr>
          <p:cNvSpPr>
            <a:spLocks xmlns:a="http://schemas.openxmlformats.org/drawingml/2006/main" noGrp="1"/>
          </p:cNvSpPr>
          <p:nvPr/>
        </p:nvSpPr>
        <p:spPr>
          <a:xfrm xmlns:a="http://schemas.openxmlformats.org/drawingml/2006/main">
            <a:off x="914400" y="3524250"/>
            <a:ext cx="53340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800" b="0">
                <a:solidFill>
                  <a:srgbClr val="12233A"/>
                </a:solidFill>
              </a:defRPr>
            </a:pPr>
            <a:r>
              <a:rPr sz="1800" b="0">
                <a:solidFill>
                  <a:srgbClr val="12233A"/>
                </a:solidFill>
              </a:rPr>
              <a:t>Use only approved anchor points</a:t>
            </a:r>
          </a:p>
        </p:txBody>
      </p:sp>
      <p:sp>
        <p:nvSpPr>
          <p:cNvPr id="9" name="">
            <a:extLst xmlns:a="http://schemas.openxmlformats.org/drawingml/2006/main">
              <a:ext uri="{FF2B5EF4-FFF2-40B4-BE49-F238E27FC236}">
                <a16:creationId xmlns:a16="http://schemas.microsoft.com/office/drawing/2014/main" id="{1D77BE99-2307-4C28-AE55-9F3D29F8B0B0}"/>
              </a:ext>
            </a:extLst>
          </p:cNvPr>
          <p:cNvSpPr>
            <a:spLocks xmlns:a="http://schemas.openxmlformats.org/drawingml/2006/main" noGrp="1"/>
          </p:cNvSpPr>
          <p:nvPr/>
        </p:nvSpPr>
        <p:spPr>
          <a:xfrm xmlns:a="http://schemas.openxmlformats.org/drawingml/2006/main">
            <a:off x="609600" y="4210050"/>
            <a:ext cx="114300" cy="114300"/>
          </a:xfrm>
          <a:prstGeom xmlns:a="http://schemas.openxmlformats.org/drawingml/2006/main" prst="rect">
            <a:avLst/>
          </a:prstGeom>
          <a:solidFill xmlns:a="http://schemas.openxmlformats.org/drawingml/2006/main">
            <a:srgbClr val="66C43A"/>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0CB538FC-2BED-4D85-BD4C-6613A478CCEE}"/>
              </a:ext>
            </a:extLst>
          </p:cNvPr>
          <p:cNvSpPr>
            <a:spLocks xmlns:a="http://schemas.openxmlformats.org/drawingml/2006/main" noGrp="1"/>
          </p:cNvSpPr>
          <p:nvPr/>
        </p:nvSpPr>
        <p:spPr>
          <a:xfrm xmlns:a="http://schemas.openxmlformats.org/drawingml/2006/main">
            <a:off x="914400" y="4133850"/>
            <a:ext cx="53340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800" b="0">
                <a:solidFill>
                  <a:srgbClr val="12233A"/>
                </a:solidFill>
              </a:defRPr>
            </a:pPr>
            <a:r>
              <a:rPr sz="1800" b="0">
                <a:solidFill>
                  <a:srgbClr val="12233A"/>
                </a:solidFill>
              </a:rPr>
              <a:t>Stop work if the setup is unclear or defective</a:t>
            </a:r>
          </a:p>
        </p:txBody>
      </p:sp>
      <p:sp>
        <p:nvSpPr>
          <p:cNvPr id="11" name="">
            <a:extLst xmlns:a="http://schemas.openxmlformats.org/drawingml/2006/main">
              <a:ext uri="{FF2B5EF4-FFF2-40B4-BE49-F238E27FC236}">
                <a16:creationId xmlns:a16="http://schemas.microsoft.com/office/drawing/2014/main" id="{0F6651A4-032F-4EBC-836A-13324ACDA805}"/>
              </a:ext>
            </a:extLst>
          </p:cNvPr>
          <p:cNvSpPr>
            <a:spLocks xmlns:a="http://schemas.openxmlformats.org/drawingml/2006/main" noGrp="1"/>
          </p:cNvSpPr>
          <p:nvPr/>
        </p:nvSpPr>
        <p:spPr>
          <a:xfrm xmlns:a="http://schemas.openxmlformats.org/drawingml/2006/main">
            <a:off x="6858000" y="704850"/>
            <a:ext cx="4495800" cy="4953000"/>
          </a:xfrm>
          <a:prstGeom xmlns:a="http://schemas.openxmlformats.org/drawingml/2006/main" prst="rect">
            <a:avLst/>
          </a:prstGeom>
          <a:solidFill xmlns:a="http://schemas.openxmlformats.org/drawingml/2006/main">
            <a:srgbClr val="F3F6F8"/>
          </a:solidFill>
          <a:ln xmlns:a="http://schemas.openxmlformats.org/drawingml/2006/main" w="9525">
            <a:solidFill>
              <a:srgbClr val="D8E1EA"/>
            </a:solidFill>
            <a:prstDash val="solid"/>
          </a:ln>
        </p:spPr>
      </p:sp>
      <p:sp>
        <p:nvSpPr>
          <p:cNvPr id="12" name="">
            <a:extLst xmlns:a="http://schemas.openxmlformats.org/drawingml/2006/main">
              <a:ext uri="{FF2B5EF4-FFF2-40B4-BE49-F238E27FC236}">
                <a16:creationId xmlns:a16="http://schemas.microsoft.com/office/drawing/2014/main" id="{B8DEC732-E4C8-45CD-8E99-3CCA98A96ED4}"/>
              </a:ext>
            </a:extLst>
          </p:cNvPr>
          <p:cNvSpPr>
            <a:spLocks xmlns:a="http://schemas.openxmlformats.org/drawingml/2006/main" noGrp="1"/>
          </p:cNvSpPr>
          <p:nvPr/>
        </p:nvSpPr>
        <p:spPr>
          <a:xfrm xmlns:a="http://schemas.openxmlformats.org/drawingml/2006/main">
            <a:off x="6858000" y="704850"/>
            <a:ext cx="4495800" cy="114300"/>
          </a:xfrm>
          <a:prstGeom xmlns:a="http://schemas.openxmlformats.org/drawingml/2006/main" prst="rect">
            <a:avLst/>
          </a:prstGeom>
          <a:solidFill xmlns:a="http://schemas.openxmlformats.org/drawingml/2006/main">
            <a:srgbClr val="66C43A"/>
          </a:solidFill>
          <a:ln xmlns:a="http://schemas.openxmlformats.org/drawingml/2006/main" w="0">
            <a:noFill/>
            <a:prstDash val="solid"/>
          </a:ln>
        </p:spPr>
      </p:sp>
      <p:sp>
        <p:nvSpPr>
          <p:cNvPr id="13" name="">
            <a:extLst xmlns:a="http://schemas.openxmlformats.org/drawingml/2006/main">
              <a:ext uri="{FF2B5EF4-FFF2-40B4-BE49-F238E27FC236}">
                <a16:creationId xmlns:a16="http://schemas.microsoft.com/office/drawing/2014/main" id="{CCECC3A7-17FA-454B-9309-F12E691B47DA}"/>
              </a:ext>
            </a:extLst>
          </p:cNvPr>
          <p:cNvSpPr>
            <a:spLocks xmlns:a="http://schemas.openxmlformats.org/drawingml/2006/main" noGrp="1"/>
          </p:cNvSpPr>
          <p:nvPr/>
        </p:nvSpPr>
        <p:spPr>
          <a:xfrm xmlns:a="http://schemas.openxmlformats.org/drawingml/2006/main">
            <a:off x="7200900" y="1123950"/>
            <a:ext cx="1714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050" b="1">
                <a:solidFill>
                  <a:srgbClr val="5E6B7A"/>
                </a:solidFill>
              </a:defRPr>
            </a:pPr>
            <a:r>
              <a:rPr sz="1050" b="1">
                <a:solidFill>
                  <a:srgbClr val="5E6B7A"/>
                </a:solidFill>
              </a:rPr>
              <a:t>VIDEO VISUAL</a:t>
            </a:r>
          </a:p>
        </p:txBody>
      </p:sp>
      <p:sp>
        <p:nvSpPr>
          <p:cNvPr id="14" name="">
            <a:extLst xmlns:a="http://schemas.openxmlformats.org/drawingml/2006/main">
              <a:ext uri="{FF2B5EF4-FFF2-40B4-BE49-F238E27FC236}">
                <a16:creationId xmlns:a16="http://schemas.microsoft.com/office/drawing/2014/main" id="{8AC7D1C1-632A-421B-879E-7380D5A53F2A}"/>
              </a:ext>
            </a:extLst>
          </p:cNvPr>
          <p:cNvSpPr>
            <a:spLocks xmlns:a="http://schemas.openxmlformats.org/drawingml/2006/main" noGrp="1"/>
          </p:cNvSpPr>
          <p:nvPr/>
        </p:nvSpPr>
        <p:spPr>
          <a:xfrm xmlns:a="http://schemas.openxmlformats.org/drawingml/2006/main">
            <a:off x="7200900" y="1543050"/>
            <a:ext cx="3810000" cy="1047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800" b="1">
                <a:solidFill>
                  <a:srgbClr val="12233A"/>
                </a:solidFill>
              </a:defRPr>
            </a:pPr>
            <a:r>
              <a:rPr sz="1800" b="1">
                <a:solidFill>
                  <a:srgbClr val="12233A"/>
                </a:solidFill>
              </a:rPr>
              <a:t>Worker inspecting harness and tying off to an approved point in a lift.</a:t>
            </a:r>
          </a:p>
        </p:txBody>
      </p:sp>
      <p:sp>
        <p:nvSpPr>
          <p:cNvPr id="15" name="">
            <a:extLst xmlns:a="http://schemas.openxmlformats.org/drawingml/2006/main">
              <a:ext uri="{FF2B5EF4-FFF2-40B4-BE49-F238E27FC236}">
                <a16:creationId xmlns:a16="http://schemas.microsoft.com/office/drawing/2014/main" id="{48E75186-61FE-4F27-AEFB-F709228A98F2}"/>
              </a:ext>
            </a:extLst>
          </p:cNvPr>
          <p:cNvSpPr>
            <a:spLocks xmlns:a="http://schemas.openxmlformats.org/drawingml/2006/main" noGrp="1"/>
          </p:cNvSpPr>
          <p:nvPr/>
        </p:nvSpPr>
        <p:spPr>
          <a:xfrm xmlns:a="http://schemas.openxmlformats.org/drawingml/2006/main">
            <a:off x="7200900" y="3028950"/>
            <a:ext cx="171450" cy="171450"/>
          </a:xfrm>
          <a:prstGeom xmlns:a="http://schemas.openxmlformats.org/drawingml/2006/main" prst="rect">
            <a:avLst/>
          </a:prstGeom>
          <a:solidFill xmlns:a="http://schemas.openxmlformats.org/drawingml/2006/main">
            <a:srgbClr val="66C43A"/>
          </a:solidFill>
          <a:ln xmlns:a="http://schemas.openxmlformats.org/drawingml/2006/main" w="0">
            <a:noFill/>
            <a:prstDash val="solid"/>
          </a:ln>
        </p:spPr>
      </p:sp>
      <p:sp>
        <p:nvSpPr>
          <p:cNvPr id="16" name="">
            <a:extLst xmlns:a="http://schemas.openxmlformats.org/drawingml/2006/main">
              <a:ext uri="{FF2B5EF4-FFF2-40B4-BE49-F238E27FC236}">
                <a16:creationId xmlns:a16="http://schemas.microsoft.com/office/drawing/2014/main" id="{961C61FA-A12C-41EC-B2C5-D69B847FAAAB}"/>
              </a:ext>
            </a:extLst>
          </p:cNvPr>
          <p:cNvSpPr>
            <a:spLocks xmlns:a="http://schemas.openxmlformats.org/drawingml/2006/main" noGrp="1"/>
          </p:cNvSpPr>
          <p:nvPr/>
        </p:nvSpPr>
        <p:spPr>
          <a:xfrm xmlns:a="http://schemas.openxmlformats.org/drawingml/2006/main">
            <a:off x="7524750" y="3000375"/>
            <a:ext cx="3143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500" b="1">
                <a:solidFill>
                  <a:srgbClr val="0B243D"/>
                </a:solidFill>
              </a:defRPr>
            </a:pPr>
            <a:r>
              <a:rPr sz="1500" b="1">
                <a:solidFill>
                  <a:srgbClr val="0B243D"/>
                </a:solidFill>
              </a:rPr>
              <a:t>Check harness, lanyard, connectors, and anchor point</a:t>
            </a:r>
          </a:p>
        </p:txBody>
      </p:sp>
      <p:sp>
        <p:nvSpPr>
          <p:cNvPr id="17" name="">
            <a:extLst xmlns:a="http://schemas.openxmlformats.org/drawingml/2006/main">
              <a:ext uri="{FF2B5EF4-FFF2-40B4-BE49-F238E27FC236}">
                <a16:creationId xmlns:a16="http://schemas.microsoft.com/office/drawing/2014/main" id="{6BA70DB2-5E79-4E5C-AFAC-94306E33C920}"/>
              </a:ext>
            </a:extLst>
          </p:cNvPr>
          <p:cNvSpPr>
            <a:spLocks xmlns:a="http://schemas.openxmlformats.org/drawingml/2006/main" noGrp="1"/>
          </p:cNvSpPr>
          <p:nvPr/>
        </p:nvSpPr>
        <p:spPr>
          <a:xfrm xmlns:a="http://schemas.openxmlformats.org/drawingml/2006/main">
            <a:off x="7200900" y="3467100"/>
            <a:ext cx="171450" cy="171450"/>
          </a:xfrm>
          <a:prstGeom xmlns:a="http://schemas.openxmlformats.org/drawingml/2006/main" prst="rect">
            <a:avLst/>
          </a:prstGeom>
          <a:solidFill xmlns:a="http://schemas.openxmlformats.org/drawingml/2006/main">
            <a:srgbClr val="66C43A"/>
          </a:solidFill>
          <a:ln xmlns:a="http://schemas.openxmlformats.org/drawingml/2006/main" w="0">
            <a:noFill/>
            <a:prstDash val="solid"/>
          </a:ln>
        </p:spPr>
      </p:sp>
      <p:sp>
        <p:nvSpPr>
          <p:cNvPr id="18" name="">
            <a:extLst xmlns:a="http://schemas.openxmlformats.org/drawingml/2006/main">
              <a:ext uri="{FF2B5EF4-FFF2-40B4-BE49-F238E27FC236}">
                <a16:creationId xmlns:a16="http://schemas.microsoft.com/office/drawing/2014/main" id="{71AAC159-EEEE-4EBF-8B6F-5A787A93BA34}"/>
              </a:ext>
            </a:extLst>
          </p:cNvPr>
          <p:cNvSpPr>
            <a:spLocks xmlns:a="http://schemas.openxmlformats.org/drawingml/2006/main" noGrp="1"/>
          </p:cNvSpPr>
          <p:nvPr/>
        </p:nvSpPr>
        <p:spPr>
          <a:xfrm xmlns:a="http://schemas.openxmlformats.org/drawingml/2006/main">
            <a:off x="7524750" y="3438525"/>
            <a:ext cx="3143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500" b="1">
                <a:solidFill>
                  <a:srgbClr val="0B243D"/>
                </a:solidFill>
              </a:defRPr>
            </a:pPr>
            <a:r>
              <a:rPr sz="1500" b="1">
                <a:solidFill>
                  <a:srgbClr val="0B243D"/>
                </a:solidFill>
              </a:rPr>
              <a:t>Use only approved anchor points</a:t>
            </a:r>
          </a:p>
        </p:txBody>
      </p:sp>
      <p:sp>
        <p:nvSpPr>
          <p:cNvPr id="19" name="">
            <a:extLst xmlns:a="http://schemas.openxmlformats.org/drawingml/2006/main">
              <a:ext uri="{FF2B5EF4-FFF2-40B4-BE49-F238E27FC236}">
                <a16:creationId xmlns:a16="http://schemas.microsoft.com/office/drawing/2014/main" id="{D9AD13FD-D7E4-4FF3-B93F-643E0ED98623}"/>
              </a:ext>
            </a:extLst>
          </p:cNvPr>
          <p:cNvSpPr>
            <a:spLocks xmlns:a="http://schemas.openxmlformats.org/drawingml/2006/main" noGrp="1"/>
          </p:cNvSpPr>
          <p:nvPr/>
        </p:nvSpPr>
        <p:spPr>
          <a:xfrm xmlns:a="http://schemas.openxmlformats.org/drawingml/2006/main">
            <a:off x="7200900" y="3905250"/>
            <a:ext cx="171450" cy="171450"/>
          </a:xfrm>
          <a:prstGeom xmlns:a="http://schemas.openxmlformats.org/drawingml/2006/main" prst="rect">
            <a:avLst/>
          </a:prstGeom>
          <a:solidFill xmlns:a="http://schemas.openxmlformats.org/drawingml/2006/main">
            <a:srgbClr val="66C43A"/>
          </a:solidFill>
          <a:ln xmlns:a="http://schemas.openxmlformats.org/drawingml/2006/main" w="0">
            <a:noFill/>
            <a:prstDash val="solid"/>
          </a:ln>
        </p:spPr>
      </p:sp>
      <p:sp>
        <p:nvSpPr>
          <p:cNvPr id="20" name="">
            <a:extLst xmlns:a="http://schemas.openxmlformats.org/drawingml/2006/main">
              <a:ext uri="{FF2B5EF4-FFF2-40B4-BE49-F238E27FC236}">
                <a16:creationId xmlns:a16="http://schemas.microsoft.com/office/drawing/2014/main" id="{2E534D7C-8F1A-4ECB-9AD4-85E1D133BD54}"/>
              </a:ext>
            </a:extLst>
          </p:cNvPr>
          <p:cNvSpPr>
            <a:spLocks xmlns:a="http://schemas.openxmlformats.org/drawingml/2006/main" noGrp="1"/>
          </p:cNvSpPr>
          <p:nvPr/>
        </p:nvSpPr>
        <p:spPr>
          <a:xfrm xmlns:a="http://schemas.openxmlformats.org/drawingml/2006/main">
            <a:off x="7524750" y="3876675"/>
            <a:ext cx="3143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500" b="1">
                <a:solidFill>
                  <a:srgbClr val="0B243D"/>
                </a:solidFill>
              </a:defRPr>
            </a:pPr>
            <a:r>
              <a:rPr sz="1500" b="1">
                <a:solidFill>
                  <a:srgbClr val="0B243D"/>
                </a:solidFill>
              </a:rPr>
              <a:t>Stop work if the setup is unclear or defective</a:t>
            </a:r>
          </a:p>
        </p:txBody>
      </p:sp>
      <p:sp>
        <p:nvSpPr>
          <p:cNvPr id="21" name="">
            <a:extLst xmlns:a="http://schemas.openxmlformats.org/drawingml/2006/main">
              <a:ext uri="{FF2B5EF4-FFF2-40B4-BE49-F238E27FC236}">
                <a16:creationId xmlns:a16="http://schemas.microsoft.com/office/drawing/2014/main" id="{249059EF-8F71-47E9-8F56-82AA815AB763}"/>
              </a:ext>
            </a:extLst>
          </p:cNvPr>
          <p:cNvSpPr>
            <a:spLocks xmlns:a="http://schemas.openxmlformats.org/drawingml/2006/main" noGrp="1"/>
          </p:cNvSpPr>
          <p:nvPr/>
        </p:nvSpPr>
        <p:spPr>
          <a:xfrm xmlns:a="http://schemas.openxmlformats.org/drawingml/2006/main">
            <a:off x="7200900" y="5219700"/>
            <a:ext cx="1714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975" b="1">
                <a:solidFill>
                  <a:srgbClr val="5E6B7A"/>
                </a:solidFill>
              </a:defRPr>
            </a:pPr>
            <a:r>
              <a:rPr sz="975" b="1">
                <a:solidFill>
                  <a:srgbClr val="5E6B7A"/>
                </a:solidFill>
              </a:rPr>
              <a:t>Scene 8</a:t>
            </a:r>
          </a:p>
        </p:txBody>
      </p:sp>
      <p:sp>
        <p:nvSpPr>
          <p:cNvPr id="22" name="">
            <a:extLst xmlns:a="http://schemas.openxmlformats.org/drawingml/2006/main">
              <a:ext uri="{FF2B5EF4-FFF2-40B4-BE49-F238E27FC236}">
                <a16:creationId xmlns:a16="http://schemas.microsoft.com/office/drawing/2014/main" id="{FB1EEFF6-FA47-403A-B63F-7F419FAB4573}"/>
              </a:ext>
            </a:extLst>
          </p:cNvPr>
          <p:cNvSpPr>
            <a:spLocks xmlns:a="http://schemas.openxmlformats.org/drawingml/2006/main" noGrp="1"/>
          </p:cNvSpPr>
          <p:nvPr/>
        </p:nvSpPr>
        <p:spPr>
          <a:xfrm xmlns:a="http://schemas.openxmlformats.org/drawingml/2006/main">
            <a:off x="0" y="6515100"/>
            <a:ext cx="12192000" cy="342900"/>
          </a:xfrm>
          <a:prstGeom xmlns:a="http://schemas.openxmlformats.org/drawingml/2006/main" prst="rect">
            <a:avLst/>
          </a:prstGeom>
          <a:solidFill xmlns:a="http://schemas.openxmlformats.org/drawingml/2006/main">
            <a:srgbClr val="0B243D"/>
          </a:solidFill>
          <a:ln xmlns:a="http://schemas.openxmlformats.org/drawingml/2006/main" w="0">
            <a:noFill/>
            <a:prstDash val="solid"/>
          </a:ln>
        </p:spPr>
      </p:sp>
      <p:sp>
        <p:nvSpPr>
          <p:cNvPr id="23" name="">
            <a:extLst xmlns:a="http://schemas.openxmlformats.org/drawingml/2006/main">
              <a:ext uri="{FF2B5EF4-FFF2-40B4-BE49-F238E27FC236}">
                <a16:creationId xmlns:a16="http://schemas.microsoft.com/office/drawing/2014/main" id="{F36301F3-71CA-4C92-B135-90BC34F83861}"/>
              </a:ext>
            </a:extLst>
          </p:cNvPr>
          <p:cNvSpPr>
            <a:spLocks xmlns:a="http://schemas.openxmlformats.org/drawingml/2006/main" noGrp="1"/>
          </p:cNvSpPr>
          <p:nvPr/>
        </p:nvSpPr>
        <p:spPr>
          <a:xfrm xmlns:a="http://schemas.openxmlformats.org/drawingml/2006/main">
            <a:off x="533400" y="6600825"/>
            <a:ext cx="3429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975" b="1">
                <a:solidFill>
                  <a:srgbClr val="FFFFFF"/>
                </a:solidFill>
              </a:defRPr>
            </a:pPr>
            <a:r>
              <a:rPr sz="975" b="1">
                <a:solidFill>
                  <a:srgbClr val="FFFFFF"/>
                </a:solidFill>
              </a:rPr>
              <a:t>PAL Environmental Services</a:t>
            </a:r>
          </a:p>
        </p:txBody>
      </p:sp>
      <p:sp>
        <p:nvSpPr>
          <p:cNvPr id="24" name="">
            <a:extLst xmlns:a="http://schemas.openxmlformats.org/drawingml/2006/main">
              <a:ext uri="{FF2B5EF4-FFF2-40B4-BE49-F238E27FC236}">
                <a16:creationId xmlns:a16="http://schemas.microsoft.com/office/drawing/2014/main" id="{CE7F9D98-F17C-4588-886C-B8070D979960}"/>
              </a:ext>
            </a:extLst>
          </p:cNvPr>
          <p:cNvSpPr>
            <a:spLocks xmlns:a="http://schemas.openxmlformats.org/drawingml/2006/main" noGrp="1"/>
          </p:cNvSpPr>
          <p:nvPr/>
        </p:nvSpPr>
        <p:spPr>
          <a:xfrm xmlns:a="http://schemas.openxmlformats.org/drawingml/2006/main">
            <a:off x="9620250" y="6600825"/>
            <a:ext cx="2095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900">
                <a:solidFill>
                  <a:srgbClr val="DDEAF5"/>
                </a:solidFill>
              </a:defRPr>
            </a:pPr>
            <a:r>
              <a:rPr sz="900">
                <a:solidFill>
                  <a:srgbClr val="DDEAF5"/>
                </a:solidFill>
              </a:rPr>
              <a:t>Employee Orientation  |  08</a:t>
            </a:r>
          </a:p>
        </p:txBody>
      </p:sp>
    </p:spTree>
    <p:extLst>
      <p:ext uri="{BB962C8B-B14F-4D97-AF65-F5344CB8AC3E}">
        <p14:creationId xmlns:p14="http://schemas.microsoft.com/office/powerpoint/2010/main" val="1538691848"/>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EA14F58F-553B-4AA7-AA65-8FD5B8A16B4E}"/>
              </a:ext>
            </a:extLst>
          </p:cNvPr>
          <p:cNvSpPr>
            <a:spLocks xmlns:a="http://schemas.openxmlformats.org/drawingml/2006/main" noGrp="1"/>
          </p:cNvSpPr>
          <p:nvPr/>
        </p:nvSpPr>
        <p:spPr>
          <a:xfrm xmlns:a="http://schemas.openxmlformats.org/drawingml/2006/main">
            <a:off x="0" y="0"/>
            <a:ext cx="12192000" cy="266700"/>
          </a:xfrm>
          <a:prstGeom xmlns:a="http://schemas.openxmlformats.org/drawingml/2006/main" prst="rect">
            <a:avLst/>
          </a:prstGeom>
          <a:solidFill xmlns:a="http://schemas.openxmlformats.org/drawingml/2006/main">
            <a:srgbClr val="0B243D"/>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AF9A0679-F69F-4CAC-BDB3-E066DC380045}"/>
              </a:ext>
            </a:extLst>
          </p:cNvPr>
          <p:cNvSpPr>
            <a:spLocks xmlns:a="http://schemas.openxmlformats.org/drawingml/2006/main" noGrp="1"/>
          </p:cNvSpPr>
          <p:nvPr/>
        </p:nvSpPr>
        <p:spPr>
          <a:xfrm xmlns:a="http://schemas.openxmlformats.org/drawingml/2006/main">
            <a:off x="0" y="266700"/>
            <a:ext cx="171450" cy="6248400"/>
          </a:xfrm>
          <a:prstGeom xmlns:a="http://schemas.openxmlformats.org/drawingml/2006/main" prst="rect">
            <a:avLst/>
          </a:prstGeom>
          <a:solidFill xmlns:a="http://schemas.openxmlformats.org/drawingml/2006/main">
            <a:srgbClr val="66C43A"/>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A29B42D6-770E-467A-BF66-910350FB1C43}"/>
              </a:ext>
            </a:extLst>
          </p:cNvPr>
          <p:cNvSpPr>
            <a:spLocks xmlns:a="http://schemas.openxmlformats.org/drawingml/2006/main" noGrp="1"/>
          </p:cNvSpPr>
          <p:nvPr/>
        </p:nvSpPr>
        <p:spPr>
          <a:xfrm xmlns:a="http://schemas.openxmlformats.org/drawingml/2006/main">
            <a:off x="533400" y="666750"/>
            <a:ext cx="44767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050" b="1">
                <a:solidFill>
                  <a:srgbClr val="5E6B7A"/>
                </a:solidFill>
              </a:defRPr>
            </a:pPr>
            <a:r>
              <a:rPr sz="1050" b="1">
                <a:solidFill>
                  <a:srgbClr val="5E6B7A"/>
                </a:solidFill>
              </a:rPr>
              <a:t>PAL LADDERS LAST</a:t>
            </a:r>
          </a:p>
        </p:txBody>
      </p:sp>
      <p:sp>
        <p:nvSpPr>
          <p:cNvPr id="4" name="">
            <a:extLst xmlns:a="http://schemas.openxmlformats.org/drawingml/2006/main">
              <a:ext uri="{FF2B5EF4-FFF2-40B4-BE49-F238E27FC236}">
                <a16:creationId xmlns:a16="http://schemas.microsoft.com/office/drawing/2014/main" id="{7C78D7FC-7EFD-48C8-B3F9-632D3892F743}"/>
              </a:ext>
            </a:extLst>
          </p:cNvPr>
          <p:cNvSpPr>
            <a:spLocks xmlns:a="http://schemas.openxmlformats.org/drawingml/2006/main" noGrp="1"/>
          </p:cNvSpPr>
          <p:nvPr/>
        </p:nvSpPr>
        <p:spPr>
          <a:xfrm xmlns:a="http://schemas.openxmlformats.org/drawingml/2006/main">
            <a:off x="533400" y="1047750"/>
            <a:ext cx="5524500" cy="1428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3150" b="1">
                <a:solidFill>
                  <a:srgbClr val="0B243D"/>
                </a:solidFill>
              </a:defRPr>
            </a:pPr>
            <a:r>
              <a:rPr sz="3150" b="1">
                <a:solidFill>
                  <a:srgbClr val="0B243D"/>
                </a:solidFill>
              </a:rPr>
              <a:t>Portable ladders are the last option.</a:t>
            </a:r>
          </a:p>
        </p:txBody>
      </p:sp>
      <p:sp>
        <p:nvSpPr>
          <p:cNvPr id="5" name="">
            <a:extLst xmlns:a="http://schemas.openxmlformats.org/drawingml/2006/main">
              <a:ext uri="{FF2B5EF4-FFF2-40B4-BE49-F238E27FC236}">
                <a16:creationId xmlns:a16="http://schemas.microsoft.com/office/drawing/2014/main" id="{DC5B2859-E647-405F-B605-F2D856DFE2F3}"/>
              </a:ext>
            </a:extLst>
          </p:cNvPr>
          <p:cNvSpPr>
            <a:spLocks xmlns:a="http://schemas.openxmlformats.org/drawingml/2006/main" noGrp="1"/>
          </p:cNvSpPr>
          <p:nvPr/>
        </p:nvSpPr>
        <p:spPr>
          <a:xfrm xmlns:a="http://schemas.openxmlformats.org/drawingml/2006/main">
            <a:off x="609600" y="2990850"/>
            <a:ext cx="114300" cy="114300"/>
          </a:xfrm>
          <a:prstGeom xmlns:a="http://schemas.openxmlformats.org/drawingml/2006/main" prst="rect">
            <a:avLst/>
          </a:prstGeom>
          <a:solidFill xmlns:a="http://schemas.openxmlformats.org/drawingml/2006/main">
            <a:srgbClr val="66C43A"/>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F5F37ECB-EB0E-46C9-A5A0-95C0936D68E4}"/>
              </a:ext>
            </a:extLst>
          </p:cNvPr>
          <p:cNvSpPr>
            <a:spLocks xmlns:a="http://schemas.openxmlformats.org/drawingml/2006/main" noGrp="1"/>
          </p:cNvSpPr>
          <p:nvPr/>
        </p:nvSpPr>
        <p:spPr>
          <a:xfrm xmlns:a="http://schemas.openxmlformats.org/drawingml/2006/main">
            <a:off x="914400" y="2914650"/>
            <a:ext cx="53340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800" b="1">
                <a:solidFill>
                  <a:srgbClr val="12233A"/>
                </a:solidFill>
              </a:defRPr>
            </a:pPr>
            <a:r>
              <a:rPr sz="1800" b="1">
                <a:solidFill>
                  <a:srgbClr val="12233A"/>
                </a:solidFill>
              </a:rPr>
              <a:t>1. Aerial lift</a:t>
            </a:r>
          </a:p>
        </p:txBody>
      </p:sp>
      <p:sp>
        <p:nvSpPr>
          <p:cNvPr id="7" name="">
            <a:extLst xmlns:a="http://schemas.openxmlformats.org/drawingml/2006/main">
              <a:ext uri="{FF2B5EF4-FFF2-40B4-BE49-F238E27FC236}">
                <a16:creationId xmlns:a16="http://schemas.microsoft.com/office/drawing/2014/main" id="{49F0BB19-CB48-4EB7-BDDF-48C56D408733}"/>
              </a:ext>
            </a:extLst>
          </p:cNvPr>
          <p:cNvSpPr>
            <a:spLocks xmlns:a="http://schemas.openxmlformats.org/drawingml/2006/main" noGrp="1"/>
          </p:cNvSpPr>
          <p:nvPr/>
        </p:nvSpPr>
        <p:spPr>
          <a:xfrm xmlns:a="http://schemas.openxmlformats.org/drawingml/2006/main">
            <a:off x="609600" y="3600450"/>
            <a:ext cx="114300" cy="114300"/>
          </a:xfrm>
          <a:prstGeom xmlns:a="http://schemas.openxmlformats.org/drawingml/2006/main" prst="rect">
            <a:avLst/>
          </a:prstGeom>
          <a:solidFill xmlns:a="http://schemas.openxmlformats.org/drawingml/2006/main">
            <a:srgbClr val="66C43A"/>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35FD21B9-C797-4482-91A6-492F0DF4E0B2}"/>
              </a:ext>
            </a:extLst>
          </p:cNvPr>
          <p:cNvSpPr>
            <a:spLocks xmlns:a="http://schemas.openxmlformats.org/drawingml/2006/main" noGrp="1"/>
          </p:cNvSpPr>
          <p:nvPr/>
        </p:nvSpPr>
        <p:spPr>
          <a:xfrm xmlns:a="http://schemas.openxmlformats.org/drawingml/2006/main">
            <a:off x="914400" y="3524250"/>
            <a:ext cx="53340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800" b="0">
                <a:solidFill>
                  <a:srgbClr val="12233A"/>
                </a:solidFill>
              </a:defRPr>
            </a:pPr>
            <a:r>
              <a:rPr sz="1800" b="0">
                <a:solidFill>
                  <a:srgbClr val="12233A"/>
                </a:solidFill>
              </a:rPr>
              <a:t>2. Scaffolding</a:t>
            </a:r>
          </a:p>
        </p:txBody>
      </p:sp>
      <p:sp>
        <p:nvSpPr>
          <p:cNvPr id="9" name="">
            <a:extLst xmlns:a="http://schemas.openxmlformats.org/drawingml/2006/main">
              <a:ext uri="{FF2B5EF4-FFF2-40B4-BE49-F238E27FC236}">
                <a16:creationId xmlns:a16="http://schemas.microsoft.com/office/drawing/2014/main" id="{F4749E56-BF0E-4E07-9D08-46D268C48A2F}"/>
              </a:ext>
            </a:extLst>
          </p:cNvPr>
          <p:cNvSpPr>
            <a:spLocks xmlns:a="http://schemas.openxmlformats.org/drawingml/2006/main" noGrp="1"/>
          </p:cNvSpPr>
          <p:nvPr/>
        </p:nvSpPr>
        <p:spPr>
          <a:xfrm xmlns:a="http://schemas.openxmlformats.org/drawingml/2006/main">
            <a:off x="609600" y="4210050"/>
            <a:ext cx="114300" cy="114300"/>
          </a:xfrm>
          <a:prstGeom xmlns:a="http://schemas.openxmlformats.org/drawingml/2006/main" prst="rect">
            <a:avLst/>
          </a:prstGeom>
          <a:solidFill xmlns:a="http://schemas.openxmlformats.org/drawingml/2006/main">
            <a:srgbClr val="66C43A"/>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712FE014-2A2D-4550-AE81-A3938B9DAD85}"/>
              </a:ext>
            </a:extLst>
          </p:cNvPr>
          <p:cNvSpPr>
            <a:spLocks xmlns:a="http://schemas.openxmlformats.org/drawingml/2006/main" noGrp="1"/>
          </p:cNvSpPr>
          <p:nvPr/>
        </p:nvSpPr>
        <p:spPr>
          <a:xfrm xmlns:a="http://schemas.openxmlformats.org/drawingml/2006/main">
            <a:off x="914400" y="4133850"/>
            <a:ext cx="53340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800" b="0">
                <a:solidFill>
                  <a:srgbClr val="12233A"/>
                </a:solidFill>
              </a:defRPr>
            </a:pPr>
            <a:r>
              <a:rPr sz="1800" b="0">
                <a:solidFill>
                  <a:srgbClr val="12233A"/>
                </a:solidFill>
              </a:rPr>
              <a:t>3. Podium or platform ladder</a:t>
            </a:r>
          </a:p>
        </p:txBody>
      </p:sp>
      <p:sp>
        <p:nvSpPr>
          <p:cNvPr id="11" name="">
            <a:extLst xmlns:a="http://schemas.openxmlformats.org/drawingml/2006/main">
              <a:ext uri="{FF2B5EF4-FFF2-40B4-BE49-F238E27FC236}">
                <a16:creationId xmlns:a16="http://schemas.microsoft.com/office/drawing/2014/main" id="{F5FB3471-8619-4282-98C8-B2187D10278E}"/>
              </a:ext>
            </a:extLst>
          </p:cNvPr>
          <p:cNvSpPr>
            <a:spLocks xmlns:a="http://schemas.openxmlformats.org/drawingml/2006/main" noGrp="1"/>
          </p:cNvSpPr>
          <p:nvPr/>
        </p:nvSpPr>
        <p:spPr>
          <a:xfrm xmlns:a="http://schemas.openxmlformats.org/drawingml/2006/main">
            <a:off x="609600" y="4819650"/>
            <a:ext cx="114300" cy="114300"/>
          </a:xfrm>
          <a:prstGeom xmlns:a="http://schemas.openxmlformats.org/drawingml/2006/main" prst="rect">
            <a:avLst/>
          </a:prstGeom>
          <a:solidFill xmlns:a="http://schemas.openxmlformats.org/drawingml/2006/main">
            <a:srgbClr val="66C43A"/>
          </a:solidFill>
          <a:ln xmlns:a="http://schemas.openxmlformats.org/drawingml/2006/main" w="0">
            <a:noFill/>
            <a:prstDash val="solid"/>
          </a:ln>
        </p:spPr>
      </p:sp>
      <p:sp>
        <p:nvSpPr>
          <p:cNvPr id="12" name="">
            <a:extLst xmlns:a="http://schemas.openxmlformats.org/drawingml/2006/main">
              <a:ext uri="{FF2B5EF4-FFF2-40B4-BE49-F238E27FC236}">
                <a16:creationId xmlns:a16="http://schemas.microsoft.com/office/drawing/2014/main" id="{B7BCB86A-DC7C-4805-BD00-53D91F010978}"/>
              </a:ext>
            </a:extLst>
          </p:cNvPr>
          <p:cNvSpPr>
            <a:spLocks xmlns:a="http://schemas.openxmlformats.org/drawingml/2006/main" noGrp="1"/>
          </p:cNvSpPr>
          <p:nvPr/>
        </p:nvSpPr>
        <p:spPr>
          <a:xfrm xmlns:a="http://schemas.openxmlformats.org/drawingml/2006/main">
            <a:off x="914400" y="4743450"/>
            <a:ext cx="53340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800" b="0">
                <a:solidFill>
                  <a:srgbClr val="12233A"/>
                </a:solidFill>
              </a:defRPr>
            </a:pPr>
            <a:r>
              <a:rPr sz="1800" b="0">
                <a:solidFill>
                  <a:srgbClr val="12233A"/>
                </a:solidFill>
              </a:rPr>
              <a:t>4. Traditional portable ladder only when permitted</a:t>
            </a:r>
          </a:p>
        </p:txBody>
      </p:sp>
      <p:sp>
        <p:nvSpPr>
          <p:cNvPr id="13" name="">
            <a:extLst xmlns:a="http://schemas.openxmlformats.org/drawingml/2006/main">
              <a:ext uri="{FF2B5EF4-FFF2-40B4-BE49-F238E27FC236}">
                <a16:creationId xmlns:a16="http://schemas.microsoft.com/office/drawing/2014/main" id="{BC97F2F8-3B2F-4F2C-9576-6CAEA588E8A9}"/>
              </a:ext>
            </a:extLst>
          </p:cNvPr>
          <p:cNvSpPr>
            <a:spLocks xmlns:a="http://schemas.openxmlformats.org/drawingml/2006/main" noGrp="1"/>
          </p:cNvSpPr>
          <p:nvPr/>
        </p:nvSpPr>
        <p:spPr>
          <a:xfrm xmlns:a="http://schemas.openxmlformats.org/drawingml/2006/main">
            <a:off x="6858000" y="704850"/>
            <a:ext cx="4495800" cy="4953000"/>
          </a:xfrm>
          <a:prstGeom xmlns:a="http://schemas.openxmlformats.org/drawingml/2006/main" prst="rect">
            <a:avLst/>
          </a:prstGeom>
          <a:solidFill xmlns:a="http://schemas.openxmlformats.org/drawingml/2006/main">
            <a:srgbClr val="F3F6F8"/>
          </a:solidFill>
          <a:ln xmlns:a="http://schemas.openxmlformats.org/drawingml/2006/main" w="9525">
            <a:solidFill>
              <a:srgbClr val="D8E1EA"/>
            </a:solidFill>
            <a:prstDash val="solid"/>
          </a:ln>
        </p:spPr>
      </p:sp>
      <p:sp>
        <p:nvSpPr>
          <p:cNvPr id="14" name="">
            <a:extLst xmlns:a="http://schemas.openxmlformats.org/drawingml/2006/main">
              <a:ext uri="{FF2B5EF4-FFF2-40B4-BE49-F238E27FC236}">
                <a16:creationId xmlns:a16="http://schemas.microsoft.com/office/drawing/2014/main" id="{FB1A6C5D-BA4F-476B-9BD2-5C84BD05604B}"/>
              </a:ext>
            </a:extLst>
          </p:cNvPr>
          <p:cNvSpPr>
            <a:spLocks xmlns:a="http://schemas.openxmlformats.org/drawingml/2006/main" noGrp="1"/>
          </p:cNvSpPr>
          <p:nvPr/>
        </p:nvSpPr>
        <p:spPr>
          <a:xfrm xmlns:a="http://schemas.openxmlformats.org/drawingml/2006/main">
            <a:off x="6858000" y="704850"/>
            <a:ext cx="4495800" cy="114300"/>
          </a:xfrm>
          <a:prstGeom xmlns:a="http://schemas.openxmlformats.org/drawingml/2006/main" prst="rect">
            <a:avLst/>
          </a:prstGeom>
          <a:solidFill xmlns:a="http://schemas.openxmlformats.org/drawingml/2006/main">
            <a:srgbClr val="66C43A"/>
          </a:solidFill>
          <a:ln xmlns:a="http://schemas.openxmlformats.org/drawingml/2006/main" w="0">
            <a:noFill/>
            <a:prstDash val="solid"/>
          </a:ln>
        </p:spPr>
      </p:sp>
      <p:sp>
        <p:nvSpPr>
          <p:cNvPr id="15" name="">
            <a:extLst xmlns:a="http://schemas.openxmlformats.org/drawingml/2006/main">
              <a:ext uri="{FF2B5EF4-FFF2-40B4-BE49-F238E27FC236}">
                <a16:creationId xmlns:a16="http://schemas.microsoft.com/office/drawing/2014/main" id="{4CA9C500-B8FF-4545-BEF3-9283ECC5302F}"/>
              </a:ext>
            </a:extLst>
          </p:cNvPr>
          <p:cNvSpPr>
            <a:spLocks xmlns:a="http://schemas.openxmlformats.org/drawingml/2006/main" noGrp="1"/>
          </p:cNvSpPr>
          <p:nvPr/>
        </p:nvSpPr>
        <p:spPr>
          <a:xfrm xmlns:a="http://schemas.openxmlformats.org/drawingml/2006/main">
            <a:off x="7200900" y="1123950"/>
            <a:ext cx="1714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050" b="1">
                <a:solidFill>
                  <a:srgbClr val="5E6B7A"/>
                </a:solidFill>
              </a:defRPr>
            </a:pPr>
            <a:r>
              <a:rPr sz="1050" b="1">
                <a:solidFill>
                  <a:srgbClr val="5E6B7A"/>
                </a:solidFill>
              </a:rPr>
              <a:t>VIDEO VISUAL</a:t>
            </a:r>
          </a:p>
        </p:txBody>
      </p:sp>
      <p:sp>
        <p:nvSpPr>
          <p:cNvPr id="16" name="">
            <a:extLst xmlns:a="http://schemas.openxmlformats.org/drawingml/2006/main">
              <a:ext uri="{FF2B5EF4-FFF2-40B4-BE49-F238E27FC236}">
                <a16:creationId xmlns:a16="http://schemas.microsoft.com/office/drawing/2014/main" id="{C190F685-EB48-4915-8897-0A2F85171158}"/>
              </a:ext>
            </a:extLst>
          </p:cNvPr>
          <p:cNvSpPr>
            <a:spLocks xmlns:a="http://schemas.openxmlformats.org/drawingml/2006/main" noGrp="1"/>
          </p:cNvSpPr>
          <p:nvPr/>
        </p:nvSpPr>
        <p:spPr>
          <a:xfrm xmlns:a="http://schemas.openxmlformats.org/drawingml/2006/main">
            <a:off x="7200900" y="1543050"/>
            <a:ext cx="3810000" cy="1047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800" b="1">
                <a:solidFill>
                  <a:srgbClr val="12233A"/>
                </a:solidFill>
              </a:defRPr>
            </a:pPr>
            <a:r>
              <a:rPr sz="1800" b="1">
                <a:solidFill>
                  <a:srgbClr val="12233A"/>
                </a:solidFill>
              </a:rPr>
              <a:t>Show the PAL Ladder Last hierarchy clearly from safer option to last resort.</a:t>
            </a:r>
          </a:p>
        </p:txBody>
      </p:sp>
      <p:sp>
        <p:nvSpPr>
          <p:cNvPr id="17" name="">
            <a:extLst xmlns:a="http://schemas.openxmlformats.org/drawingml/2006/main">
              <a:ext uri="{FF2B5EF4-FFF2-40B4-BE49-F238E27FC236}">
                <a16:creationId xmlns:a16="http://schemas.microsoft.com/office/drawing/2014/main" id="{FDFB6816-B18B-405C-8846-FD7BF503C6DA}"/>
              </a:ext>
            </a:extLst>
          </p:cNvPr>
          <p:cNvSpPr>
            <a:spLocks xmlns:a="http://schemas.openxmlformats.org/drawingml/2006/main" noGrp="1"/>
          </p:cNvSpPr>
          <p:nvPr/>
        </p:nvSpPr>
        <p:spPr>
          <a:xfrm xmlns:a="http://schemas.openxmlformats.org/drawingml/2006/main">
            <a:off x="7200900" y="3028950"/>
            <a:ext cx="171450" cy="171450"/>
          </a:xfrm>
          <a:prstGeom xmlns:a="http://schemas.openxmlformats.org/drawingml/2006/main" prst="rect">
            <a:avLst/>
          </a:prstGeom>
          <a:solidFill xmlns:a="http://schemas.openxmlformats.org/drawingml/2006/main">
            <a:srgbClr val="66C43A"/>
          </a:solidFill>
          <a:ln xmlns:a="http://schemas.openxmlformats.org/drawingml/2006/main" w="0">
            <a:noFill/>
            <a:prstDash val="solid"/>
          </a:ln>
        </p:spPr>
      </p:sp>
      <p:sp>
        <p:nvSpPr>
          <p:cNvPr id="18" name="">
            <a:extLst xmlns:a="http://schemas.openxmlformats.org/drawingml/2006/main">
              <a:ext uri="{FF2B5EF4-FFF2-40B4-BE49-F238E27FC236}">
                <a16:creationId xmlns:a16="http://schemas.microsoft.com/office/drawing/2014/main" id="{6D19CAC2-4B1E-4BBA-8614-09D968754D28}"/>
              </a:ext>
            </a:extLst>
          </p:cNvPr>
          <p:cNvSpPr>
            <a:spLocks xmlns:a="http://schemas.openxmlformats.org/drawingml/2006/main" noGrp="1"/>
          </p:cNvSpPr>
          <p:nvPr/>
        </p:nvSpPr>
        <p:spPr>
          <a:xfrm xmlns:a="http://schemas.openxmlformats.org/drawingml/2006/main">
            <a:off x="7524750" y="3000375"/>
            <a:ext cx="3143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500" b="1">
                <a:solidFill>
                  <a:srgbClr val="0B243D"/>
                </a:solidFill>
              </a:defRPr>
            </a:pPr>
            <a:r>
              <a:rPr sz="1500" b="1">
                <a:solidFill>
                  <a:srgbClr val="0B243D"/>
                </a:solidFill>
              </a:rPr>
              <a:t>Aerial lift</a:t>
            </a:r>
          </a:p>
        </p:txBody>
      </p:sp>
      <p:sp>
        <p:nvSpPr>
          <p:cNvPr id="19" name="">
            <a:extLst xmlns:a="http://schemas.openxmlformats.org/drawingml/2006/main">
              <a:ext uri="{FF2B5EF4-FFF2-40B4-BE49-F238E27FC236}">
                <a16:creationId xmlns:a16="http://schemas.microsoft.com/office/drawing/2014/main" id="{E325EB10-A13D-449F-BA55-34EA4FBEFBDF}"/>
              </a:ext>
            </a:extLst>
          </p:cNvPr>
          <p:cNvSpPr>
            <a:spLocks xmlns:a="http://schemas.openxmlformats.org/drawingml/2006/main" noGrp="1"/>
          </p:cNvSpPr>
          <p:nvPr/>
        </p:nvSpPr>
        <p:spPr>
          <a:xfrm xmlns:a="http://schemas.openxmlformats.org/drawingml/2006/main">
            <a:off x="7200900" y="3467100"/>
            <a:ext cx="171450" cy="171450"/>
          </a:xfrm>
          <a:prstGeom xmlns:a="http://schemas.openxmlformats.org/drawingml/2006/main" prst="rect">
            <a:avLst/>
          </a:prstGeom>
          <a:solidFill xmlns:a="http://schemas.openxmlformats.org/drawingml/2006/main">
            <a:srgbClr val="66C43A"/>
          </a:solidFill>
          <a:ln xmlns:a="http://schemas.openxmlformats.org/drawingml/2006/main" w="0">
            <a:noFill/>
            <a:prstDash val="solid"/>
          </a:ln>
        </p:spPr>
      </p:sp>
      <p:sp>
        <p:nvSpPr>
          <p:cNvPr id="20" name="">
            <a:extLst xmlns:a="http://schemas.openxmlformats.org/drawingml/2006/main">
              <a:ext uri="{FF2B5EF4-FFF2-40B4-BE49-F238E27FC236}">
                <a16:creationId xmlns:a16="http://schemas.microsoft.com/office/drawing/2014/main" id="{BAE146FE-3375-460C-BBA4-9A51FA91F961}"/>
              </a:ext>
            </a:extLst>
          </p:cNvPr>
          <p:cNvSpPr>
            <a:spLocks xmlns:a="http://schemas.openxmlformats.org/drawingml/2006/main" noGrp="1"/>
          </p:cNvSpPr>
          <p:nvPr/>
        </p:nvSpPr>
        <p:spPr>
          <a:xfrm xmlns:a="http://schemas.openxmlformats.org/drawingml/2006/main">
            <a:off x="7524750" y="3438525"/>
            <a:ext cx="3143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500" b="1">
                <a:solidFill>
                  <a:srgbClr val="0B243D"/>
                </a:solidFill>
              </a:defRPr>
            </a:pPr>
            <a:r>
              <a:rPr sz="1500" b="1">
                <a:solidFill>
                  <a:srgbClr val="0B243D"/>
                </a:solidFill>
              </a:rPr>
              <a:t>Scaffolding</a:t>
            </a:r>
          </a:p>
        </p:txBody>
      </p:sp>
      <p:sp>
        <p:nvSpPr>
          <p:cNvPr id="21" name="">
            <a:extLst xmlns:a="http://schemas.openxmlformats.org/drawingml/2006/main">
              <a:ext uri="{FF2B5EF4-FFF2-40B4-BE49-F238E27FC236}">
                <a16:creationId xmlns:a16="http://schemas.microsoft.com/office/drawing/2014/main" id="{4C265308-5D6F-4F7C-B224-5544630B4508}"/>
              </a:ext>
            </a:extLst>
          </p:cNvPr>
          <p:cNvSpPr>
            <a:spLocks xmlns:a="http://schemas.openxmlformats.org/drawingml/2006/main" noGrp="1"/>
          </p:cNvSpPr>
          <p:nvPr/>
        </p:nvSpPr>
        <p:spPr>
          <a:xfrm xmlns:a="http://schemas.openxmlformats.org/drawingml/2006/main">
            <a:off x="7200900" y="3905250"/>
            <a:ext cx="171450" cy="171450"/>
          </a:xfrm>
          <a:prstGeom xmlns:a="http://schemas.openxmlformats.org/drawingml/2006/main" prst="rect">
            <a:avLst/>
          </a:prstGeom>
          <a:solidFill xmlns:a="http://schemas.openxmlformats.org/drawingml/2006/main">
            <a:srgbClr val="66C43A"/>
          </a:solidFill>
          <a:ln xmlns:a="http://schemas.openxmlformats.org/drawingml/2006/main" w="0">
            <a:noFill/>
            <a:prstDash val="solid"/>
          </a:ln>
        </p:spPr>
      </p:sp>
      <p:sp>
        <p:nvSpPr>
          <p:cNvPr id="22" name="">
            <a:extLst xmlns:a="http://schemas.openxmlformats.org/drawingml/2006/main">
              <a:ext uri="{FF2B5EF4-FFF2-40B4-BE49-F238E27FC236}">
                <a16:creationId xmlns:a16="http://schemas.microsoft.com/office/drawing/2014/main" id="{15D67EB7-DDBF-4A16-8F2F-0B69A793F333}"/>
              </a:ext>
            </a:extLst>
          </p:cNvPr>
          <p:cNvSpPr>
            <a:spLocks xmlns:a="http://schemas.openxmlformats.org/drawingml/2006/main" noGrp="1"/>
          </p:cNvSpPr>
          <p:nvPr/>
        </p:nvSpPr>
        <p:spPr>
          <a:xfrm xmlns:a="http://schemas.openxmlformats.org/drawingml/2006/main">
            <a:off x="7524750" y="3876675"/>
            <a:ext cx="3143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500" b="1">
                <a:solidFill>
                  <a:srgbClr val="0B243D"/>
                </a:solidFill>
              </a:defRPr>
            </a:pPr>
            <a:r>
              <a:rPr sz="1500" b="1">
                <a:solidFill>
                  <a:srgbClr val="0B243D"/>
                </a:solidFill>
              </a:rPr>
              <a:t>Podium or platform ladder</a:t>
            </a:r>
          </a:p>
        </p:txBody>
      </p:sp>
      <p:sp>
        <p:nvSpPr>
          <p:cNvPr id="23" name="">
            <a:extLst xmlns:a="http://schemas.openxmlformats.org/drawingml/2006/main">
              <a:ext uri="{FF2B5EF4-FFF2-40B4-BE49-F238E27FC236}">
                <a16:creationId xmlns:a16="http://schemas.microsoft.com/office/drawing/2014/main" id="{4D6A2F28-065D-4462-BD9A-FDDA2BF3FB50}"/>
              </a:ext>
            </a:extLst>
          </p:cNvPr>
          <p:cNvSpPr>
            <a:spLocks xmlns:a="http://schemas.openxmlformats.org/drawingml/2006/main" noGrp="1"/>
          </p:cNvSpPr>
          <p:nvPr/>
        </p:nvSpPr>
        <p:spPr>
          <a:xfrm xmlns:a="http://schemas.openxmlformats.org/drawingml/2006/main">
            <a:off x="7200900" y="4343400"/>
            <a:ext cx="171450" cy="171450"/>
          </a:xfrm>
          <a:prstGeom xmlns:a="http://schemas.openxmlformats.org/drawingml/2006/main" prst="rect">
            <a:avLst/>
          </a:prstGeom>
          <a:solidFill xmlns:a="http://schemas.openxmlformats.org/drawingml/2006/main">
            <a:srgbClr val="66C43A"/>
          </a:solidFill>
          <a:ln xmlns:a="http://schemas.openxmlformats.org/drawingml/2006/main" w="0">
            <a:noFill/>
            <a:prstDash val="solid"/>
          </a:ln>
        </p:spPr>
      </p:sp>
      <p:sp>
        <p:nvSpPr>
          <p:cNvPr id="24" name="">
            <a:extLst xmlns:a="http://schemas.openxmlformats.org/drawingml/2006/main">
              <a:ext uri="{FF2B5EF4-FFF2-40B4-BE49-F238E27FC236}">
                <a16:creationId xmlns:a16="http://schemas.microsoft.com/office/drawing/2014/main" id="{86E1CB15-D3A3-4A1E-A8A9-A3B0C6FF3140}"/>
              </a:ext>
            </a:extLst>
          </p:cNvPr>
          <p:cNvSpPr>
            <a:spLocks xmlns:a="http://schemas.openxmlformats.org/drawingml/2006/main" noGrp="1"/>
          </p:cNvSpPr>
          <p:nvPr/>
        </p:nvSpPr>
        <p:spPr>
          <a:xfrm xmlns:a="http://schemas.openxmlformats.org/drawingml/2006/main">
            <a:off x="7524750" y="4314825"/>
            <a:ext cx="3143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500" b="1">
                <a:solidFill>
                  <a:srgbClr val="0B243D"/>
                </a:solidFill>
              </a:defRPr>
            </a:pPr>
            <a:r>
              <a:rPr sz="1500" b="1">
                <a:solidFill>
                  <a:srgbClr val="0B243D"/>
                </a:solidFill>
              </a:rPr>
              <a:t>Traditional portable ladder only when permitted</a:t>
            </a:r>
          </a:p>
        </p:txBody>
      </p:sp>
      <p:sp>
        <p:nvSpPr>
          <p:cNvPr id="25" name="">
            <a:extLst xmlns:a="http://schemas.openxmlformats.org/drawingml/2006/main">
              <a:ext uri="{FF2B5EF4-FFF2-40B4-BE49-F238E27FC236}">
                <a16:creationId xmlns:a16="http://schemas.microsoft.com/office/drawing/2014/main" id="{71117237-E500-4946-AC1F-3A36DA6C2DA3}"/>
              </a:ext>
            </a:extLst>
          </p:cNvPr>
          <p:cNvSpPr>
            <a:spLocks xmlns:a="http://schemas.openxmlformats.org/drawingml/2006/main" noGrp="1"/>
          </p:cNvSpPr>
          <p:nvPr/>
        </p:nvSpPr>
        <p:spPr>
          <a:xfrm xmlns:a="http://schemas.openxmlformats.org/drawingml/2006/main">
            <a:off x="7200900" y="5219700"/>
            <a:ext cx="1714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975" b="1">
                <a:solidFill>
                  <a:srgbClr val="5E6B7A"/>
                </a:solidFill>
              </a:defRPr>
            </a:pPr>
            <a:r>
              <a:rPr sz="975" b="1">
                <a:solidFill>
                  <a:srgbClr val="5E6B7A"/>
                </a:solidFill>
              </a:rPr>
              <a:t>Scene 9</a:t>
            </a:r>
          </a:p>
        </p:txBody>
      </p:sp>
      <p:sp>
        <p:nvSpPr>
          <p:cNvPr id="26" name="">
            <a:extLst xmlns:a="http://schemas.openxmlformats.org/drawingml/2006/main">
              <a:ext uri="{FF2B5EF4-FFF2-40B4-BE49-F238E27FC236}">
                <a16:creationId xmlns:a16="http://schemas.microsoft.com/office/drawing/2014/main" id="{99B56D92-88D9-4AF8-A2FD-17A8AE6F290E}"/>
              </a:ext>
            </a:extLst>
          </p:cNvPr>
          <p:cNvSpPr>
            <a:spLocks xmlns:a="http://schemas.openxmlformats.org/drawingml/2006/main" noGrp="1"/>
          </p:cNvSpPr>
          <p:nvPr/>
        </p:nvSpPr>
        <p:spPr>
          <a:xfrm xmlns:a="http://schemas.openxmlformats.org/drawingml/2006/main">
            <a:off x="0" y="6515100"/>
            <a:ext cx="12192000" cy="342900"/>
          </a:xfrm>
          <a:prstGeom xmlns:a="http://schemas.openxmlformats.org/drawingml/2006/main" prst="rect">
            <a:avLst/>
          </a:prstGeom>
          <a:solidFill xmlns:a="http://schemas.openxmlformats.org/drawingml/2006/main">
            <a:srgbClr val="0B243D"/>
          </a:solidFill>
          <a:ln xmlns:a="http://schemas.openxmlformats.org/drawingml/2006/main" w="0">
            <a:noFill/>
            <a:prstDash val="solid"/>
          </a:ln>
        </p:spPr>
      </p:sp>
      <p:sp>
        <p:nvSpPr>
          <p:cNvPr id="27" name="">
            <a:extLst xmlns:a="http://schemas.openxmlformats.org/drawingml/2006/main">
              <a:ext uri="{FF2B5EF4-FFF2-40B4-BE49-F238E27FC236}">
                <a16:creationId xmlns:a16="http://schemas.microsoft.com/office/drawing/2014/main" id="{0DFCA8B8-4855-4000-9FB9-6651872BDC55}"/>
              </a:ext>
            </a:extLst>
          </p:cNvPr>
          <p:cNvSpPr>
            <a:spLocks xmlns:a="http://schemas.openxmlformats.org/drawingml/2006/main" noGrp="1"/>
          </p:cNvSpPr>
          <p:nvPr/>
        </p:nvSpPr>
        <p:spPr>
          <a:xfrm xmlns:a="http://schemas.openxmlformats.org/drawingml/2006/main">
            <a:off x="533400" y="6600825"/>
            <a:ext cx="3429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975" b="1">
                <a:solidFill>
                  <a:srgbClr val="FFFFFF"/>
                </a:solidFill>
              </a:defRPr>
            </a:pPr>
            <a:r>
              <a:rPr sz="975" b="1">
                <a:solidFill>
                  <a:srgbClr val="FFFFFF"/>
                </a:solidFill>
              </a:rPr>
              <a:t>PAL Environmental Services</a:t>
            </a:r>
          </a:p>
        </p:txBody>
      </p:sp>
      <p:sp>
        <p:nvSpPr>
          <p:cNvPr id="28" name="">
            <a:extLst xmlns:a="http://schemas.openxmlformats.org/drawingml/2006/main">
              <a:ext uri="{FF2B5EF4-FFF2-40B4-BE49-F238E27FC236}">
                <a16:creationId xmlns:a16="http://schemas.microsoft.com/office/drawing/2014/main" id="{D9597F8B-6F90-452C-AEF1-B50B667A8A02}"/>
              </a:ext>
            </a:extLst>
          </p:cNvPr>
          <p:cNvSpPr>
            <a:spLocks xmlns:a="http://schemas.openxmlformats.org/drawingml/2006/main" noGrp="1"/>
          </p:cNvSpPr>
          <p:nvPr/>
        </p:nvSpPr>
        <p:spPr>
          <a:xfrm xmlns:a="http://schemas.openxmlformats.org/drawingml/2006/main">
            <a:off x="9620250" y="6600825"/>
            <a:ext cx="2095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900">
                <a:solidFill>
                  <a:srgbClr val="DDEAF5"/>
                </a:solidFill>
              </a:defRPr>
            </a:pPr>
            <a:r>
              <a:rPr sz="900">
                <a:solidFill>
                  <a:srgbClr val="DDEAF5"/>
                </a:solidFill>
              </a:rPr>
              <a:t>Employee Orientation  |  09</a:t>
            </a:r>
          </a:p>
        </p:txBody>
      </p:sp>
    </p:spTree>
    <p:extLst>
      <p:ext uri="{BB962C8B-B14F-4D97-AF65-F5344CB8AC3E}">
        <p14:creationId xmlns:p14="http://schemas.microsoft.com/office/powerpoint/2010/main" val="1531697747"/>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909A3AD3-7EED-4731-B672-51603E9CAC0B}"/>
              </a:ext>
            </a:extLst>
          </p:cNvPr>
          <p:cNvSpPr>
            <a:spLocks xmlns:a="http://schemas.openxmlformats.org/drawingml/2006/main" noGrp="1"/>
          </p:cNvSpPr>
          <p:nvPr/>
        </p:nvSpPr>
        <p:spPr>
          <a:xfrm xmlns:a="http://schemas.openxmlformats.org/drawingml/2006/main">
            <a:off x="0" y="0"/>
            <a:ext cx="12192000" cy="266700"/>
          </a:xfrm>
          <a:prstGeom xmlns:a="http://schemas.openxmlformats.org/drawingml/2006/main" prst="rect">
            <a:avLst/>
          </a:prstGeom>
          <a:solidFill xmlns:a="http://schemas.openxmlformats.org/drawingml/2006/main">
            <a:srgbClr val="0B243D"/>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C20CAFA2-7948-4155-B6DB-7B204D6906F9}"/>
              </a:ext>
            </a:extLst>
          </p:cNvPr>
          <p:cNvSpPr>
            <a:spLocks xmlns:a="http://schemas.openxmlformats.org/drawingml/2006/main" noGrp="1"/>
          </p:cNvSpPr>
          <p:nvPr/>
        </p:nvSpPr>
        <p:spPr>
          <a:xfrm xmlns:a="http://schemas.openxmlformats.org/drawingml/2006/main">
            <a:off x="0" y="266700"/>
            <a:ext cx="171450" cy="6248400"/>
          </a:xfrm>
          <a:prstGeom xmlns:a="http://schemas.openxmlformats.org/drawingml/2006/main" prst="rect">
            <a:avLst/>
          </a:prstGeom>
          <a:solidFill xmlns:a="http://schemas.openxmlformats.org/drawingml/2006/main">
            <a:srgbClr val="66C43A"/>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652823AC-CC9A-4688-9A34-1F9E71F971FF}"/>
              </a:ext>
            </a:extLst>
          </p:cNvPr>
          <p:cNvSpPr>
            <a:spLocks xmlns:a="http://schemas.openxmlformats.org/drawingml/2006/main" noGrp="1"/>
          </p:cNvSpPr>
          <p:nvPr/>
        </p:nvSpPr>
        <p:spPr>
          <a:xfrm xmlns:a="http://schemas.openxmlformats.org/drawingml/2006/main">
            <a:off x="533400" y="666750"/>
            <a:ext cx="44767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050" b="1">
                <a:solidFill>
                  <a:srgbClr val="5E6B7A"/>
                </a:solidFill>
              </a:defRPr>
            </a:pPr>
            <a:r>
              <a:rPr sz="1050" b="1">
                <a:solidFill>
                  <a:srgbClr val="5E6B7A"/>
                </a:solidFill>
              </a:rPr>
              <a:t>LADDER PLANNING</a:t>
            </a:r>
          </a:p>
        </p:txBody>
      </p:sp>
      <p:sp>
        <p:nvSpPr>
          <p:cNvPr id="4" name="">
            <a:extLst xmlns:a="http://schemas.openxmlformats.org/drawingml/2006/main">
              <a:ext uri="{FF2B5EF4-FFF2-40B4-BE49-F238E27FC236}">
                <a16:creationId xmlns:a16="http://schemas.microsoft.com/office/drawing/2014/main" id="{E427B452-A85E-4D81-B86F-3F3EBDBBBB7E}"/>
              </a:ext>
            </a:extLst>
          </p:cNvPr>
          <p:cNvSpPr>
            <a:spLocks xmlns:a="http://schemas.openxmlformats.org/drawingml/2006/main" noGrp="1"/>
          </p:cNvSpPr>
          <p:nvPr/>
        </p:nvSpPr>
        <p:spPr>
          <a:xfrm xmlns:a="http://schemas.openxmlformats.org/drawingml/2006/main">
            <a:off x="533400" y="1047750"/>
            <a:ext cx="5524500" cy="1428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3150" b="1">
                <a:solidFill>
                  <a:srgbClr val="0B243D"/>
                </a:solidFill>
              </a:defRPr>
            </a:pPr>
            <a:r>
              <a:rPr sz="3150" b="1">
                <a:solidFill>
                  <a:srgbClr val="0B243D"/>
                </a:solidFill>
              </a:rPr>
              <a:t>Select access equipment before the task starts.</a:t>
            </a:r>
          </a:p>
        </p:txBody>
      </p:sp>
      <p:sp>
        <p:nvSpPr>
          <p:cNvPr id="5" name="">
            <a:extLst xmlns:a="http://schemas.openxmlformats.org/drawingml/2006/main">
              <a:ext uri="{FF2B5EF4-FFF2-40B4-BE49-F238E27FC236}">
                <a16:creationId xmlns:a16="http://schemas.microsoft.com/office/drawing/2014/main" id="{42E2FA16-8D0C-4D89-BB90-95B1791CBA20}"/>
              </a:ext>
            </a:extLst>
          </p:cNvPr>
          <p:cNvSpPr>
            <a:spLocks xmlns:a="http://schemas.openxmlformats.org/drawingml/2006/main" noGrp="1"/>
          </p:cNvSpPr>
          <p:nvPr/>
        </p:nvSpPr>
        <p:spPr>
          <a:xfrm xmlns:a="http://schemas.openxmlformats.org/drawingml/2006/main">
            <a:off x="609600" y="2990850"/>
            <a:ext cx="114300" cy="114300"/>
          </a:xfrm>
          <a:prstGeom xmlns:a="http://schemas.openxmlformats.org/drawingml/2006/main" prst="rect">
            <a:avLst/>
          </a:prstGeom>
          <a:solidFill xmlns:a="http://schemas.openxmlformats.org/drawingml/2006/main">
            <a:srgbClr val="66C43A"/>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5FCFE4C7-8B0E-439F-86EF-E39AF456A299}"/>
              </a:ext>
            </a:extLst>
          </p:cNvPr>
          <p:cNvSpPr>
            <a:spLocks xmlns:a="http://schemas.openxmlformats.org/drawingml/2006/main" noGrp="1"/>
          </p:cNvSpPr>
          <p:nvPr/>
        </p:nvSpPr>
        <p:spPr>
          <a:xfrm xmlns:a="http://schemas.openxmlformats.org/drawingml/2006/main">
            <a:off x="914400" y="2914650"/>
            <a:ext cx="53340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800" b="1">
                <a:solidFill>
                  <a:srgbClr val="12233A"/>
                </a:solidFill>
              </a:defRPr>
            </a:pPr>
            <a:r>
              <a:rPr sz="1800" b="1">
                <a:solidFill>
                  <a:srgbClr val="12233A"/>
                </a:solidFill>
              </a:rPr>
              <a:t>Supervisors choose the safest feasible platform</a:t>
            </a:r>
          </a:p>
        </p:txBody>
      </p:sp>
      <p:sp>
        <p:nvSpPr>
          <p:cNvPr id="7" name="">
            <a:extLst xmlns:a="http://schemas.openxmlformats.org/drawingml/2006/main">
              <a:ext uri="{FF2B5EF4-FFF2-40B4-BE49-F238E27FC236}">
                <a16:creationId xmlns:a16="http://schemas.microsoft.com/office/drawing/2014/main" id="{86A580A9-C398-4F20-B73D-5620AF56743D}"/>
              </a:ext>
            </a:extLst>
          </p:cNvPr>
          <p:cNvSpPr>
            <a:spLocks xmlns:a="http://schemas.openxmlformats.org/drawingml/2006/main" noGrp="1"/>
          </p:cNvSpPr>
          <p:nvPr/>
        </p:nvSpPr>
        <p:spPr>
          <a:xfrm xmlns:a="http://schemas.openxmlformats.org/drawingml/2006/main">
            <a:off x="609600" y="3600450"/>
            <a:ext cx="114300" cy="114300"/>
          </a:xfrm>
          <a:prstGeom xmlns:a="http://schemas.openxmlformats.org/drawingml/2006/main" prst="rect">
            <a:avLst/>
          </a:prstGeom>
          <a:solidFill xmlns:a="http://schemas.openxmlformats.org/drawingml/2006/main">
            <a:srgbClr val="66C43A"/>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3A262994-414F-40AF-B0D2-CC4CD95EC7DE}"/>
              </a:ext>
            </a:extLst>
          </p:cNvPr>
          <p:cNvSpPr>
            <a:spLocks xmlns:a="http://schemas.openxmlformats.org/drawingml/2006/main" noGrp="1"/>
          </p:cNvSpPr>
          <p:nvPr/>
        </p:nvSpPr>
        <p:spPr>
          <a:xfrm xmlns:a="http://schemas.openxmlformats.org/drawingml/2006/main">
            <a:off x="914400" y="3524250"/>
            <a:ext cx="53340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800" b="0">
                <a:solidFill>
                  <a:srgbClr val="12233A"/>
                </a:solidFill>
              </a:defRPr>
            </a:pPr>
            <a:r>
              <a:rPr sz="1800" b="0">
                <a:solidFill>
                  <a:srgbClr val="12233A"/>
                </a:solidFill>
              </a:rPr>
              <a:t>Do not overreach or work outside side rails</a:t>
            </a:r>
          </a:p>
        </p:txBody>
      </p:sp>
      <p:sp>
        <p:nvSpPr>
          <p:cNvPr id="9" name="">
            <a:extLst xmlns:a="http://schemas.openxmlformats.org/drawingml/2006/main">
              <a:ext uri="{FF2B5EF4-FFF2-40B4-BE49-F238E27FC236}">
                <a16:creationId xmlns:a16="http://schemas.microsoft.com/office/drawing/2014/main" id="{8F492CE0-DBB9-4D0A-99BB-D96E25A60305}"/>
              </a:ext>
            </a:extLst>
          </p:cNvPr>
          <p:cNvSpPr>
            <a:spLocks xmlns:a="http://schemas.openxmlformats.org/drawingml/2006/main" noGrp="1"/>
          </p:cNvSpPr>
          <p:nvPr/>
        </p:nvSpPr>
        <p:spPr>
          <a:xfrm xmlns:a="http://schemas.openxmlformats.org/drawingml/2006/main">
            <a:off x="609600" y="4210050"/>
            <a:ext cx="114300" cy="114300"/>
          </a:xfrm>
          <a:prstGeom xmlns:a="http://schemas.openxmlformats.org/drawingml/2006/main" prst="rect">
            <a:avLst/>
          </a:prstGeom>
          <a:solidFill xmlns:a="http://schemas.openxmlformats.org/drawingml/2006/main">
            <a:srgbClr val="66C43A"/>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87895E0E-8C8E-42D1-8E9E-D7052FADA341}"/>
              </a:ext>
            </a:extLst>
          </p:cNvPr>
          <p:cNvSpPr>
            <a:spLocks xmlns:a="http://schemas.openxmlformats.org/drawingml/2006/main" noGrp="1"/>
          </p:cNvSpPr>
          <p:nvPr/>
        </p:nvSpPr>
        <p:spPr>
          <a:xfrm xmlns:a="http://schemas.openxmlformats.org/drawingml/2006/main">
            <a:off x="914400" y="4133850"/>
            <a:ext cx="53340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800" b="0">
                <a:solidFill>
                  <a:srgbClr val="12233A"/>
                </a:solidFill>
              </a:defRPr>
            </a:pPr>
            <a:r>
              <a:rPr sz="1800" b="0">
                <a:solidFill>
                  <a:srgbClr val="12233A"/>
                </a:solidFill>
              </a:rPr>
              <a:t>Stop if the selected equipment is not safe for the work</a:t>
            </a:r>
          </a:p>
        </p:txBody>
      </p:sp>
      <p:sp>
        <p:nvSpPr>
          <p:cNvPr id="11" name="">
            <a:extLst xmlns:a="http://schemas.openxmlformats.org/drawingml/2006/main">
              <a:ext uri="{FF2B5EF4-FFF2-40B4-BE49-F238E27FC236}">
                <a16:creationId xmlns:a16="http://schemas.microsoft.com/office/drawing/2014/main" id="{8E0BD8A6-7EB8-4750-BB11-47040935C67D}"/>
              </a:ext>
            </a:extLst>
          </p:cNvPr>
          <p:cNvSpPr>
            <a:spLocks xmlns:a="http://schemas.openxmlformats.org/drawingml/2006/main" noGrp="1"/>
          </p:cNvSpPr>
          <p:nvPr/>
        </p:nvSpPr>
        <p:spPr>
          <a:xfrm xmlns:a="http://schemas.openxmlformats.org/drawingml/2006/main">
            <a:off x="6858000" y="704850"/>
            <a:ext cx="4495800" cy="4953000"/>
          </a:xfrm>
          <a:prstGeom xmlns:a="http://schemas.openxmlformats.org/drawingml/2006/main" prst="rect">
            <a:avLst/>
          </a:prstGeom>
          <a:solidFill xmlns:a="http://schemas.openxmlformats.org/drawingml/2006/main">
            <a:srgbClr val="F3F6F8"/>
          </a:solidFill>
          <a:ln xmlns:a="http://schemas.openxmlformats.org/drawingml/2006/main" w="9525">
            <a:solidFill>
              <a:srgbClr val="D8E1EA"/>
            </a:solidFill>
            <a:prstDash val="solid"/>
          </a:ln>
        </p:spPr>
      </p:sp>
      <p:sp>
        <p:nvSpPr>
          <p:cNvPr id="12" name="">
            <a:extLst xmlns:a="http://schemas.openxmlformats.org/drawingml/2006/main">
              <a:ext uri="{FF2B5EF4-FFF2-40B4-BE49-F238E27FC236}">
                <a16:creationId xmlns:a16="http://schemas.microsoft.com/office/drawing/2014/main" id="{6F06373E-1924-4C9C-AC3A-B2C9569E8C3D}"/>
              </a:ext>
            </a:extLst>
          </p:cNvPr>
          <p:cNvSpPr>
            <a:spLocks xmlns:a="http://schemas.openxmlformats.org/drawingml/2006/main" noGrp="1"/>
          </p:cNvSpPr>
          <p:nvPr/>
        </p:nvSpPr>
        <p:spPr>
          <a:xfrm xmlns:a="http://schemas.openxmlformats.org/drawingml/2006/main">
            <a:off x="6858000" y="704850"/>
            <a:ext cx="4495800" cy="114300"/>
          </a:xfrm>
          <a:prstGeom xmlns:a="http://schemas.openxmlformats.org/drawingml/2006/main" prst="rect">
            <a:avLst/>
          </a:prstGeom>
          <a:solidFill xmlns:a="http://schemas.openxmlformats.org/drawingml/2006/main">
            <a:srgbClr val="66C43A"/>
          </a:solidFill>
          <a:ln xmlns:a="http://schemas.openxmlformats.org/drawingml/2006/main" w="0">
            <a:noFill/>
            <a:prstDash val="solid"/>
          </a:ln>
        </p:spPr>
      </p:sp>
      <p:sp>
        <p:nvSpPr>
          <p:cNvPr id="13" name="">
            <a:extLst xmlns:a="http://schemas.openxmlformats.org/drawingml/2006/main">
              <a:ext uri="{FF2B5EF4-FFF2-40B4-BE49-F238E27FC236}">
                <a16:creationId xmlns:a16="http://schemas.microsoft.com/office/drawing/2014/main" id="{7979915C-04B9-417A-91EA-B39811A73410}"/>
              </a:ext>
            </a:extLst>
          </p:cNvPr>
          <p:cNvSpPr>
            <a:spLocks xmlns:a="http://schemas.openxmlformats.org/drawingml/2006/main" noGrp="1"/>
          </p:cNvSpPr>
          <p:nvPr/>
        </p:nvSpPr>
        <p:spPr>
          <a:xfrm xmlns:a="http://schemas.openxmlformats.org/drawingml/2006/main">
            <a:off x="7200900" y="1123950"/>
            <a:ext cx="1714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050" b="1">
                <a:solidFill>
                  <a:srgbClr val="5E6B7A"/>
                </a:solidFill>
              </a:defRPr>
            </a:pPr>
            <a:r>
              <a:rPr sz="1050" b="1">
                <a:solidFill>
                  <a:srgbClr val="5E6B7A"/>
                </a:solidFill>
              </a:rPr>
              <a:t>VIDEO VISUAL</a:t>
            </a:r>
          </a:p>
        </p:txBody>
      </p:sp>
      <p:sp>
        <p:nvSpPr>
          <p:cNvPr id="14" name="">
            <a:extLst xmlns:a="http://schemas.openxmlformats.org/drawingml/2006/main">
              <a:ext uri="{FF2B5EF4-FFF2-40B4-BE49-F238E27FC236}">
                <a16:creationId xmlns:a16="http://schemas.microsoft.com/office/drawing/2014/main" id="{1401F557-F1AA-4ED4-AC9D-BDA5AB3BB5D7}"/>
              </a:ext>
            </a:extLst>
          </p:cNvPr>
          <p:cNvSpPr>
            <a:spLocks xmlns:a="http://schemas.openxmlformats.org/drawingml/2006/main" noGrp="1"/>
          </p:cNvSpPr>
          <p:nvPr/>
        </p:nvSpPr>
        <p:spPr>
          <a:xfrm xmlns:a="http://schemas.openxmlformats.org/drawingml/2006/main">
            <a:off x="7200900" y="1543050"/>
            <a:ext cx="3810000" cy="1047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800" b="1">
                <a:solidFill>
                  <a:srgbClr val="12233A"/>
                </a:solidFill>
              </a:defRPr>
            </a:pPr>
            <a:r>
              <a:rPr sz="1800" b="1">
                <a:solidFill>
                  <a:srgbClr val="12233A"/>
                </a:solidFill>
              </a:rPr>
              <a:t>Supervisor and worker choosing access equipment during pre-task planning.</a:t>
            </a:r>
          </a:p>
        </p:txBody>
      </p:sp>
      <p:sp>
        <p:nvSpPr>
          <p:cNvPr id="15" name="">
            <a:extLst xmlns:a="http://schemas.openxmlformats.org/drawingml/2006/main">
              <a:ext uri="{FF2B5EF4-FFF2-40B4-BE49-F238E27FC236}">
                <a16:creationId xmlns:a16="http://schemas.microsoft.com/office/drawing/2014/main" id="{7FCB7507-ED1E-40C9-AECE-273F26C462C3}"/>
              </a:ext>
            </a:extLst>
          </p:cNvPr>
          <p:cNvSpPr>
            <a:spLocks xmlns:a="http://schemas.openxmlformats.org/drawingml/2006/main" noGrp="1"/>
          </p:cNvSpPr>
          <p:nvPr/>
        </p:nvSpPr>
        <p:spPr>
          <a:xfrm xmlns:a="http://schemas.openxmlformats.org/drawingml/2006/main">
            <a:off x="7200900" y="3028950"/>
            <a:ext cx="171450" cy="171450"/>
          </a:xfrm>
          <a:prstGeom xmlns:a="http://schemas.openxmlformats.org/drawingml/2006/main" prst="rect">
            <a:avLst/>
          </a:prstGeom>
          <a:solidFill xmlns:a="http://schemas.openxmlformats.org/drawingml/2006/main">
            <a:srgbClr val="66C43A"/>
          </a:solidFill>
          <a:ln xmlns:a="http://schemas.openxmlformats.org/drawingml/2006/main" w="0">
            <a:noFill/>
            <a:prstDash val="solid"/>
          </a:ln>
        </p:spPr>
      </p:sp>
      <p:sp>
        <p:nvSpPr>
          <p:cNvPr id="16" name="">
            <a:extLst xmlns:a="http://schemas.openxmlformats.org/drawingml/2006/main">
              <a:ext uri="{FF2B5EF4-FFF2-40B4-BE49-F238E27FC236}">
                <a16:creationId xmlns:a16="http://schemas.microsoft.com/office/drawing/2014/main" id="{79CC26BA-AC9E-4F85-BD1C-65A85A659BC2}"/>
              </a:ext>
            </a:extLst>
          </p:cNvPr>
          <p:cNvSpPr>
            <a:spLocks xmlns:a="http://schemas.openxmlformats.org/drawingml/2006/main" noGrp="1"/>
          </p:cNvSpPr>
          <p:nvPr/>
        </p:nvSpPr>
        <p:spPr>
          <a:xfrm xmlns:a="http://schemas.openxmlformats.org/drawingml/2006/main">
            <a:off x="7524750" y="3000375"/>
            <a:ext cx="3143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500" b="1">
                <a:solidFill>
                  <a:srgbClr val="0B243D"/>
                </a:solidFill>
              </a:defRPr>
            </a:pPr>
            <a:r>
              <a:rPr sz="1500" b="1">
                <a:solidFill>
                  <a:srgbClr val="0B243D"/>
                </a:solidFill>
              </a:rPr>
              <a:t>Supervisors choose the safest feasible platform</a:t>
            </a:r>
          </a:p>
        </p:txBody>
      </p:sp>
      <p:sp>
        <p:nvSpPr>
          <p:cNvPr id="17" name="">
            <a:extLst xmlns:a="http://schemas.openxmlformats.org/drawingml/2006/main">
              <a:ext uri="{FF2B5EF4-FFF2-40B4-BE49-F238E27FC236}">
                <a16:creationId xmlns:a16="http://schemas.microsoft.com/office/drawing/2014/main" id="{82278703-82BC-4B3F-AFDD-8A0AC383054F}"/>
              </a:ext>
            </a:extLst>
          </p:cNvPr>
          <p:cNvSpPr>
            <a:spLocks xmlns:a="http://schemas.openxmlformats.org/drawingml/2006/main" noGrp="1"/>
          </p:cNvSpPr>
          <p:nvPr/>
        </p:nvSpPr>
        <p:spPr>
          <a:xfrm xmlns:a="http://schemas.openxmlformats.org/drawingml/2006/main">
            <a:off x="7200900" y="3467100"/>
            <a:ext cx="171450" cy="171450"/>
          </a:xfrm>
          <a:prstGeom xmlns:a="http://schemas.openxmlformats.org/drawingml/2006/main" prst="rect">
            <a:avLst/>
          </a:prstGeom>
          <a:solidFill xmlns:a="http://schemas.openxmlformats.org/drawingml/2006/main">
            <a:srgbClr val="66C43A"/>
          </a:solidFill>
          <a:ln xmlns:a="http://schemas.openxmlformats.org/drawingml/2006/main" w="0">
            <a:noFill/>
            <a:prstDash val="solid"/>
          </a:ln>
        </p:spPr>
      </p:sp>
      <p:sp>
        <p:nvSpPr>
          <p:cNvPr id="18" name="">
            <a:extLst xmlns:a="http://schemas.openxmlformats.org/drawingml/2006/main">
              <a:ext uri="{FF2B5EF4-FFF2-40B4-BE49-F238E27FC236}">
                <a16:creationId xmlns:a16="http://schemas.microsoft.com/office/drawing/2014/main" id="{0A5B7E3D-CCD8-48E6-874E-96412CE8295B}"/>
              </a:ext>
            </a:extLst>
          </p:cNvPr>
          <p:cNvSpPr>
            <a:spLocks xmlns:a="http://schemas.openxmlformats.org/drawingml/2006/main" noGrp="1"/>
          </p:cNvSpPr>
          <p:nvPr/>
        </p:nvSpPr>
        <p:spPr>
          <a:xfrm xmlns:a="http://schemas.openxmlformats.org/drawingml/2006/main">
            <a:off x="7524750" y="3438525"/>
            <a:ext cx="3143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500" b="1">
                <a:solidFill>
                  <a:srgbClr val="0B243D"/>
                </a:solidFill>
              </a:defRPr>
            </a:pPr>
            <a:r>
              <a:rPr sz="1500" b="1">
                <a:solidFill>
                  <a:srgbClr val="0B243D"/>
                </a:solidFill>
              </a:rPr>
              <a:t>Do not overreach or work outside side rails</a:t>
            </a:r>
          </a:p>
        </p:txBody>
      </p:sp>
      <p:sp>
        <p:nvSpPr>
          <p:cNvPr id="19" name="">
            <a:extLst xmlns:a="http://schemas.openxmlformats.org/drawingml/2006/main">
              <a:ext uri="{FF2B5EF4-FFF2-40B4-BE49-F238E27FC236}">
                <a16:creationId xmlns:a16="http://schemas.microsoft.com/office/drawing/2014/main" id="{59A5FF41-8581-4C39-BD84-828E40D64748}"/>
              </a:ext>
            </a:extLst>
          </p:cNvPr>
          <p:cNvSpPr>
            <a:spLocks xmlns:a="http://schemas.openxmlformats.org/drawingml/2006/main" noGrp="1"/>
          </p:cNvSpPr>
          <p:nvPr/>
        </p:nvSpPr>
        <p:spPr>
          <a:xfrm xmlns:a="http://schemas.openxmlformats.org/drawingml/2006/main">
            <a:off x="7200900" y="3905250"/>
            <a:ext cx="171450" cy="171450"/>
          </a:xfrm>
          <a:prstGeom xmlns:a="http://schemas.openxmlformats.org/drawingml/2006/main" prst="rect">
            <a:avLst/>
          </a:prstGeom>
          <a:solidFill xmlns:a="http://schemas.openxmlformats.org/drawingml/2006/main">
            <a:srgbClr val="66C43A"/>
          </a:solidFill>
          <a:ln xmlns:a="http://schemas.openxmlformats.org/drawingml/2006/main" w="0">
            <a:noFill/>
            <a:prstDash val="solid"/>
          </a:ln>
        </p:spPr>
      </p:sp>
      <p:sp>
        <p:nvSpPr>
          <p:cNvPr id="20" name="">
            <a:extLst xmlns:a="http://schemas.openxmlformats.org/drawingml/2006/main">
              <a:ext uri="{FF2B5EF4-FFF2-40B4-BE49-F238E27FC236}">
                <a16:creationId xmlns:a16="http://schemas.microsoft.com/office/drawing/2014/main" id="{EA748995-0477-4B20-975F-4F6FF443267A}"/>
              </a:ext>
            </a:extLst>
          </p:cNvPr>
          <p:cNvSpPr>
            <a:spLocks xmlns:a="http://schemas.openxmlformats.org/drawingml/2006/main" noGrp="1"/>
          </p:cNvSpPr>
          <p:nvPr/>
        </p:nvSpPr>
        <p:spPr>
          <a:xfrm xmlns:a="http://schemas.openxmlformats.org/drawingml/2006/main">
            <a:off x="7524750" y="3876675"/>
            <a:ext cx="3143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500" b="1">
                <a:solidFill>
                  <a:srgbClr val="0B243D"/>
                </a:solidFill>
              </a:defRPr>
            </a:pPr>
            <a:r>
              <a:rPr sz="1500" b="1">
                <a:solidFill>
                  <a:srgbClr val="0B243D"/>
                </a:solidFill>
              </a:rPr>
              <a:t>Stop if the selected equipment is not safe for the work</a:t>
            </a:r>
          </a:p>
        </p:txBody>
      </p:sp>
      <p:sp>
        <p:nvSpPr>
          <p:cNvPr id="21" name="">
            <a:extLst xmlns:a="http://schemas.openxmlformats.org/drawingml/2006/main">
              <a:ext uri="{FF2B5EF4-FFF2-40B4-BE49-F238E27FC236}">
                <a16:creationId xmlns:a16="http://schemas.microsoft.com/office/drawing/2014/main" id="{5C070C9B-9768-4232-AA81-7A0DCB1869ED}"/>
              </a:ext>
            </a:extLst>
          </p:cNvPr>
          <p:cNvSpPr>
            <a:spLocks xmlns:a="http://schemas.openxmlformats.org/drawingml/2006/main" noGrp="1"/>
          </p:cNvSpPr>
          <p:nvPr/>
        </p:nvSpPr>
        <p:spPr>
          <a:xfrm xmlns:a="http://schemas.openxmlformats.org/drawingml/2006/main">
            <a:off x="7200900" y="5219700"/>
            <a:ext cx="1714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975" b="1">
                <a:solidFill>
                  <a:srgbClr val="5E6B7A"/>
                </a:solidFill>
              </a:defRPr>
            </a:pPr>
            <a:r>
              <a:rPr sz="975" b="1">
                <a:solidFill>
                  <a:srgbClr val="5E6B7A"/>
                </a:solidFill>
              </a:rPr>
              <a:t>Scene 10</a:t>
            </a:r>
          </a:p>
        </p:txBody>
      </p:sp>
      <p:sp>
        <p:nvSpPr>
          <p:cNvPr id="22" name="">
            <a:extLst xmlns:a="http://schemas.openxmlformats.org/drawingml/2006/main">
              <a:ext uri="{FF2B5EF4-FFF2-40B4-BE49-F238E27FC236}">
                <a16:creationId xmlns:a16="http://schemas.microsoft.com/office/drawing/2014/main" id="{2FCB6CAE-6FB5-49C1-9796-C52E6CDA829D}"/>
              </a:ext>
            </a:extLst>
          </p:cNvPr>
          <p:cNvSpPr>
            <a:spLocks xmlns:a="http://schemas.openxmlformats.org/drawingml/2006/main" noGrp="1"/>
          </p:cNvSpPr>
          <p:nvPr/>
        </p:nvSpPr>
        <p:spPr>
          <a:xfrm xmlns:a="http://schemas.openxmlformats.org/drawingml/2006/main">
            <a:off x="0" y="6515100"/>
            <a:ext cx="12192000" cy="342900"/>
          </a:xfrm>
          <a:prstGeom xmlns:a="http://schemas.openxmlformats.org/drawingml/2006/main" prst="rect">
            <a:avLst/>
          </a:prstGeom>
          <a:solidFill xmlns:a="http://schemas.openxmlformats.org/drawingml/2006/main">
            <a:srgbClr val="0B243D"/>
          </a:solidFill>
          <a:ln xmlns:a="http://schemas.openxmlformats.org/drawingml/2006/main" w="0">
            <a:noFill/>
            <a:prstDash val="solid"/>
          </a:ln>
        </p:spPr>
      </p:sp>
      <p:sp>
        <p:nvSpPr>
          <p:cNvPr id="23" name="">
            <a:extLst xmlns:a="http://schemas.openxmlformats.org/drawingml/2006/main">
              <a:ext uri="{FF2B5EF4-FFF2-40B4-BE49-F238E27FC236}">
                <a16:creationId xmlns:a16="http://schemas.microsoft.com/office/drawing/2014/main" id="{8DD862BD-0E34-4334-899B-BFD3613EC00A}"/>
              </a:ext>
            </a:extLst>
          </p:cNvPr>
          <p:cNvSpPr>
            <a:spLocks xmlns:a="http://schemas.openxmlformats.org/drawingml/2006/main" noGrp="1"/>
          </p:cNvSpPr>
          <p:nvPr/>
        </p:nvSpPr>
        <p:spPr>
          <a:xfrm xmlns:a="http://schemas.openxmlformats.org/drawingml/2006/main">
            <a:off x="533400" y="6600825"/>
            <a:ext cx="3429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975" b="1">
                <a:solidFill>
                  <a:srgbClr val="FFFFFF"/>
                </a:solidFill>
              </a:defRPr>
            </a:pPr>
            <a:r>
              <a:rPr sz="975" b="1">
                <a:solidFill>
                  <a:srgbClr val="FFFFFF"/>
                </a:solidFill>
              </a:rPr>
              <a:t>PAL Environmental Services</a:t>
            </a:r>
          </a:p>
        </p:txBody>
      </p:sp>
      <p:sp>
        <p:nvSpPr>
          <p:cNvPr id="24" name="">
            <a:extLst xmlns:a="http://schemas.openxmlformats.org/drawingml/2006/main">
              <a:ext uri="{FF2B5EF4-FFF2-40B4-BE49-F238E27FC236}">
                <a16:creationId xmlns:a16="http://schemas.microsoft.com/office/drawing/2014/main" id="{140E18A3-C497-44D7-807D-C8DD5521ED05}"/>
              </a:ext>
            </a:extLst>
          </p:cNvPr>
          <p:cNvSpPr>
            <a:spLocks xmlns:a="http://schemas.openxmlformats.org/drawingml/2006/main" noGrp="1"/>
          </p:cNvSpPr>
          <p:nvPr/>
        </p:nvSpPr>
        <p:spPr>
          <a:xfrm xmlns:a="http://schemas.openxmlformats.org/drawingml/2006/main">
            <a:off x="9620250" y="6600825"/>
            <a:ext cx="2095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900">
                <a:solidFill>
                  <a:srgbClr val="DDEAF5"/>
                </a:solidFill>
              </a:defRPr>
            </a:pPr>
            <a:r>
              <a:rPr sz="900">
                <a:solidFill>
                  <a:srgbClr val="DDEAF5"/>
                </a:solidFill>
              </a:rPr>
              <a:t>Employee Orientation  |  10</a:t>
            </a:r>
          </a:p>
        </p:txBody>
      </p:sp>
    </p:spTree>
    <p:extLst>
      <p:ext uri="{BB962C8B-B14F-4D97-AF65-F5344CB8AC3E}">
        <p14:creationId xmlns:p14="http://schemas.microsoft.com/office/powerpoint/2010/main" val="1721045708"/>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CEDDE229-0AC3-49F3-B98C-B6BD20B5C96E}"/>
              </a:ext>
            </a:extLst>
          </p:cNvPr>
          <p:cNvSpPr>
            <a:spLocks xmlns:a="http://schemas.openxmlformats.org/drawingml/2006/main" noGrp="1"/>
          </p:cNvSpPr>
          <p:nvPr/>
        </p:nvSpPr>
        <p:spPr>
          <a:xfrm xmlns:a="http://schemas.openxmlformats.org/drawingml/2006/main">
            <a:off x="0" y="0"/>
            <a:ext cx="12192000" cy="266700"/>
          </a:xfrm>
          <a:prstGeom xmlns:a="http://schemas.openxmlformats.org/drawingml/2006/main" prst="rect">
            <a:avLst/>
          </a:prstGeom>
          <a:solidFill xmlns:a="http://schemas.openxmlformats.org/drawingml/2006/main">
            <a:srgbClr val="0B243D"/>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438B8097-511E-4D6F-8CA2-505A6E7D69C1}"/>
              </a:ext>
            </a:extLst>
          </p:cNvPr>
          <p:cNvSpPr>
            <a:spLocks xmlns:a="http://schemas.openxmlformats.org/drawingml/2006/main" noGrp="1"/>
          </p:cNvSpPr>
          <p:nvPr/>
        </p:nvSpPr>
        <p:spPr>
          <a:xfrm xmlns:a="http://schemas.openxmlformats.org/drawingml/2006/main">
            <a:off x="0" y="266700"/>
            <a:ext cx="171450" cy="6248400"/>
          </a:xfrm>
          <a:prstGeom xmlns:a="http://schemas.openxmlformats.org/drawingml/2006/main" prst="rect">
            <a:avLst/>
          </a:prstGeom>
          <a:solidFill xmlns:a="http://schemas.openxmlformats.org/drawingml/2006/main">
            <a:srgbClr val="66C43A"/>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A85F2E15-1AA3-463A-947F-3AACCFD5CF39}"/>
              </a:ext>
            </a:extLst>
          </p:cNvPr>
          <p:cNvSpPr>
            <a:spLocks xmlns:a="http://schemas.openxmlformats.org/drawingml/2006/main" noGrp="1"/>
          </p:cNvSpPr>
          <p:nvPr/>
        </p:nvSpPr>
        <p:spPr>
          <a:xfrm xmlns:a="http://schemas.openxmlformats.org/drawingml/2006/main">
            <a:off x="533400" y="666750"/>
            <a:ext cx="44767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050" b="1">
                <a:solidFill>
                  <a:srgbClr val="5E6B7A"/>
                </a:solidFill>
              </a:defRPr>
            </a:pPr>
            <a:r>
              <a:rPr sz="1050" b="1">
                <a:solidFill>
                  <a:srgbClr val="5E6B7A"/>
                </a:solidFill>
              </a:rPr>
              <a:t>ELECTRICAL SAFETY</a:t>
            </a:r>
          </a:p>
        </p:txBody>
      </p:sp>
      <p:sp>
        <p:nvSpPr>
          <p:cNvPr id="4" name="">
            <a:extLst xmlns:a="http://schemas.openxmlformats.org/drawingml/2006/main">
              <a:ext uri="{FF2B5EF4-FFF2-40B4-BE49-F238E27FC236}">
                <a16:creationId xmlns:a16="http://schemas.microsoft.com/office/drawing/2014/main" id="{CB251004-B6A7-4107-9EF4-0DFA62C79996}"/>
              </a:ext>
            </a:extLst>
          </p:cNvPr>
          <p:cNvSpPr>
            <a:spLocks xmlns:a="http://schemas.openxmlformats.org/drawingml/2006/main" noGrp="1"/>
          </p:cNvSpPr>
          <p:nvPr/>
        </p:nvSpPr>
        <p:spPr>
          <a:xfrm xmlns:a="http://schemas.openxmlformats.org/drawingml/2006/main">
            <a:off x="533400" y="1047750"/>
            <a:ext cx="5524500" cy="1428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3150" b="1">
                <a:solidFill>
                  <a:srgbClr val="0B243D"/>
                </a:solidFill>
              </a:defRPr>
            </a:pPr>
            <a:r>
              <a:rPr sz="3150" b="1">
                <a:solidFill>
                  <a:srgbClr val="0B243D"/>
                </a:solidFill>
              </a:rPr>
              <a:t>Inspect cords and protect against shock.</a:t>
            </a:r>
          </a:p>
        </p:txBody>
      </p:sp>
      <p:sp>
        <p:nvSpPr>
          <p:cNvPr id="5" name="">
            <a:extLst xmlns:a="http://schemas.openxmlformats.org/drawingml/2006/main">
              <a:ext uri="{FF2B5EF4-FFF2-40B4-BE49-F238E27FC236}">
                <a16:creationId xmlns:a16="http://schemas.microsoft.com/office/drawing/2014/main" id="{B9CCB7E6-9913-47C1-B6F4-6E4742224C77}"/>
              </a:ext>
            </a:extLst>
          </p:cNvPr>
          <p:cNvSpPr>
            <a:spLocks xmlns:a="http://schemas.openxmlformats.org/drawingml/2006/main" noGrp="1"/>
          </p:cNvSpPr>
          <p:nvPr/>
        </p:nvSpPr>
        <p:spPr>
          <a:xfrm xmlns:a="http://schemas.openxmlformats.org/drawingml/2006/main">
            <a:off x="609600" y="2990850"/>
            <a:ext cx="114300" cy="114300"/>
          </a:xfrm>
          <a:prstGeom xmlns:a="http://schemas.openxmlformats.org/drawingml/2006/main" prst="rect">
            <a:avLst/>
          </a:prstGeom>
          <a:solidFill xmlns:a="http://schemas.openxmlformats.org/drawingml/2006/main">
            <a:srgbClr val="66C43A"/>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0058189E-3764-4CE4-A860-B03256FE2F7E}"/>
              </a:ext>
            </a:extLst>
          </p:cNvPr>
          <p:cNvSpPr>
            <a:spLocks xmlns:a="http://schemas.openxmlformats.org/drawingml/2006/main" noGrp="1"/>
          </p:cNvSpPr>
          <p:nvPr/>
        </p:nvSpPr>
        <p:spPr>
          <a:xfrm xmlns:a="http://schemas.openxmlformats.org/drawingml/2006/main">
            <a:off x="914400" y="2914650"/>
            <a:ext cx="53340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800" b="1">
                <a:solidFill>
                  <a:srgbClr val="12233A"/>
                </a:solidFill>
              </a:defRPr>
            </a:pPr>
            <a:r>
              <a:rPr sz="1800" b="1">
                <a:solidFill>
                  <a:srgbClr val="12233A"/>
                </a:solidFill>
              </a:rPr>
              <a:t>Use heavy-duty grounded cords</a:t>
            </a:r>
          </a:p>
        </p:txBody>
      </p:sp>
      <p:sp>
        <p:nvSpPr>
          <p:cNvPr id="7" name="">
            <a:extLst xmlns:a="http://schemas.openxmlformats.org/drawingml/2006/main">
              <a:ext uri="{FF2B5EF4-FFF2-40B4-BE49-F238E27FC236}">
                <a16:creationId xmlns:a16="http://schemas.microsoft.com/office/drawing/2014/main" id="{E2BA6CDD-3850-47F1-B86D-05EE50D68B83}"/>
              </a:ext>
            </a:extLst>
          </p:cNvPr>
          <p:cNvSpPr>
            <a:spLocks xmlns:a="http://schemas.openxmlformats.org/drawingml/2006/main" noGrp="1"/>
          </p:cNvSpPr>
          <p:nvPr/>
        </p:nvSpPr>
        <p:spPr>
          <a:xfrm xmlns:a="http://schemas.openxmlformats.org/drawingml/2006/main">
            <a:off x="609600" y="3600450"/>
            <a:ext cx="114300" cy="114300"/>
          </a:xfrm>
          <a:prstGeom xmlns:a="http://schemas.openxmlformats.org/drawingml/2006/main" prst="rect">
            <a:avLst/>
          </a:prstGeom>
          <a:solidFill xmlns:a="http://schemas.openxmlformats.org/drawingml/2006/main">
            <a:srgbClr val="66C43A"/>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43B6C4C7-F7D5-4153-9EE3-565A2C2EE4EC}"/>
              </a:ext>
            </a:extLst>
          </p:cNvPr>
          <p:cNvSpPr>
            <a:spLocks xmlns:a="http://schemas.openxmlformats.org/drawingml/2006/main" noGrp="1"/>
          </p:cNvSpPr>
          <p:nvPr/>
        </p:nvSpPr>
        <p:spPr>
          <a:xfrm xmlns:a="http://schemas.openxmlformats.org/drawingml/2006/main">
            <a:off x="914400" y="3524250"/>
            <a:ext cx="53340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800" b="0">
                <a:solidFill>
                  <a:srgbClr val="12233A"/>
                </a:solidFill>
              </a:defRPr>
            </a:pPr>
            <a:r>
              <a:rPr sz="1800" b="0">
                <a:solidFill>
                  <a:srgbClr val="12233A"/>
                </a:solidFill>
              </a:rPr>
              <a:t>Use and test GFCI protection</a:t>
            </a:r>
          </a:p>
        </p:txBody>
      </p:sp>
      <p:sp>
        <p:nvSpPr>
          <p:cNvPr id="9" name="">
            <a:extLst xmlns:a="http://schemas.openxmlformats.org/drawingml/2006/main">
              <a:ext uri="{FF2B5EF4-FFF2-40B4-BE49-F238E27FC236}">
                <a16:creationId xmlns:a16="http://schemas.microsoft.com/office/drawing/2014/main" id="{DDC20858-821F-4F61-97E0-972ACBA0FB89}"/>
              </a:ext>
            </a:extLst>
          </p:cNvPr>
          <p:cNvSpPr>
            <a:spLocks xmlns:a="http://schemas.openxmlformats.org/drawingml/2006/main" noGrp="1"/>
          </p:cNvSpPr>
          <p:nvPr/>
        </p:nvSpPr>
        <p:spPr>
          <a:xfrm xmlns:a="http://schemas.openxmlformats.org/drawingml/2006/main">
            <a:off x="609600" y="4210050"/>
            <a:ext cx="114300" cy="114300"/>
          </a:xfrm>
          <a:prstGeom xmlns:a="http://schemas.openxmlformats.org/drawingml/2006/main" prst="rect">
            <a:avLst/>
          </a:prstGeom>
          <a:solidFill xmlns:a="http://schemas.openxmlformats.org/drawingml/2006/main">
            <a:srgbClr val="66C43A"/>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3AD594A6-985D-46F4-BCC1-E93DCEF61E5C}"/>
              </a:ext>
            </a:extLst>
          </p:cNvPr>
          <p:cNvSpPr>
            <a:spLocks xmlns:a="http://schemas.openxmlformats.org/drawingml/2006/main" noGrp="1"/>
          </p:cNvSpPr>
          <p:nvPr/>
        </p:nvSpPr>
        <p:spPr>
          <a:xfrm xmlns:a="http://schemas.openxmlformats.org/drawingml/2006/main">
            <a:off x="914400" y="4133850"/>
            <a:ext cx="53340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800" b="0">
                <a:solidFill>
                  <a:srgbClr val="12233A"/>
                </a:solidFill>
              </a:defRPr>
            </a:pPr>
            <a:r>
              <a:rPr sz="1800" b="0">
                <a:solidFill>
                  <a:srgbClr val="12233A"/>
                </a:solidFill>
              </a:rPr>
              <a:t>Remove damaged electrical equipment from service</a:t>
            </a:r>
          </a:p>
        </p:txBody>
      </p:sp>
      <p:sp>
        <p:nvSpPr>
          <p:cNvPr id="11" name="">
            <a:extLst xmlns:a="http://schemas.openxmlformats.org/drawingml/2006/main">
              <a:ext uri="{FF2B5EF4-FFF2-40B4-BE49-F238E27FC236}">
                <a16:creationId xmlns:a16="http://schemas.microsoft.com/office/drawing/2014/main" id="{97A319D7-4028-49BD-ACE9-87115FEDF519}"/>
              </a:ext>
            </a:extLst>
          </p:cNvPr>
          <p:cNvSpPr>
            <a:spLocks xmlns:a="http://schemas.openxmlformats.org/drawingml/2006/main" noGrp="1"/>
          </p:cNvSpPr>
          <p:nvPr/>
        </p:nvSpPr>
        <p:spPr>
          <a:xfrm xmlns:a="http://schemas.openxmlformats.org/drawingml/2006/main">
            <a:off x="6858000" y="704850"/>
            <a:ext cx="4495800" cy="4953000"/>
          </a:xfrm>
          <a:prstGeom xmlns:a="http://schemas.openxmlformats.org/drawingml/2006/main" prst="rect">
            <a:avLst/>
          </a:prstGeom>
          <a:solidFill xmlns:a="http://schemas.openxmlformats.org/drawingml/2006/main">
            <a:srgbClr val="F3F6F8"/>
          </a:solidFill>
          <a:ln xmlns:a="http://schemas.openxmlformats.org/drawingml/2006/main" w="9525">
            <a:solidFill>
              <a:srgbClr val="D8E1EA"/>
            </a:solidFill>
            <a:prstDash val="solid"/>
          </a:ln>
        </p:spPr>
      </p:sp>
      <p:sp>
        <p:nvSpPr>
          <p:cNvPr id="12" name="">
            <a:extLst xmlns:a="http://schemas.openxmlformats.org/drawingml/2006/main">
              <a:ext uri="{FF2B5EF4-FFF2-40B4-BE49-F238E27FC236}">
                <a16:creationId xmlns:a16="http://schemas.microsoft.com/office/drawing/2014/main" id="{03A2EB69-E470-4EC2-98FF-CC820DC6E309}"/>
              </a:ext>
            </a:extLst>
          </p:cNvPr>
          <p:cNvSpPr>
            <a:spLocks xmlns:a="http://schemas.openxmlformats.org/drawingml/2006/main" noGrp="1"/>
          </p:cNvSpPr>
          <p:nvPr/>
        </p:nvSpPr>
        <p:spPr>
          <a:xfrm xmlns:a="http://schemas.openxmlformats.org/drawingml/2006/main">
            <a:off x="6858000" y="704850"/>
            <a:ext cx="4495800" cy="114300"/>
          </a:xfrm>
          <a:prstGeom xmlns:a="http://schemas.openxmlformats.org/drawingml/2006/main" prst="rect">
            <a:avLst/>
          </a:prstGeom>
          <a:solidFill xmlns:a="http://schemas.openxmlformats.org/drawingml/2006/main">
            <a:srgbClr val="66C43A"/>
          </a:solidFill>
          <a:ln xmlns:a="http://schemas.openxmlformats.org/drawingml/2006/main" w="0">
            <a:noFill/>
            <a:prstDash val="solid"/>
          </a:ln>
        </p:spPr>
      </p:sp>
      <p:sp>
        <p:nvSpPr>
          <p:cNvPr id="13" name="">
            <a:extLst xmlns:a="http://schemas.openxmlformats.org/drawingml/2006/main">
              <a:ext uri="{FF2B5EF4-FFF2-40B4-BE49-F238E27FC236}">
                <a16:creationId xmlns:a16="http://schemas.microsoft.com/office/drawing/2014/main" id="{6BE83019-1AD5-4FC1-9B35-1AC33F358C92}"/>
              </a:ext>
            </a:extLst>
          </p:cNvPr>
          <p:cNvSpPr>
            <a:spLocks xmlns:a="http://schemas.openxmlformats.org/drawingml/2006/main" noGrp="1"/>
          </p:cNvSpPr>
          <p:nvPr/>
        </p:nvSpPr>
        <p:spPr>
          <a:xfrm xmlns:a="http://schemas.openxmlformats.org/drawingml/2006/main">
            <a:off x="7200900" y="1123950"/>
            <a:ext cx="1714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050" b="1">
                <a:solidFill>
                  <a:srgbClr val="5E6B7A"/>
                </a:solidFill>
              </a:defRPr>
            </a:pPr>
            <a:r>
              <a:rPr sz="1050" b="1">
                <a:solidFill>
                  <a:srgbClr val="5E6B7A"/>
                </a:solidFill>
              </a:rPr>
              <a:t>VIDEO VISUAL</a:t>
            </a:r>
          </a:p>
        </p:txBody>
      </p:sp>
      <p:sp>
        <p:nvSpPr>
          <p:cNvPr id="14" name="">
            <a:extLst xmlns:a="http://schemas.openxmlformats.org/drawingml/2006/main">
              <a:ext uri="{FF2B5EF4-FFF2-40B4-BE49-F238E27FC236}">
                <a16:creationId xmlns:a16="http://schemas.microsoft.com/office/drawing/2014/main" id="{3CBDA10B-1821-49F6-B906-B7B033CF68AE}"/>
              </a:ext>
            </a:extLst>
          </p:cNvPr>
          <p:cNvSpPr>
            <a:spLocks xmlns:a="http://schemas.openxmlformats.org/drawingml/2006/main" noGrp="1"/>
          </p:cNvSpPr>
          <p:nvPr/>
        </p:nvSpPr>
        <p:spPr>
          <a:xfrm xmlns:a="http://schemas.openxmlformats.org/drawingml/2006/main">
            <a:off x="7200900" y="1543050"/>
            <a:ext cx="3810000" cy="1047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800" b="1">
                <a:solidFill>
                  <a:srgbClr val="12233A"/>
                </a:solidFill>
              </a:defRPr>
            </a:pPr>
            <a:r>
              <a:rPr sz="1800" b="1">
                <a:solidFill>
                  <a:srgbClr val="12233A"/>
                </a:solidFill>
              </a:rPr>
              <a:t>Worker inspecting cord and testing GFCI; damaged cord tagged out.</a:t>
            </a:r>
          </a:p>
        </p:txBody>
      </p:sp>
      <p:sp>
        <p:nvSpPr>
          <p:cNvPr id="15" name="">
            <a:extLst xmlns:a="http://schemas.openxmlformats.org/drawingml/2006/main">
              <a:ext uri="{FF2B5EF4-FFF2-40B4-BE49-F238E27FC236}">
                <a16:creationId xmlns:a16="http://schemas.microsoft.com/office/drawing/2014/main" id="{7EB919D1-C865-49F2-9CAE-9CE785FC311C}"/>
              </a:ext>
            </a:extLst>
          </p:cNvPr>
          <p:cNvSpPr>
            <a:spLocks xmlns:a="http://schemas.openxmlformats.org/drawingml/2006/main" noGrp="1"/>
          </p:cNvSpPr>
          <p:nvPr/>
        </p:nvSpPr>
        <p:spPr>
          <a:xfrm xmlns:a="http://schemas.openxmlformats.org/drawingml/2006/main">
            <a:off x="7200900" y="3028950"/>
            <a:ext cx="171450" cy="171450"/>
          </a:xfrm>
          <a:prstGeom xmlns:a="http://schemas.openxmlformats.org/drawingml/2006/main" prst="rect">
            <a:avLst/>
          </a:prstGeom>
          <a:solidFill xmlns:a="http://schemas.openxmlformats.org/drawingml/2006/main">
            <a:srgbClr val="66C43A"/>
          </a:solidFill>
          <a:ln xmlns:a="http://schemas.openxmlformats.org/drawingml/2006/main" w="0">
            <a:noFill/>
            <a:prstDash val="solid"/>
          </a:ln>
        </p:spPr>
      </p:sp>
      <p:sp>
        <p:nvSpPr>
          <p:cNvPr id="16" name="">
            <a:extLst xmlns:a="http://schemas.openxmlformats.org/drawingml/2006/main">
              <a:ext uri="{FF2B5EF4-FFF2-40B4-BE49-F238E27FC236}">
                <a16:creationId xmlns:a16="http://schemas.microsoft.com/office/drawing/2014/main" id="{C6D09198-6F5E-4139-914D-45F96FF48583}"/>
              </a:ext>
            </a:extLst>
          </p:cNvPr>
          <p:cNvSpPr>
            <a:spLocks xmlns:a="http://schemas.openxmlformats.org/drawingml/2006/main" noGrp="1"/>
          </p:cNvSpPr>
          <p:nvPr/>
        </p:nvSpPr>
        <p:spPr>
          <a:xfrm xmlns:a="http://schemas.openxmlformats.org/drawingml/2006/main">
            <a:off x="7524750" y="3000375"/>
            <a:ext cx="3143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500" b="1">
                <a:solidFill>
                  <a:srgbClr val="0B243D"/>
                </a:solidFill>
              </a:defRPr>
            </a:pPr>
            <a:r>
              <a:rPr sz="1500" b="1">
                <a:solidFill>
                  <a:srgbClr val="0B243D"/>
                </a:solidFill>
              </a:rPr>
              <a:t>Use heavy-duty grounded cords</a:t>
            </a:r>
          </a:p>
        </p:txBody>
      </p:sp>
      <p:sp>
        <p:nvSpPr>
          <p:cNvPr id="17" name="">
            <a:extLst xmlns:a="http://schemas.openxmlformats.org/drawingml/2006/main">
              <a:ext uri="{FF2B5EF4-FFF2-40B4-BE49-F238E27FC236}">
                <a16:creationId xmlns:a16="http://schemas.microsoft.com/office/drawing/2014/main" id="{D89F801E-E0F4-4AC2-A70F-DE0D49FDBFAB}"/>
              </a:ext>
            </a:extLst>
          </p:cNvPr>
          <p:cNvSpPr>
            <a:spLocks xmlns:a="http://schemas.openxmlformats.org/drawingml/2006/main" noGrp="1"/>
          </p:cNvSpPr>
          <p:nvPr/>
        </p:nvSpPr>
        <p:spPr>
          <a:xfrm xmlns:a="http://schemas.openxmlformats.org/drawingml/2006/main">
            <a:off x="7200900" y="3467100"/>
            <a:ext cx="171450" cy="171450"/>
          </a:xfrm>
          <a:prstGeom xmlns:a="http://schemas.openxmlformats.org/drawingml/2006/main" prst="rect">
            <a:avLst/>
          </a:prstGeom>
          <a:solidFill xmlns:a="http://schemas.openxmlformats.org/drawingml/2006/main">
            <a:srgbClr val="66C43A"/>
          </a:solidFill>
          <a:ln xmlns:a="http://schemas.openxmlformats.org/drawingml/2006/main" w="0">
            <a:noFill/>
            <a:prstDash val="solid"/>
          </a:ln>
        </p:spPr>
      </p:sp>
      <p:sp>
        <p:nvSpPr>
          <p:cNvPr id="18" name="">
            <a:extLst xmlns:a="http://schemas.openxmlformats.org/drawingml/2006/main">
              <a:ext uri="{FF2B5EF4-FFF2-40B4-BE49-F238E27FC236}">
                <a16:creationId xmlns:a16="http://schemas.microsoft.com/office/drawing/2014/main" id="{F6418D65-1475-4C91-AEB3-EB2E33A40811}"/>
              </a:ext>
            </a:extLst>
          </p:cNvPr>
          <p:cNvSpPr>
            <a:spLocks xmlns:a="http://schemas.openxmlformats.org/drawingml/2006/main" noGrp="1"/>
          </p:cNvSpPr>
          <p:nvPr/>
        </p:nvSpPr>
        <p:spPr>
          <a:xfrm xmlns:a="http://schemas.openxmlformats.org/drawingml/2006/main">
            <a:off x="7524750" y="3438525"/>
            <a:ext cx="3143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500" b="1">
                <a:solidFill>
                  <a:srgbClr val="0B243D"/>
                </a:solidFill>
              </a:defRPr>
            </a:pPr>
            <a:r>
              <a:rPr sz="1500" b="1">
                <a:solidFill>
                  <a:srgbClr val="0B243D"/>
                </a:solidFill>
              </a:rPr>
              <a:t>Use and test GFCI protection</a:t>
            </a:r>
          </a:p>
        </p:txBody>
      </p:sp>
      <p:sp>
        <p:nvSpPr>
          <p:cNvPr id="19" name="">
            <a:extLst xmlns:a="http://schemas.openxmlformats.org/drawingml/2006/main">
              <a:ext uri="{FF2B5EF4-FFF2-40B4-BE49-F238E27FC236}">
                <a16:creationId xmlns:a16="http://schemas.microsoft.com/office/drawing/2014/main" id="{0DAE2386-F7D3-4BF8-8DA1-6DD15C615BEE}"/>
              </a:ext>
            </a:extLst>
          </p:cNvPr>
          <p:cNvSpPr>
            <a:spLocks xmlns:a="http://schemas.openxmlformats.org/drawingml/2006/main" noGrp="1"/>
          </p:cNvSpPr>
          <p:nvPr/>
        </p:nvSpPr>
        <p:spPr>
          <a:xfrm xmlns:a="http://schemas.openxmlformats.org/drawingml/2006/main">
            <a:off x="7200900" y="3905250"/>
            <a:ext cx="171450" cy="171450"/>
          </a:xfrm>
          <a:prstGeom xmlns:a="http://schemas.openxmlformats.org/drawingml/2006/main" prst="rect">
            <a:avLst/>
          </a:prstGeom>
          <a:solidFill xmlns:a="http://schemas.openxmlformats.org/drawingml/2006/main">
            <a:srgbClr val="66C43A"/>
          </a:solidFill>
          <a:ln xmlns:a="http://schemas.openxmlformats.org/drawingml/2006/main" w="0">
            <a:noFill/>
            <a:prstDash val="solid"/>
          </a:ln>
        </p:spPr>
      </p:sp>
      <p:sp>
        <p:nvSpPr>
          <p:cNvPr id="20" name="">
            <a:extLst xmlns:a="http://schemas.openxmlformats.org/drawingml/2006/main">
              <a:ext uri="{FF2B5EF4-FFF2-40B4-BE49-F238E27FC236}">
                <a16:creationId xmlns:a16="http://schemas.microsoft.com/office/drawing/2014/main" id="{7225BA22-9A38-4D7D-853A-C97F31A4F539}"/>
              </a:ext>
            </a:extLst>
          </p:cNvPr>
          <p:cNvSpPr>
            <a:spLocks xmlns:a="http://schemas.openxmlformats.org/drawingml/2006/main" noGrp="1"/>
          </p:cNvSpPr>
          <p:nvPr/>
        </p:nvSpPr>
        <p:spPr>
          <a:xfrm xmlns:a="http://schemas.openxmlformats.org/drawingml/2006/main">
            <a:off x="7524750" y="3876675"/>
            <a:ext cx="3143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500" b="1">
                <a:solidFill>
                  <a:srgbClr val="0B243D"/>
                </a:solidFill>
              </a:defRPr>
            </a:pPr>
            <a:r>
              <a:rPr sz="1500" b="1">
                <a:solidFill>
                  <a:srgbClr val="0B243D"/>
                </a:solidFill>
              </a:rPr>
              <a:t>Remove damaged electrical equipment from service</a:t>
            </a:r>
          </a:p>
        </p:txBody>
      </p:sp>
      <p:sp>
        <p:nvSpPr>
          <p:cNvPr id="21" name="">
            <a:extLst xmlns:a="http://schemas.openxmlformats.org/drawingml/2006/main">
              <a:ext uri="{FF2B5EF4-FFF2-40B4-BE49-F238E27FC236}">
                <a16:creationId xmlns:a16="http://schemas.microsoft.com/office/drawing/2014/main" id="{B7A4E144-7160-4275-80DA-8F14F09DAAE4}"/>
              </a:ext>
            </a:extLst>
          </p:cNvPr>
          <p:cNvSpPr>
            <a:spLocks xmlns:a="http://schemas.openxmlformats.org/drawingml/2006/main" noGrp="1"/>
          </p:cNvSpPr>
          <p:nvPr/>
        </p:nvSpPr>
        <p:spPr>
          <a:xfrm xmlns:a="http://schemas.openxmlformats.org/drawingml/2006/main">
            <a:off x="7200900" y="5219700"/>
            <a:ext cx="1714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975" b="1">
                <a:solidFill>
                  <a:srgbClr val="5E6B7A"/>
                </a:solidFill>
              </a:defRPr>
            </a:pPr>
            <a:r>
              <a:rPr sz="975" b="1">
                <a:solidFill>
                  <a:srgbClr val="5E6B7A"/>
                </a:solidFill>
              </a:rPr>
              <a:t>Scene 11</a:t>
            </a:r>
          </a:p>
        </p:txBody>
      </p:sp>
      <p:sp>
        <p:nvSpPr>
          <p:cNvPr id="22" name="">
            <a:extLst xmlns:a="http://schemas.openxmlformats.org/drawingml/2006/main">
              <a:ext uri="{FF2B5EF4-FFF2-40B4-BE49-F238E27FC236}">
                <a16:creationId xmlns:a16="http://schemas.microsoft.com/office/drawing/2014/main" id="{8A0323B5-DD05-439C-9824-C1B6DD8E2074}"/>
              </a:ext>
            </a:extLst>
          </p:cNvPr>
          <p:cNvSpPr>
            <a:spLocks xmlns:a="http://schemas.openxmlformats.org/drawingml/2006/main" noGrp="1"/>
          </p:cNvSpPr>
          <p:nvPr/>
        </p:nvSpPr>
        <p:spPr>
          <a:xfrm xmlns:a="http://schemas.openxmlformats.org/drawingml/2006/main">
            <a:off x="0" y="6515100"/>
            <a:ext cx="12192000" cy="342900"/>
          </a:xfrm>
          <a:prstGeom xmlns:a="http://schemas.openxmlformats.org/drawingml/2006/main" prst="rect">
            <a:avLst/>
          </a:prstGeom>
          <a:solidFill xmlns:a="http://schemas.openxmlformats.org/drawingml/2006/main">
            <a:srgbClr val="0B243D"/>
          </a:solidFill>
          <a:ln xmlns:a="http://schemas.openxmlformats.org/drawingml/2006/main" w="0">
            <a:noFill/>
            <a:prstDash val="solid"/>
          </a:ln>
        </p:spPr>
      </p:sp>
      <p:sp>
        <p:nvSpPr>
          <p:cNvPr id="23" name="">
            <a:extLst xmlns:a="http://schemas.openxmlformats.org/drawingml/2006/main">
              <a:ext uri="{FF2B5EF4-FFF2-40B4-BE49-F238E27FC236}">
                <a16:creationId xmlns:a16="http://schemas.microsoft.com/office/drawing/2014/main" id="{244F8762-22FA-4CB0-84FF-8698CA56F665}"/>
              </a:ext>
            </a:extLst>
          </p:cNvPr>
          <p:cNvSpPr>
            <a:spLocks xmlns:a="http://schemas.openxmlformats.org/drawingml/2006/main" noGrp="1"/>
          </p:cNvSpPr>
          <p:nvPr/>
        </p:nvSpPr>
        <p:spPr>
          <a:xfrm xmlns:a="http://schemas.openxmlformats.org/drawingml/2006/main">
            <a:off x="533400" y="6600825"/>
            <a:ext cx="3429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975" b="1">
                <a:solidFill>
                  <a:srgbClr val="FFFFFF"/>
                </a:solidFill>
              </a:defRPr>
            </a:pPr>
            <a:r>
              <a:rPr sz="975" b="1">
                <a:solidFill>
                  <a:srgbClr val="FFFFFF"/>
                </a:solidFill>
              </a:rPr>
              <a:t>PAL Environmental Services</a:t>
            </a:r>
          </a:p>
        </p:txBody>
      </p:sp>
      <p:sp>
        <p:nvSpPr>
          <p:cNvPr id="24" name="">
            <a:extLst xmlns:a="http://schemas.openxmlformats.org/drawingml/2006/main">
              <a:ext uri="{FF2B5EF4-FFF2-40B4-BE49-F238E27FC236}">
                <a16:creationId xmlns:a16="http://schemas.microsoft.com/office/drawing/2014/main" id="{155521B8-42D3-4BD0-8AD3-E933D91E4924}"/>
              </a:ext>
            </a:extLst>
          </p:cNvPr>
          <p:cNvSpPr>
            <a:spLocks xmlns:a="http://schemas.openxmlformats.org/drawingml/2006/main" noGrp="1"/>
          </p:cNvSpPr>
          <p:nvPr/>
        </p:nvSpPr>
        <p:spPr>
          <a:xfrm xmlns:a="http://schemas.openxmlformats.org/drawingml/2006/main">
            <a:off x="9620250" y="6600825"/>
            <a:ext cx="2095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900">
                <a:solidFill>
                  <a:srgbClr val="DDEAF5"/>
                </a:solidFill>
              </a:defRPr>
            </a:pPr>
            <a:r>
              <a:rPr sz="900">
                <a:solidFill>
                  <a:srgbClr val="DDEAF5"/>
                </a:solidFill>
              </a:rPr>
              <a:t>Employee Orientation  |  11</a:t>
            </a:r>
          </a:p>
        </p:txBody>
      </p:sp>
    </p:spTree>
    <p:extLst>
      <p:ext uri="{BB962C8B-B14F-4D97-AF65-F5344CB8AC3E}">
        <p14:creationId xmlns:p14="http://schemas.microsoft.com/office/powerpoint/2010/main" val="1682022066"/>
      </p:ext>
    </p:extLst>
  </p:cSld>
</p:sld>
</file>

<file path=ppt/slides/slide1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16971078-32CB-4737-B8BA-86AAF2CC3C19}"/>
              </a:ext>
            </a:extLst>
          </p:cNvPr>
          <p:cNvSpPr>
            <a:spLocks xmlns:a="http://schemas.openxmlformats.org/drawingml/2006/main" noGrp="1"/>
          </p:cNvSpPr>
          <p:nvPr/>
        </p:nvSpPr>
        <p:spPr>
          <a:xfrm xmlns:a="http://schemas.openxmlformats.org/drawingml/2006/main">
            <a:off x="0" y="0"/>
            <a:ext cx="12192000" cy="266700"/>
          </a:xfrm>
          <a:prstGeom xmlns:a="http://schemas.openxmlformats.org/drawingml/2006/main" prst="rect">
            <a:avLst/>
          </a:prstGeom>
          <a:solidFill xmlns:a="http://schemas.openxmlformats.org/drawingml/2006/main">
            <a:srgbClr val="0B243D"/>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3CC16684-BD49-468A-A0DA-6D879F8B61DF}"/>
              </a:ext>
            </a:extLst>
          </p:cNvPr>
          <p:cNvSpPr>
            <a:spLocks xmlns:a="http://schemas.openxmlformats.org/drawingml/2006/main" noGrp="1"/>
          </p:cNvSpPr>
          <p:nvPr/>
        </p:nvSpPr>
        <p:spPr>
          <a:xfrm xmlns:a="http://schemas.openxmlformats.org/drawingml/2006/main">
            <a:off x="0" y="266700"/>
            <a:ext cx="171450" cy="6248400"/>
          </a:xfrm>
          <a:prstGeom xmlns:a="http://schemas.openxmlformats.org/drawingml/2006/main" prst="rect">
            <a:avLst/>
          </a:prstGeom>
          <a:solidFill xmlns:a="http://schemas.openxmlformats.org/drawingml/2006/main">
            <a:srgbClr val="66C43A"/>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875FEF75-92A5-4A89-938D-04FDC76BE7D4}"/>
              </a:ext>
            </a:extLst>
          </p:cNvPr>
          <p:cNvSpPr>
            <a:spLocks xmlns:a="http://schemas.openxmlformats.org/drawingml/2006/main" noGrp="1"/>
          </p:cNvSpPr>
          <p:nvPr/>
        </p:nvSpPr>
        <p:spPr>
          <a:xfrm xmlns:a="http://schemas.openxmlformats.org/drawingml/2006/main">
            <a:off x="533400" y="666750"/>
            <a:ext cx="44767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050" b="1">
                <a:solidFill>
                  <a:srgbClr val="5E6B7A"/>
                </a:solidFill>
              </a:defRPr>
            </a:pPr>
            <a:r>
              <a:rPr sz="1050" b="1">
                <a:solidFill>
                  <a:srgbClr val="5E6B7A"/>
                </a:solidFill>
              </a:rPr>
              <a:t>TOOLS AND LOTO</a:t>
            </a:r>
          </a:p>
        </p:txBody>
      </p:sp>
      <p:sp>
        <p:nvSpPr>
          <p:cNvPr id="4" name="">
            <a:extLst xmlns:a="http://schemas.openxmlformats.org/drawingml/2006/main">
              <a:ext uri="{FF2B5EF4-FFF2-40B4-BE49-F238E27FC236}">
                <a16:creationId xmlns:a16="http://schemas.microsoft.com/office/drawing/2014/main" id="{79F62146-630F-45DF-A76C-6695EA402877}"/>
              </a:ext>
            </a:extLst>
          </p:cNvPr>
          <p:cNvSpPr>
            <a:spLocks xmlns:a="http://schemas.openxmlformats.org/drawingml/2006/main" noGrp="1"/>
          </p:cNvSpPr>
          <p:nvPr/>
        </p:nvSpPr>
        <p:spPr>
          <a:xfrm xmlns:a="http://schemas.openxmlformats.org/drawingml/2006/main">
            <a:off x="533400" y="1047750"/>
            <a:ext cx="5524500" cy="1428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3150" b="1">
                <a:solidFill>
                  <a:srgbClr val="0B243D"/>
                </a:solidFill>
              </a:defRPr>
            </a:pPr>
            <a:r>
              <a:rPr sz="3150" b="1">
                <a:solidFill>
                  <a:srgbClr val="0B243D"/>
                </a:solidFill>
              </a:rPr>
              <a:t>Use tools only when trained and protected.</a:t>
            </a:r>
          </a:p>
        </p:txBody>
      </p:sp>
      <p:sp>
        <p:nvSpPr>
          <p:cNvPr id="5" name="">
            <a:extLst xmlns:a="http://schemas.openxmlformats.org/drawingml/2006/main">
              <a:ext uri="{FF2B5EF4-FFF2-40B4-BE49-F238E27FC236}">
                <a16:creationId xmlns:a16="http://schemas.microsoft.com/office/drawing/2014/main" id="{F2DCC42D-25BB-40F0-BAAC-D206AB131169}"/>
              </a:ext>
            </a:extLst>
          </p:cNvPr>
          <p:cNvSpPr>
            <a:spLocks xmlns:a="http://schemas.openxmlformats.org/drawingml/2006/main" noGrp="1"/>
          </p:cNvSpPr>
          <p:nvPr/>
        </p:nvSpPr>
        <p:spPr>
          <a:xfrm xmlns:a="http://schemas.openxmlformats.org/drawingml/2006/main">
            <a:off x="609600" y="2990850"/>
            <a:ext cx="114300" cy="114300"/>
          </a:xfrm>
          <a:prstGeom xmlns:a="http://schemas.openxmlformats.org/drawingml/2006/main" prst="rect">
            <a:avLst/>
          </a:prstGeom>
          <a:solidFill xmlns:a="http://schemas.openxmlformats.org/drawingml/2006/main">
            <a:srgbClr val="66C43A"/>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7630BF5D-A3D4-49FF-A6B9-EEB765714234}"/>
              </a:ext>
            </a:extLst>
          </p:cNvPr>
          <p:cNvSpPr>
            <a:spLocks xmlns:a="http://schemas.openxmlformats.org/drawingml/2006/main" noGrp="1"/>
          </p:cNvSpPr>
          <p:nvPr/>
        </p:nvSpPr>
        <p:spPr>
          <a:xfrm xmlns:a="http://schemas.openxmlformats.org/drawingml/2006/main">
            <a:off x="914400" y="2914650"/>
            <a:ext cx="53340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800" b="1">
                <a:solidFill>
                  <a:srgbClr val="12233A"/>
                </a:solidFill>
              </a:defRPr>
            </a:pPr>
            <a:r>
              <a:rPr sz="1800" b="1">
                <a:solidFill>
                  <a:srgbClr val="12233A"/>
                </a:solidFill>
              </a:rPr>
              <a:t>Inspect tools, guards, cords, and accessories</a:t>
            </a:r>
          </a:p>
        </p:txBody>
      </p:sp>
      <p:sp>
        <p:nvSpPr>
          <p:cNvPr id="7" name="">
            <a:extLst xmlns:a="http://schemas.openxmlformats.org/drawingml/2006/main">
              <a:ext uri="{FF2B5EF4-FFF2-40B4-BE49-F238E27FC236}">
                <a16:creationId xmlns:a16="http://schemas.microsoft.com/office/drawing/2014/main" id="{092F987D-D853-4CE7-9EFA-37EA285EBDDF}"/>
              </a:ext>
            </a:extLst>
          </p:cNvPr>
          <p:cNvSpPr>
            <a:spLocks xmlns:a="http://schemas.openxmlformats.org/drawingml/2006/main" noGrp="1"/>
          </p:cNvSpPr>
          <p:nvPr/>
        </p:nvSpPr>
        <p:spPr>
          <a:xfrm xmlns:a="http://schemas.openxmlformats.org/drawingml/2006/main">
            <a:off x="609600" y="3600450"/>
            <a:ext cx="114300" cy="114300"/>
          </a:xfrm>
          <a:prstGeom xmlns:a="http://schemas.openxmlformats.org/drawingml/2006/main" prst="rect">
            <a:avLst/>
          </a:prstGeom>
          <a:solidFill xmlns:a="http://schemas.openxmlformats.org/drawingml/2006/main">
            <a:srgbClr val="66C43A"/>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3FF7ECF1-21E2-45B2-ADBD-C2669F525608}"/>
              </a:ext>
            </a:extLst>
          </p:cNvPr>
          <p:cNvSpPr>
            <a:spLocks xmlns:a="http://schemas.openxmlformats.org/drawingml/2006/main" noGrp="1"/>
          </p:cNvSpPr>
          <p:nvPr/>
        </p:nvSpPr>
        <p:spPr>
          <a:xfrm xmlns:a="http://schemas.openxmlformats.org/drawingml/2006/main">
            <a:off x="914400" y="3524250"/>
            <a:ext cx="53340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800" b="0">
                <a:solidFill>
                  <a:srgbClr val="12233A"/>
                </a:solidFill>
              </a:defRPr>
            </a:pPr>
            <a:r>
              <a:rPr sz="1800" b="0">
                <a:solidFill>
                  <a:srgbClr val="12233A"/>
                </a:solidFill>
              </a:rPr>
              <a:t>Disconnect power before changing attachments</a:t>
            </a:r>
          </a:p>
        </p:txBody>
      </p:sp>
      <p:sp>
        <p:nvSpPr>
          <p:cNvPr id="9" name="">
            <a:extLst xmlns:a="http://schemas.openxmlformats.org/drawingml/2006/main">
              <a:ext uri="{FF2B5EF4-FFF2-40B4-BE49-F238E27FC236}">
                <a16:creationId xmlns:a16="http://schemas.microsoft.com/office/drawing/2014/main" id="{D86E9642-18D5-41D4-93BA-3B7E845CA783}"/>
              </a:ext>
            </a:extLst>
          </p:cNvPr>
          <p:cNvSpPr>
            <a:spLocks xmlns:a="http://schemas.openxmlformats.org/drawingml/2006/main" noGrp="1"/>
          </p:cNvSpPr>
          <p:nvPr/>
        </p:nvSpPr>
        <p:spPr>
          <a:xfrm xmlns:a="http://schemas.openxmlformats.org/drawingml/2006/main">
            <a:off x="609600" y="4210050"/>
            <a:ext cx="114300" cy="114300"/>
          </a:xfrm>
          <a:prstGeom xmlns:a="http://schemas.openxmlformats.org/drawingml/2006/main" prst="rect">
            <a:avLst/>
          </a:prstGeom>
          <a:solidFill xmlns:a="http://schemas.openxmlformats.org/drawingml/2006/main">
            <a:srgbClr val="66C43A"/>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2729866B-D038-491D-9E13-9FE11274E32C}"/>
              </a:ext>
            </a:extLst>
          </p:cNvPr>
          <p:cNvSpPr>
            <a:spLocks xmlns:a="http://schemas.openxmlformats.org/drawingml/2006/main" noGrp="1"/>
          </p:cNvSpPr>
          <p:nvPr/>
        </p:nvSpPr>
        <p:spPr>
          <a:xfrm xmlns:a="http://schemas.openxmlformats.org/drawingml/2006/main">
            <a:off x="914400" y="4133850"/>
            <a:ext cx="53340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800" b="0">
                <a:solidFill>
                  <a:srgbClr val="12233A"/>
                </a:solidFill>
              </a:defRPr>
            </a:pPr>
            <a:r>
              <a:rPr sz="1800" b="0">
                <a:solidFill>
                  <a:srgbClr val="12233A"/>
                </a:solidFill>
              </a:rPr>
              <a:t>Lockout/tagout requires authorized personnel</a:t>
            </a:r>
          </a:p>
        </p:txBody>
      </p:sp>
      <p:sp>
        <p:nvSpPr>
          <p:cNvPr id="11" name="">
            <a:extLst xmlns:a="http://schemas.openxmlformats.org/drawingml/2006/main">
              <a:ext uri="{FF2B5EF4-FFF2-40B4-BE49-F238E27FC236}">
                <a16:creationId xmlns:a16="http://schemas.microsoft.com/office/drawing/2014/main" id="{C4A8AF12-2E7E-4034-AE06-C2D21A5C5818}"/>
              </a:ext>
            </a:extLst>
          </p:cNvPr>
          <p:cNvSpPr>
            <a:spLocks xmlns:a="http://schemas.openxmlformats.org/drawingml/2006/main" noGrp="1"/>
          </p:cNvSpPr>
          <p:nvPr/>
        </p:nvSpPr>
        <p:spPr>
          <a:xfrm xmlns:a="http://schemas.openxmlformats.org/drawingml/2006/main">
            <a:off x="6858000" y="704850"/>
            <a:ext cx="4495800" cy="4953000"/>
          </a:xfrm>
          <a:prstGeom xmlns:a="http://schemas.openxmlformats.org/drawingml/2006/main" prst="rect">
            <a:avLst/>
          </a:prstGeom>
          <a:solidFill xmlns:a="http://schemas.openxmlformats.org/drawingml/2006/main">
            <a:srgbClr val="F3F6F8"/>
          </a:solidFill>
          <a:ln xmlns:a="http://schemas.openxmlformats.org/drawingml/2006/main" w="9525">
            <a:solidFill>
              <a:srgbClr val="D8E1EA"/>
            </a:solidFill>
            <a:prstDash val="solid"/>
          </a:ln>
        </p:spPr>
      </p:sp>
      <p:sp>
        <p:nvSpPr>
          <p:cNvPr id="12" name="">
            <a:extLst xmlns:a="http://schemas.openxmlformats.org/drawingml/2006/main">
              <a:ext uri="{FF2B5EF4-FFF2-40B4-BE49-F238E27FC236}">
                <a16:creationId xmlns:a16="http://schemas.microsoft.com/office/drawing/2014/main" id="{CACFBE96-ACCB-40B3-9AD9-08BC2C41ACDA}"/>
              </a:ext>
            </a:extLst>
          </p:cNvPr>
          <p:cNvSpPr>
            <a:spLocks xmlns:a="http://schemas.openxmlformats.org/drawingml/2006/main" noGrp="1"/>
          </p:cNvSpPr>
          <p:nvPr/>
        </p:nvSpPr>
        <p:spPr>
          <a:xfrm xmlns:a="http://schemas.openxmlformats.org/drawingml/2006/main">
            <a:off x="6858000" y="704850"/>
            <a:ext cx="4495800" cy="114300"/>
          </a:xfrm>
          <a:prstGeom xmlns:a="http://schemas.openxmlformats.org/drawingml/2006/main" prst="rect">
            <a:avLst/>
          </a:prstGeom>
          <a:solidFill xmlns:a="http://schemas.openxmlformats.org/drawingml/2006/main">
            <a:srgbClr val="66C43A"/>
          </a:solidFill>
          <a:ln xmlns:a="http://schemas.openxmlformats.org/drawingml/2006/main" w="0">
            <a:noFill/>
            <a:prstDash val="solid"/>
          </a:ln>
        </p:spPr>
      </p:sp>
      <p:sp>
        <p:nvSpPr>
          <p:cNvPr id="13" name="">
            <a:extLst xmlns:a="http://schemas.openxmlformats.org/drawingml/2006/main">
              <a:ext uri="{FF2B5EF4-FFF2-40B4-BE49-F238E27FC236}">
                <a16:creationId xmlns:a16="http://schemas.microsoft.com/office/drawing/2014/main" id="{DCF369E4-1950-4578-BD33-177E427395D8}"/>
              </a:ext>
            </a:extLst>
          </p:cNvPr>
          <p:cNvSpPr>
            <a:spLocks xmlns:a="http://schemas.openxmlformats.org/drawingml/2006/main" noGrp="1"/>
          </p:cNvSpPr>
          <p:nvPr/>
        </p:nvSpPr>
        <p:spPr>
          <a:xfrm xmlns:a="http://schemas.openxmlformats.org/drawingml/2006/main">
            <a:off x="7200900" y="1123950"/>
            <a:ext cx="1714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050" b="1">
                <a:solidFill>
                  <a:srgbClr val="5E6B7A"/>
                </a:solidFill>
              </a:defRPr>
            </a:pPr>
            <a:r>
              <a:rPr sz="1050" b="1">
                <a:solidFill>
                  <a:srgbClr val="5E6B7A"/>
                </a:solidFill>
              </a:rPr>
              <a:t>VIDEO VISUAL</a:t>
            </a:r>
          </a:p>
        </p:txBody>
      </p:sp>
      <p:sp>
        <p:nvSpPr>
          <p:cNvPr id="14" name="">
            <a:extLst xmlns:a="http://schemas.openxmlformats.org/drawingml/2006/main">
              <a:ext uri="{FF2B5EF4-FFF2-40B4-BE49-F238E27FC236}">
                <a16:creationId xmlns:a16="http://schemas.microsoft.com/office/drawing/2014/main" id="{2EEA145D-48B7-4F02-B7DE-903E5420B050}"/>
              </a:ext>
            </a:extLst>
          </p:cNvPr>
          <p:cNvSpPr>
            <a:spLocks xmlns:a="http://schemas.openxmlformats.org/drawingml/2006/main" noGrp="1"/>
          </p:cNvSpPr>
          <p:nvPr/>
        </p:nvSpPr>
        <p:spPr>
          <a:xfrm xmlns:a="http://schemas.openxmlformats.org/drawingml/2006/main">
            <a:off x="7200900" y="1543050"/>
            <a:ext cx="3810000" cy="1047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800" b="1">
                <a:solidFill>
                  <a:srgbClr val="12233A"/>
                </a:solidFill>
              </a:defRPr>
            </a:pPr>
            <a:r>
              <a:rPr sz="1800" b="1">
                <a:solidFill>
                  <a:srgbClr val="12233A"/>
                </a:solidFill>
              </a:rPr>
              <a:t>Tool inspection beside lock and tag applied to isolated equipment.</a:t>
            </a:r>
          </a:p>
        </p:txBody>
      </p:sp>
      <p:sp>
        <p:nvSpPr>
          <p:cNvPr id="15" name="">
            <a:extLst xmlns:a="http://schemas.openxmlformats.org/drawingml/2006/main">
              <a:ext uri="{FF2B5EF4-FFF2-40B4-BE49-F238E27FC236}">
                <a16:creationId xmlns:a16="http://schemas.microsoft.com/office/drawing/2014/main" id="{D039364C-D476-4F4C-ADC4-B6E73C24CEC3}"/>
              </a:ext>
            </a:extLst>
          </p:cNvPr>
          <p:cNvSpPr>
            <a:spLocks xmlns:a="http://schemas.openxmlformats.org/drawingml/2006/main" noGrp="1"/>
          </p:cNvSpPr>
          <p:nvPr/>
        </p:nvSpPr>
        <p:spPr>
          <a:xfrm xmlns:a="http://schemas.openxmlformats.org/drawingml/2006/main">
            <a:off x="7200900" y="3028950"/>
            <a:ext cx="171450" cy="171450"/>
          </a:xfrm>
          <a:prstGeom xmlns:a="http://schemas.openxmlformats.org/drawingml/2006/main" prst="rect">
            <a:avLst/>
          </a:prstGeom>
          <a:solidFill xmlns:a="http://schemas.openxmlformats.org/drawingml/2006/main">
            <a:srgbClr val="66C43A"/>
          </a:solidFill>
          <a:ln xmlns:a="http://schemas.openxmlformats.org/drawingml/2006/main" w="0">
            <a:noFill/>
            <a:prstDash val="solid"/>
          </a:ln>
        </p:spPr>
      </p:sp>
      <p:sp>
        <p:nvSpPr>
          <p:cNvPr id="16" name="">
            <a:extLst xmlns:a="http://schemas.openxmlformats.org/drawingml/2006/main">
              <a:ext uri="{FF2B5EF4-FFF2-40B4-BE49-F238E27FC236}">
                <a16:creationId xmlns:a16="http://schemas.microsoft.com/office/drawing/2014/main" id="{19C6C10B-F045-467C-8F67-B0A31931C50B}"/>
              </a:ext>
            </a:extLst>
          </p:cNvPr>
          <p:cNvSpPr>
            <a:spLocks xmlns:a="http://schemas.openxmlformats.org/drawingml/2006/main" noGrp="1"/>
          </p:cNvSpPr>
          <p:nvPr/>
        </p:nvSpPr>
        <p:spPr>
          <a:xfrm xmlns:a="http://schemas.openxmlformats.org/drawingml/2006/main">
            <a:off x="7524750" y="3000375"/>
            <a:ext cx="3143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500" b="1">
                <a:solidFill>
                  <a:srgbClr val="0B243D"/>
                </a:solidFill>
              </a:defRPr>
            </a:pPr>
            <a:r>
              <a:rPr sz="1500" b="1">
                <a:solidFill>
                  <a:srgbClr val="0B243D"/>
                </a:solidFill>
              </a:rPr>
              <a:t>Inspect tools, guards, cords, and accessories</a:t>
            </a:r>
          </a:p>
        </p:txBody>
      </p:sp>
      <p:sp>
        <p:nvSpPr>
          <p:cNvPr id="17" name="">
            <a:extLst xmlns:a="http://schemas.openxmlformats.org/drawingml/2006/main">
              <a:ext uri="{FF2B5EF4-FFF2-40B4-BE49-F238E27FC236}">
                <a16:creationId xmlns:a16="http://schemas.microsoft.com/office/drawing/2014/main" id="{5630DAA6-CA29-4E50-8773-CF6686A70520}"/>
              </a:ext>
            </a:extLst>
          </p:cNvPr>
          <p:cNvSpPr>
            <a:spLocks xmlns:a="http://schemas.openxmlformats.org/drawingml/2006/main" noGrp="1"/>
          </p:cNvSpPr>
          <p:nvPr/>
        </p:nvSpPr>
        <p:spPr>
          <a:xfrm xmlns:a="http://schemas.openxmlformats.org/drawingml/2006/main">
            <a:off x="7200900" y="3467100"/>
            <a:ext cx="171450" cy="171450"/>
          </a:xfrm>
          <a:prstGeom xmlns:a="http://schemas.openxmlformats.org/drawingml/2006/main" prst="rect">
            <a:avLst/>
          </a:prstGeom>
          <a:solidFill xmlns:a="http://schemas.openxmlformats.org/drawingml/2006/main">
            <a:srgbClr val="66C43A"/>
          </a:solidFill>
          <a:ln xmlns:a="http://schemas.openxmlformats.org/drawingml/2006/main" w="0">
            <a:noFill/>
            <a:prstDash val="solid"/>
          </a:ln>
        </p:spPr>
      </p:sp>
      <p:sp>
        <p:nvSpPr>
          <p:cNvPr id="18" name="">
            <a:extLst xmlns:a="http://schemas.openxmlformats.org/drawingml/2006/main">
              <a:ext uri="{FF2B5EF4-FFF2-40B4-BE49-F238E27FC236}">
                <a16:creationId xmlns:a16="http://schemas.microsoft.com/office/drawing/2014/main" id="{3C1CA561-03A1-49A0-AB81-15894937B5F3}"/>
              </a:ext>
            </a:extLst>
          </p:cNvPr>
          <p:cNvSpPr>
            <a:spLocks xmlns:a="http://schemas.openxmlformats.org/drawingml/2006/main" noGrp="1"/>
          </p:cNvSpPr>
          <p:nvPr/>
        </p:nvSpPr>
        <p:spPr>
          <a:xfrm xmlns:a="http://schemas.openxmlformats.org/drawingml/2006/main">
            <a:off x="7524750" y="3438525"/>
            <a:ext cx="3143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500" b="1">
                <a:solidFill>
                  <a:srgbClr val="0B243D"/>
                </a:solidFill>
              </a:defRPr>
            </a:pPr>
            <a:r>
              <a:rPr sz="1500" b="1">
                <a:solidFill>
                  <a:srgbClr val="0B243D"/>
                </a:solidFill>
              </a:rPr>
              <a:t>Disconnect power before changing attachments</a:t>
            </a:r>
          </a:p>
        </p:txBody>
      </p:sp>
      <p:sp>
        <p:nvSpPr>
          <p:cNvPr id="19" name="">
            <a:extLst xmlns:a="http://schemas.openxmlformats.org/drawingml/2006/main">
              <a:ext uri="{FF2B5EF4-FFF2-40B4-BE49-F238E27FC236}">
                <a16:creationId xmlns:a16="http://schemas.microsoft.com/office/drawing/2014/main" id="{6E5E6E04-1CA6-405D-B89C-E689880992C4}"/>
              </a:ext>
            </a:extLst>
          </p:cNvPr>
          <p:cNvSpPr>
            <a:spLocks xmlns:a="http://schemas.openxmlformats.org/drawingml/2006/main" noGrp="1"/>
          </p:cNvSpPr>
          <p:nvPr/>
        </p:nvSpPr>
        <p:spPr>
          <a:xfrm xmlns:a="http://schemas.openxmlformats.org/drawingml/2006/main">
            <a:off x="7200900" y="3905250"/>
            <a:ext cx="171450" cy="171450"/>
          </a:xfrm>
          <a:prstGeom xmlns:a="http://schemas.openxmlformats.org/drawingml/2006/main" prst="rect">
            <a:avLst/>
          </a:prstGeom>
          <a:solidFill xmlns:a="http://schemas.openxmlformats.org/drawingml/2006/main">
            <a:srgbClr val="66C43A"/>
          </a:solidFill>
          <a:ln xmlns:a="http://schemas.openxmlformats.org/drawingml/2006/main" w="0">
            <a:noFill/>
            <a:prstDash val="solid"/>
          </a:ln>
        </p:spPr>
      </p:sp>
      <p:sp>
        <p:nvSpPr>
          <p:cNvPr id="20" name="">
            <a:extLst xmlns:a="http://schemas.openxmlformats.org/drawingml/2006/main">
              <a:ext uri="{FF2B5EF4-FFF2-40B4-BE49-F238E27FC236}">
                <a16:creationId xmlns:a16="http://schemas.microsoft.com/office/drawing/2014/main" id="{5B74A586-ADD6-4C20-AD07-35C53A3CFC4B}"/>
              </a:ext>
            </a:extLst>
          </p:cNvPr>
          <p:cNvSpPr>
            <a:spLocks xmlns:a="http://schemas.openxmlformats.org/drawingml/2006/main" noGrp="1"/>
          </p:cNvSpPr>
          <p:nvPr/>
        </p:nvSpPr>
        <p:spPr>
          <a:xfrm xmlns:a="http://schemas.openxmlformats.org/drawingml/2006/main">
            <a:off x="7524750" y="3876675"/>
            <a:ext cx="3143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500" b="1">
                <a:solidFill>
                  <a:srgbClr val="0B243D"/>
                </a:solidFill>
              </a:defRPr>
            </a:pPr>
            <a:r>
              <a:rPr sz="1500" b="1">
                <a:solidFill>
                  <a:srgbClr val="0B243D"/>
                </a:solidFill>
              </a:rPr>
              <a:t>Lockout/tagout requires authorized personnel</a:t>
            </a:r>
          </a:p>
        </p:txBody>
      </p:sp>
      <p:sp>
        <p:nvSpPr>
          <p:cNvPr id="21" name="">
            <a:extLst xmlns:a="http://schemas.openxmlformats.org/drawingml/2006/main">
              <a:ext uri="{FF2B5EF4-FFF2-40B4-BE49-F238E27FC236}">
                <a16:creationId xmlns:a16="http://schemas.microsoft.com/office/drawing/2014/main" id="{C8C06E9B-2CCF-4EE8-A07D-7160BA8147DB}"/>
              </a:ext>
            </a:extLst>
          </p:cNvPr>
          <p:cNvSpPr>
            <a:spLocks xmlns:a="http://schemas.openxmlformats.org/drawingml/2006/main" noGrp="1"/>
          </p:cNvSpPr>
          <p:nvPr/>
        </p:nvSpPr>
        <p:spPr>
          <a:xfrm xmlns:a="http://schemas.openxmlformats.org/drawingml/2006/main">
            <a:off x="7200900" y="5219700"/>
            <a:ext cx="1714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975" b="1">
                <a:solidFill>
                  <a:srgbClr val="5E6B7A"/>
                </a:solidFill>
              </a:defRPr>
            </a:pPr>
            <a:r>
              <a:rPr sz="975" b="1">
                <a:solidFill>
                  <a:srgbClr val="5E6B7A"/>
                </a:solidFill>
              </a:rPr>
              <a:t>Scene 12</a:t>
            </a:r>
          </a:p>
        </p:txBody>
      </p:sp>
      <p:sp>
        <p:nvSpPr>
          <p:cNvPr id="22" name="">
            <a:extLst xmlns:a="http://schemas.openxmlformats.org/drawingml/2006/main">
              <a:ext uri="{FF2B5EF4-FFF2-40B4-BE49-F238E27FC236}">
                <a16:creationId xmlns:a16="http://schemas.microsoft.com/office/drawing/2014/main" id="{9DBE0586-76DE-43D4-81C8-6C34F0F48736}"/>
              </a:ext>
            </a:extLst>
          </p:cNvPr>
          <p:cNvSpPr>
            <a:spLocks xmlns:a="http://schemas.openxmlformats.org/drawingml/2006/main" noGrp="1"/>
          </p:cNvSpPr>
          <p:nvPr/>
        </p:nvSpPr>
        <p:spPr>
          <a:xfrm xmlns:a="http://schemas.openxmlformats.org/drawingml/2006/main">
            <a:off x="0" y="6515100"/>
            <a:ext cx="12192000" cy="342900"/>
          </a:xfrm>
          <a:prstGeom xmlns:a="http://schemas.openxmlformats.org/drawingml/2006/main" prst="rect">
            <a:avLst/>
          </a:prstGeom>
          <a:solidFill xmlns:a="http://schemas.openxmlformats.org/drawingml/2006/main">
            <a:srgbClr val="0B243D"/>
          </a:solidFill>
          <a:ln xmlns:a="http://schemas.openxmlformats.org/drawingml/2006/main" w="0">
            <a:noFill/>
            <a:prstDash val="solid"/>
          </a:ln>
        </p:spPr>
      </p:sp>
      <p:sp>
        <p:nvSpPr>
          <p:cNvPr id="23" name="">
            <a:extLst xmlns:a="http://schemas.openxmlformats.org/drawingml/2006/main">
              <a:ext uri="{FF2B5EF4-FFF2-40B4-BE49-F238E27FC236}">
                <a16:creationId xmlns:a16="http://schemas.microsoft.com/office/drawing/2014/main" id="{8D789F0E-DAF3-4C5A-81F5-E304BE7EA68C}"/>
              </a:ext>
            </a:extLst>
          </p:cNvPr>
          <p:cNvSpPr>
            <a:spLocks xmlns:a="http://schemas.openxmlformats.org/drawingml/2006/main" noGrp="1"/>
          </p:cNvSpPr>
          <p:nvPr/>
        </p:nvSpPr>
        <p:spPr>
          <a:xfrm xmlns:a="http://schemas.openxmlformats.org/drawingml/2006/main">
            <a:off x="533400" y="6600825"/>
            <a:ext cx="3429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975" b="1">
                <a:solidFill>
                  <a:srgbClr val="FFFFFF"/>
                </a:solidFill>
              </a:defRPr>
            </a:pPr>
            <a:r>
              <a:rPr sz="975" b="1">
                <a:solidFill>
                  <a:srgbClr val="FFFFFF"/>
                </a:solidFill>
              </a:rPr>
              <a:t>PAL Environmental Services</a:t>
            </a:r>
          </a:p>
        </p:txBody>
      </p:sp>
      <p:sp>
        <p:nvSpPr>
          <p:cNvPr id="24" name="">
            <a:extLst xmlns:a="http://schemas.openxmlformats.org/drawingml/2006/main">
              <a:ext uri="{FF2B5EF4-FFF2-40B4-BE49-F238E27FC236}">
                <a16:creationId xmlns:a16="http://schemas.microsoft.com/office/drawing/2014/main" id="{E0FC044C-6E18-4182-85E7-21F1A662CB1F}"/>
              </a:ext>
            </a:extLst>
          </p:cNvPr>
          <p:cNvSpPr>
            <a:spLocks xmlns:a="http://schemas.openxmlformats.org/drawingml/2006/main" noGrp="1"/>
          </p:cNvSpPr>
          <p:nvPr/>
        </p:nvSpPr>
        <p:spPr>
          <a:xfrm xmlns:a="http://schemas.openxmlformats.org/drawingml/2006/main">
            <a:off x="9620250" y="6600825"/>
            <a:ext cx="2095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900">
                <a:solidFill>
                  <a:srgbClr val="DDEAF5"/>
                </a:solidFill>
              </a:defRPr>
            </a:pPr>
            <a:r>
              <a:rPr sz="900">
                <a:solidFill>
                  <a:srgbClr val="DDEAF5"/>
                </a:solidFill>
              </a:rPr>
              <a:t>Employee Orientation  |  12</a:t>
            </a:r>
          </a:p>
        </p:txBody>
      </p:sp>
    </p:spTree>
    <p:extLst>
      <p:ext uri="{BB962C8B-B14F-4D97-AF65-F5344CB8AC3E}">
        <p14:creationId xmlns:p14="http://schemas.microsoft.com/office/powerpoint/2010/main" val="1794412239"/>
      </p:ext>
    </p:extLst>
  </p:cSld>
</p:sld>
</file>

<file path=ppt/slides/slide1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154253EE-DD29-4F5E-84DB-26BDFB1FECAE}"/>
              </a:ext>
            </a:extLst>
          </p:cNvPr>
          <p:cNvSpPr>
            <a:spLocks xmlns:a="http://schemas.openxmlformats.org/drawingml/2006/main" noGrp="1"/>
          </p:cNvSpPr>
          <p:nvPr/>
        </p:nvSpPr>
        <p:spPr>
          <a:xfrm xmlns:a="http://schemas.openxmlformats.org/drawingml/2006/main">
            <a:off x="0" y="0"/>
            <a:ext cx="12192000" cy="266700"/>
          </a:xfrm>
          <a:prstGeom xmlns:a="http://schemas.openxmlformats.org/drawingml/2006/main" prst="rect">
            <a:avLst/>
          </a:prstGeom>
          <a:solidFill xmlns:a="http://schemas.openxmlformats.org/drawingml/2006/main">
            <a:srgbClr val="0B243D"/>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34EE846E-AED9-4FD7-8149-63264D4ED082}"/>
              </a:ext>
            </a:extLst>
          </p:cNvPr>
          <p:cNvSpPr>
            <a:spLocks xmlns:a="http://schemas.openxmlformats.org/drawingml/2006/main" noGrp="1"/>
          </p:cNvSpPr>
          <p:nvPr/>
        </p:nvSpPr>
        <p:spPr>
          <a:xfrm xmlns:a="http://schemas.openxmlformats.org/drawingml/2006/main">
            <a:off x="0" y="266700"/>
            <a:ext cx="171450" cy="6248400"/>
          </a:xfrm>
          <a:prstGeom xmlns:a="http://schemas.openxmlformats.org/drawingml/2006/main" prst="rect">
            <a:avLst/>
          </a:prstGeom>
          <a:solidFill xmlns:a="http://schemas.openxmlformats.org/drawingml/2006/main">
            <a:srgbClr val="66C43A"/>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B7F47E0A-C8EC-4D88-865F-14562934C44F}"/>
              </a:ext>
            </a:extLst>
          </p:cNvPr>
          <p:cNvSpPr>
            <a:spLocks xmlns:a="http://schemas.openxmlformats.org/drawingml/2006/main" noGrp="1"/>
          </p:cNvSpPr>
          <p:nvPr/>
        </p:nvSpPr>
        <p:spPr>
          <a:xfrm xmlns:a="http://schemas.openxmlformats.org/drawingml/2006/main">
            <a:off x="533400" y="666750"/>
            <a:ext cx="44767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050" b="1">
                <a:solidFill>
                  <a:srgbClr val="5E6B7A"/>
                </a:solidFill>
              </a:defRPr>
            </a:pPr>
            <a:r>
              <a:rPr sz="1050" b="1">
                <a:solidFill>
                  <a:srgbClr val="5E6B7A"/>
                </a:solidFill>
              </a:rPr>
              <a:t>MATERIAL HANDLING</a:t>
            </a:r>
          </a:p>
        </p:txBody>
      </p:sp>
      <p:sp>
        <p:nvSpPr>
          <p:cNvPr id="4" name="">
            <a:extLst xmlns:a="http://schemas.openxmlformats.org/drawingml/2006/main">
              <a:ext uri="{FF2B5EF4-FFF2-40B4-BE49-F238E27FC236}">
                <a16:creationId xmlns:a16="http://schemas.microsoft.com/office/drawing/2014/main" id="{D87F4EAA-3E7F-481D-9360-D0014386E505}"/>
              </a:ext>
            </a:extLst>
          </p:cNvPr>
          <p:cNvSpPr>
            <a:spLocks xmlns:a="http://schemas.openxmlformats.org/drawingml/2006/main" noGrp="1"/>
          </p:cNvSpPr>
          <p:nvPr/>
        </p:nvSpPr>
        <p:spPr>
          <a:xfrm xmlns:a="http://schemas.openxmlformats.org/drawingml/2006/main">
            <a:off x="533400" y="1047750"/>
            <a:ext cx="5524500" cy="1428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3150" b="1">
                <a:solidFill>
                  <a:srgbClr val="0B243D"/>
                </a:solidFill>
              </a:defRPr>
            </a:pPr>
            <a:r>
              <a:rPr sz="3150" b="1">
                <a:solidFill>
                  <a:srgbClr val="0B243D"/>
                </a:solidFill>
              </a:rPr>
              <a:t>Plan the lift before touching the load.</a:t>
            </a:r>
          </a:p>
        </p:txBody>
      </p:sp>
      <p:sp>
        <p:nvSpPr>
          <p:cNvPr id="5" name="">
            <a:extLst xmlns:a="http://schemas.openxmlformats.org/drawingml/2006/main">
              <a:ext uri="{FF2B5EF4-FFF2-40B4-BE49-F238E27FC236}">
                <a16:creationId xmlns:a16="http://schemas.microsoft.com/office/drawing/2014/main" id="{4ED5B3F8-07C4-4672-B45A-F7DBA4CA3211}"/>
              </a:ext>
            </a:extLst>
          </p:cNvPr>
          <p:cNvSpPr>
            <a:spLocks xmlns:a="http://schemas.openxmlformats.org/drawingml/2006/main" noGrp="1"/>
          </p:cNvSpPr>
          <p:nvPr/>
        </p:nvSpPr>
        <p:spPr>
          <a:xfrm xmlns:a="http://schemas.openxmlformats.org/drawingml/2006/main">
            <a:off x="609600" y="2990850"/>
            <a:ext cx="114300" cy="114300"/>
          </a:xfrm>
          <a:prstGeom xmlns:a="http://schemas.openxmlformats.org/drawingml/2006/main" prst="rect">
            <a:avLst/>
          </a:prstGeom>
          <a:solidFill xmlns:a="http://schemas.openxmlformats.org/drawingml/2006/main">
            <a:srgbClr val="66C43A"/>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1D9A77CF-2DB8-4447-85B3-B491EB8AD970}"/>
              </a:ext>
            </a:extLst>
          </p:cNvPr>
          <p:cNvSpPr>
            <a:spLocks xmlns:a="http://schemas.openxmlformats.org/drawingml/2006/main" noGrp="1"/>
          </p:cNvSpPr>
          <p:nvPr/>
        </p:nvSpPr>
        <p:spPr>
          <a:xfrm xmlns:a="http://schemas.openxmlformats.org/drawingml/2006/main">
            <a:off x="914400" y="2914650"/>
            <a:ext cx="53340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800" b="1">
                <a:solidFill>
                  <a:srgbClr val="12233A"/>
                </a:solidFill>
              </a:defRPr>
            </a:pPr>
            <a:r>
              <a:rPr sz="1800" b="1">
                <a:solidFill>
                  <a:srgbClr val="12233A"/>
                </a:solidFill>
              </a:rPr>
              <a:t>Know the weight, size, and shape</a:t>
            </a:r>
          </a:p>
        </p:txBody>
      </p:sp>
      <p:sp>
        <p:nvSpPr>
          <p:cNvPr id="7" name="">
            <a:extLst xmlns:a="http://schemas.openxmlformats.org/drawingml/2006/main">
              <a:ext uri="{FF2B5EF4-FFF2-40B4-BE49-F238E27FC236}">
                <a16:creationId xmlns:a16="http://schemas.microsoft.com/office/drawing/2014/main" id="{031EEFE5-653C-4030-B7D8-C11A861783AA}"/>
              </a:ext>
            </a:extLst>
          </p:cNvPr>
          <p:cNvSpPr>
            <a:spLocks xmlns:a="http://schemas.openxmlformats.org/drawingml/2006/main" noGrp="1"/>
          </p:cNvSpPr>
          <p:nvPr/>
        </p:nvSpPr>
        <p:spPr>
          <a:xfrm xmlns:a="http://schemas.openxmlformats.org/drawingml/2006/main">
            <a:off x="609600" y="3600450"/>
            <a:ext cx="114300" cy="114300"/>
          </a:xfrm>
          <a:prstGeom xmlns:a="http://schemas.openxmlformats.org/drawingml/2006/main" prst="rect">
            <a:avLst/>
          </a:prstGeom>
          <a:solidFill xmlns:a="http://schemas.openxmlformats.org/drawingml/2006/main">
            <a:srgbClr val="66C43A"/>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21A3A6BA-C63E-423D-AA36-5E9F697FC713}"/>
              </a:ext>
            </a:extLst>
          </p:cNvPr>
          <p:cNvSpPr>
            <a:spLocks xmlns:a="http://schemas.openxmlformats.org/drawingml/2006/main" noGrp="1"/>
          </p:cNvSpPr>
          <p:nvPr/>
        </p:nvSpPr>
        <p:spPr>
          <a:xfrm xmlns:a="http://schemas.openxmlformats.org/drawingml/2006/main">
            <a:off x="914400" y="3524250"/>
            <a:ext cx="53340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800" b="0">
                <a:solidFill>
                  <a:srgbClr val="12233A"/>
                </a:solidFill>
              </a:defRPr>
            </a:pPr>
            <a:r>
              <a:rPr sz="1800" b="0">
                <a:solidFill>
                  <a:srgbClr val="12233A"/>
                </a:solidFill>
              </a:rPr>
              <a:t>Use pallet jacks, dollies, hoists, forklifts, or team lifting when practical</a:t>
            </a:r>
          </a:p>
        </p:txBody>
      </p:sp>
      <p:sp>
        <p:nvSpPr>
          <p:cNvPr id="9" name="">
            <a:extLst xmlns:a="http://schemas.openxmlformats.org/drawingml/2006/main">
              <a:ext uri="{FF2B5EF4-FFF2-40B4-BE49-F238E27FC236}">
                <a16:creationId xmlns:a16="http://schemas.microsoft.com/office/drawing/2014/main" id="{BDB1C1C1-A35F-4893-8B74-8323BEF09DA6}"/>
              </a:ext>
            </a:extLst>
          </p:cNvPr>
          <p:cNvSpPr>
            <a:spLocks xmlns:a="http://schemas.openxmlformats.org/drawingml/2006/main" noGrp="1"/>
          </p:cNvSpPr>
          <p:nvPr/>
        </p:nvSpPr>
        <p:spPr>
          <a:xfrm xmlns:a="http://schemas.openxmlformats.org/drawingml/2006/main">
            <a:off x="609600" y="4210050"/>
            <a:ext cx="114300" cy="114300"/>
          </a:xfrm>
          <a:prstGeom xmlns:a="http://schemas.openxmlformats.org/drawingml/2006/main" prst="rect">
            <a:avLst/>
          </a:prstGeom>
          <a:solidFill xmlns:a="http://schemas.openxmlformats.org/drawingml/2006/main">
            <a:srgbClr val="66C43A"/>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566E8CEA-482D-4B17-A167-50B3806B2845}"/>
              </a:ext>
            </a:extLst>
          </p:cNvPr>
          <p:cNvSpPr>
            <a:spLocks xmlns:a="http://schemas.openxmlformats.org/drawingml/2006/main" noGrp="1"/>
          </p:cNvSpPr>
          <p:nvPr/>
        </p:nvSpPr>
        <p:spPr>
          <a:xfrm xmlns:a="http://schemas.openxmlformats.org/drawingml/2006/main">
            <a:off x="914400" y="4133850"/>
            <a:ext cx="53340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800" b="0">
                <a:solidFill>
                  <a:srgbClr val="12233A"/>
                </a:solidFill>
              </a:defRPr>
            </a:pPr>
            <a:r>
              <a:rPr sz="1800" b="0">
                <a:solidFill>
                  <a:srgbClr val="12233A"/>
                </a:solidFill>
              </a:rPr>
              <a:t>Stop and get help if the load is too heavy or awkward</a:t>
            </a:r>
          </a:p>
        </p:txBody>
      </p:sp>
      <p:sp>
        <p:nvSpPr>
          <p:cNvPr id="11" name="">
            <a:extLst xmlns:a="http://schemas.openxmlformats.org/drawingml/2006/main">
              <a:ext uri="{FF2B5EF4-FFF2-40B4-BE49-F238E27FC236}">
                <a16:creationId xmlns:a16="http://schemas.microsoft.com/office/drawing/2014/main" id="{1EC41B96-7B85-4EDE-B1E8-5258904BB540}"/>
              </a:ext>
            </a:extLst>
          </p:cNvPr>
          <p:cNvSpPr>
            <a:spLocks xmlns:a="http://schemas.openxmlformats.org/drawingml/2006/main" noGrp="1"/>
          </p:cNvSpPr>
          <p:nvPr/>
        </p:nvSpPr>
        <p:spPr>
          <a:xfrm xmlns:a="http://schemas.openxmlformats.org/drawingml/2006/main">
            <a:off x="6858000" y="704850"/>
            <a:ext cx="4495800" cy="4953000"/>
          </a:xfrm>
          <a:prstGeom xmlns:a="http://schemas.openxmlformats.org/drawingml/2006/main" prst="rect">
            <a:avLst/>
          </a:prstGeom>
          <a:solidFill xmlns:a="http://schemas.openxmlformats.org/drawingml/2006/main">
            <a:srgbClr val="F3F6F8"/>
          </a:solidFill>
          <a:ln xmlns:a="http://schemas.openxmlformats.org/drawingml/2006/main" w="9525">
            <a:solidFill>
              <a:srgbClr val="D8E1EA"/>
            </a:solidFill>
            <a:prstDash val="solid"/>
          </a:ln>
        </p:spPr>
      </p:sp>
      <p:sp>
        <p:nvSpPr>
          <p:cNvPr id="12" name="">
            <a:extLst xmlns:a="http://schemas.openxmlformats.org/drawingml/2006/main">
              <a:ext uri="{FF2B5EF4-FFF2-40B4-BE49-F238E27FC236}">
                <a16:creationId xmlns:a16="http://schemas.microsoft.com/office/drawing/2014/main" id="{BB8F3C57-3910-444A-8690-6C67746576EB}"/>
              </a:ext>
            </a:extLst>
          </p:cNvPr>
          <p:cNvSpPr>
            <a:spLocks xmlns:a="http://schemas.openxmlformats.org/drawingml/2006/main" noGrp="1"/>
          </p:cNvSpPr>
          <p:nvPr/>
        </p:nvSpPr>
        <p:spPr>
          <a:xfrm xmlns:a="http://schemas.openxmlformats.org/drawingml/2006/main">
            <a:off x="6858000" y="704850"/>
            <a:ext cx="4495800" cy="114300"/>
          </a:xfrm>
          <a:prstGeom xmlns:a="http://schemas.openxmlformats.org/drawingml/2006/main" prst="rect">
            <a:avLst/>
          </a:prstGeom>
          <a:solidFill xmlns:a="http://schemas.openxmlformats.org/drawingml/2006/main">
            <a:srgbClr val="66C43A"/>
          </a:solidFill>
          <a:ln xmlns:a="http://schemas.openxmlformats.org/drawingml/2006/main" w="0">
            <a:noFill/>
            <a:prstDash val="solid"/>
          </a:ln>
        </p:spPr>
      </p:sp>
      <p:sp>
        <p:nvSpPr>
          <p:cNvPr id="13" name="">
            <a:extLst xmlns:a="http://schemas.openxmlformats.org/drawingml/2006/main">
              <a:ext uri="{FF2B5EF4-FFF2-40B4-BE49-F238E27FC236}">
                <a16:creationId xmlns:a16="http://schemas.microsoft.com/office/drawing/2014/main" id="{443A99E0-6C3D-4231-9BD8-3E08B292873F}"/>
              </a:ext>
            </a:extLst>
          </p:cNvPr>
          <p:cNvSpPr>
            <a:spLocks xmlns:a="http://schemas.openxmlformats.org/drawingml/2006/main" noGrp="1"/>
          </p:cNvSpPr>
          <p:nvPr/>
        </p:nvSpPr>
        <p:spPr>
          <a:xfrm xmlns:a="http://schemas.openxmlformats.org/drawingml/2006/main">
            <a:off x="7200900" y="1123950"/>
            <a:ext cx="1714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050" b="1">
                <a:solidFill>
                  <a:srgbClr val="5E6B7A"/>
                </a:solidFill>
              </a:defRPr>
            </a:pPr>
            <a:r>
              <a:rPr sz="1050" b="1">
                <a:solidFill>
                  <a:srgbClr val="5E6B7A"/>
                </a:solidFill>
              </a:rPr>
              <a:t>VIDEO VISUAL</a:t>
            </a:r>
          </a:p>
        </p:txBody>
      </p:sp>
      <p:sp>
        <p:nvSpPr>
          <p:cNvPr id="14" name="">
            <a:extLst xmlns:a="http://schemas.openxmlformats.org/drawingml/2006/main">
              <a:ext uri="{FF2B5EF4-FFF2-40B4-BE49-F238E27FC236}">
                <a16:creationId xmlns:a16="http://schemas.microsoft.com/office/drawing/2014/main" id="{5C9E0005-6E04-4494-ABC0-1D00D649DF0A}"/>
              </a:ext>
            </a:extLst>
          </p:cNvPr>
          <p:cNvSpPr>
            <a:spLocks xmlns:a="http://schemas.openxmlformats.org/drawingml/2006/main" noGrp="1"/>
          </p:cNvSpPr>
          <p:nvPr/>
        </p:nvSpPr>
        <p:spPr>
          <a:xfrm xmlns:a="http://schemas.openxmlformats.org/drawingml/2006/main">
            <a:off x="7200900" y="1543050"/>
            <a:ext cx="3810000" cy="1047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800" b="1">
                <a:solidFill>
                  <a:srgbClr val="12233A"/>
                </a:solidFill>
              </a:defRPr>
            </a:pPr>
            <a:r>
              <a:rPr sz="1800" b="1">
                <a:solidFill>
                  <a:srgbClr val="12233A"/>
                </a:solidFill>
              </a:rPr>
              <a:t>Crew planning a lift and using a pallet jack.</a:t>
            </a:r>
          </a:p>
        </p:txBody>
      </p:sp>
      <p:sp>
        <p:nvSpPr>
          <p:cNvPr id="15" name="">
            <a:extLst xmlns:a="http://schemas.openxmlformats.org/drawingml/2006/main">
              <a:ext uri="{FF2B5EF4-FFF2-40B4-BE49-F238E27FC236}">
                <a16:creationId xmlns:a16="http://schemas.microsoft.com/office/drawing/2014/main" id="{14FC94AB-E76B-4A26-8F44-337E95C651F0}"/>
              </a:ext>
            </a:extLst>
          </p:cNvPr>
          <p:cNvSpPr>
            <a:spLocks xmlns:a="http://schemas.openxmlformats.org/drawingml/2006/main" noGrp="1"/>
          </p:cNvSpPr>
          <p:nvPr/>
        </p:nvSpPr>
        <p:spPr>
          <a:xfrm xmlns:a="http://schemas.openxmlformats.org/drawingml/2006/main">
            <a:off x="7200900" y="3028950"/>
            <a:ext cx="171450" cy="171450"/>
          </a:xfrm>
          <a:prstGeom xmlns:a="http://schemas.openxmlformats.org/drawingml/2006/main" prst="rect">
            <a:avLst/>
          </a:prstGeom>
          <a:solidFill xmlns:a="http://schemas.openxmlformats.org/drawingml/2006/main">
            <a:srgbClr val="66C43A"/>
          </a:solidFill>
          <a:ln xmlns:a="http://schemas.openxmlformats.org/drawingml/2006/main" w="0">
            <a:noFill/>
            <a:prstDash val="solid"/>
          </a:ln>
        </p:spPr>
      </p:sp>
      <p:sp>
        <p:nvSpPr>
          <p:cNvPr id="16" name="">
            <a:extLst xmlns:a="http://schemas.openxmlformats.org/drawingml/2006/main">
              <a:ext uri="{FF2B5EF4-FFF2-40B4-BE49-F238E27FC236}">
                <a16:creationId xmlns:a16="http://schemas.microsoft.com/office/drawing/2014/main" id="{24886888-0910-4ED1-A3D7-EE9D4843BE9C}"/>
              </a:ext>
            </a:extLst>
          </p:cNvPr>
          <p:cNvSpPr>
            <a:spLocks xmlns:a="http://schemas.openxmlformats.org/drawingml/2006/main" noGrp="1"/>
          </p:cNvSpPr>
          <p:nvPr/>
        </p:nvSpPr>
        <p:spPr>
          <a:xfrm xmlns:a="http://schemas.openxmlformats.org/drawingml/2006/main">
            <a:off x="7524750" y="3000375"/>
            <a:ext cx="3143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500" b="1">
                <a:solidFill>
                  <a:srgbClr val="0B243D"/>
                </a:solidFill>
              </a:defRPr>
            </a:pPr>
            <a:r>
              <a:rPr sz="1500" b="1">
                <a:solidFill>
                  <a:srgbClr val="0B243D"/>
                </a:solidFill>
              </a:rPr>
              <a:t>Know the weight, size, and shape</a:t>
            </a:r>
          </a:p>
        </p:txBody>
      </p:sp>
      <p:sp>
        <p:nvSpPr>
          <p:cNvPr id="17" name="">
            <a:extLst xmlns:a="http://schemas.openxmlformats.org/drawingml/2006/main">
              <a:ext uri="{FF2B5EF4-FFF2-40B4-BE49-F238E27FC236}">
                <a16:creationId xmlns:a16="http://schemas.microsoft.com/office/drawing/2014/main" id="{3118E1E5-6973-4DD9-A344-32DCD259BACE}"/>
              </a:ext>
            </a:extLst>
          </p:cNvPr>
          <p:cNvSpPr>
            <a:spLocks xmlns:a="http://schemas.openxmlformats.org/drawingml/2006/main" noGrp="1"/>
          </p:cNvSpPr>
          <p:nvPr/>
        </p:nvSpPr>
        <p:spPr>
          <a:xfrm xmlns:a="http://schemas.openxmlformats.org/drawingml/2006/main">
            <a:off x="7200900" y="3467100"/>
            <a:ext cx="171450" cy="171450"/>
          </a:xfrm>
          <a:prstGeom xmlns:a="http://schemas.openxmlformats.org/drawingml/2006/main" prst="rect">
            <a:avLst/>
          </a:prstGeom>
          <a:solidFill xmlns:a="http://schemas.openxmlformats.org/drawingml/2006/main">
            <a:srgbClr val="66C43A"/>
          </a:solidFill>
          <a:ln xmlns:a="http://schemas.openxmlformats.org/drawingml/2006/main" w="0">
            <a:noFill/>
            <a:prstDash val="solid"/>
          </a:ln>
        </p:spPr>
      </p:sp>
      <p:sp>
        <p:nvSpPr>
          <p:cNvPr id="18" name="">
            <a:extLst xmlns:a="http://schemas.openxmlformats.org/drawingml/2006/main">
              <a:ext uri="{FF2B5EF4-FFF2-40B4-BE49-F238E27FC236}">
                <a16:creationId xmlns:a16="http://schemas.microsoft.com/office/drawing/2014/main" id="{1CF3840F-31B4-4600-B972-59C633EEA29A}"/>
              </a:ext>
            </a:extLst>
          </p:cNvPr>
          <p:cNvSpPr>
            <a:spLocks xmlns:a="http://schemas.openxmlformats.org/drawingml/2006/main" noGrp="1"/>
          </p:cNvSpPr>
          <p:nvPr/>
        </p:nvSpPr>
        <p:spPr>
          <a:xfrm xmlns:a="http://schemas.openxmlformats.org/drawingml/2006/main">
            <a:off x="7524750" y="3438525"/>
            <a:ext cx="3143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500" b="1">
                <a:solidFill>
                  <a:srgbClr val="0B243D"/>
                </a:solidFill>
              </a:defRPr>
            </a:pPr>
            <a:r>
              <a:rPr sz="1500" b="1">
                <a:solidFill>
                  <a:srgbClr val="0B243D"/>
                </a:solidFill>
              </a:rPr>
              <a:t>Use pallet jacks, dollies, hoists, forklifts, or team lifting when practical</a:t>
            </a:r>
          </a:p>
        </p:txBody>
      </p:sp>
      <p:sp>
        <p:nvSpPr>
          <p:cNvPr id="19" name="">
            <a:extLst xmlns:a="http://schemas.openxmlformats.org/drawingml/2006/main">
              <a:ext uri="{FF2B5EF4-FFF2-40B4-BE49-F238E27FC236}">
                <a16:creationId xmlns:a16="http://schemas.microsoft.com/office/drawing/2014/main" id="{4F99C9BC-E97F-489C-9E72-4A539B5FB8F9}"/>
              </a:ext>
            </a:extLst>
          </p:cNvPr>
          <p:cNvSpPr>
            <a:spLocks xmlns:a="http://schemas.openxmlformats.org/drawingml/2006/main" noGrp="1"/>
          </p:cNvSpPr>
          <p:nvPr/>
        </p:nvSpPr>
        <p:spPr>
          <a:xfrm xmlns:a="http://schemas.openxmlformats.org/drawingml/2006/main">
            <a:off x="7200900" y="3905250"/>
            <a:ext cx="171450" cy="171450"/>
          </a:xfrm>
          <a:prstGeom xmlns:a="http://schemas.openxmlformats.org/drawingml/2006/main" prst="rect">
            <a:avLst/>
          </a:prstGeom>
          <a:solidFill xmlns:a="http://schemas.openxmlformats.org/drawingml/2006/main">
            <a:srgbClr val="66C43A"/>
          </a:solidFill>
          <a:ln xmlns:a="http://schemas.openxmlformats.org/drawingml/2006/main" w="0">
            <a:noFill/>
            <a:prstDash val="solid"/>
          </a:ln>
        </p:spPr>
      </p:sp>
      <p:sp>
        <p:nvSpPr>
          <p:cNvPr id="20" name="">
            <a:extLst xmlns:a="http://schemas.openxmlformats.org/drawingml/2006/main">
              <a:ext uri="{FF2B5EF4-FFF2-40B4-BE49-F238E27FC236}">
                <a16:creationId xmlns:a16="http://schemas.microsoft.com/office/drawing/2014/main" id="{BB789B57-195B-49CE-8EB7-13BE22D1EBBE}"/>
              </a:ext>
            </a:extLst>
          </p:cNvPr>
          <p:cNvSpPr>
            <a:spLocks xmlns:a="http://schemas.openxmlformats.org/drawingml/2006/main" noGrp="1"/>
          </p:cNvSpPr>
          <p:nvPr/>
        </p:nvSpPr>
        <p:spPr>
          <a:xfrm xmlns:a="http://schemas.openxmlformats.org/drawingml/2006/main">
            <a:off x="7524750" y="3876675"/>
            <a:ext cx="3143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500" b="1">
                <a:solidFill>
                  <a:srgbClr val="0B243D"/>
                </a:solidFill>
              </a:defRPr>
            </a:pPr>
            <a:r>
              <a:rPr sz="1500" b="1">
                <a:solidFill>
                  <a:srgbClr val="0B243D"/>
                </a:solidFill>
              </a:rPr>
              <a:t>Stop and get help if the load is too heavy or awkward</a:t>
            </a:r>
          </a:p>
        </p:txBody>
      </p:sp>
      <p:sp>
        <p:nvSpPr>
          <p:cNvPr id="21" name="">
            <a:extLst xmlns:a="http://schemas.openxmlformats.org/drawingml/2006/main">
              <a:ext uri="{FF2B5EF4-FFF2-40B4-BE49-F238E27FC236}">
                <a16:creationId xmlns:a16="http://schemas.microsoft.com/office/drawing/2014/main" id="{DAA22FE8-5134-434F-BAD7-9E71CE26AC61}"/>
              </a:ext>
            </a:extLst>
          </p:cNvPr>
          <p:cNvSpPr>
            <a:spLocks xmlns:a="http://schemas.openxmlformats.org/drawingml/2006/main" noGrp="1"/>
          </p:cNvSpPr>
          <p:nvPr/>
        </p:nvSpPr>
        <p:spPr>
          <a:xfrm xmlns:a="http://schemas.openxmlformats.org/drawingml/2006/main">
            <a:off x="7200900" y="5219700"/>
            <a:ext cx="1714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975" b="1">
                <a:solidFill>
                  <a:srgbClr val="5E6B7A"/>
                </a:solidFill>
              </a:defRPr>
            </a:pPr>
            <a:r>
              <a:rPr sz="975" b="1">
                <a:solidFill>
                  <a:srgbClr val="5E6B7A"/>
                </a:solidFill>
              </a:rPr>
              <a:t>Scene 13</a:t>
            </a:r>
          </a:p>
        </p:txBody>
      </p:sp>
      <p:sp>
        <p:nvSpPr>
          <p:cNvPr id="22" name="">
            <a:extLst xmlns:a="http://schemas.openxmlformats.org/drawingml/2006/main">
              <a:ext uri="{FF2B5EF4-FFF2-40B4-BE49-F238E27FC236}">
                <a16:creationId xmlns:a16="http://schemas.microsoft.com/office/drawing/2014/main" id="{1D57AAB8-0E78-4B91-8B13-97854BDF89A5}"/>
              </a:ext>
            </a:extLst>
          </p:cNvPr>
          <p:cNvSpPr>
            <a:spLocks xmlns:a="http://schemas.openxmlformats.org/drawingml/2006/main" noGrp="1"/>
          </p:cNvSpPr>
          <p:nvPr/>
        </p:nvSpPr>
        <p:spPr>
          <a:xfrm xmlns:a="http://schemas.openxmlformats.org/drawingml/2006/main">
            <a:off x="0" y="6515100"/>
            <a:ext cx="12192000" cy="342900"/>
          </a:xfrm>
          <a:prstGeom xmlns:a="http://schemas.openxmlformats.org/drawingml/2006/main" prst="rect">
            <a:avLst/>
          </a:prstGeom>
          <a:solidFill xmlns:a="http://schemas.openxmlformats.org/drawingml/2006/main">
            <a:srgbClr val="0B243D"/>
          </a:solidFill>
          <a:ln xmlns:a="http://schemas.openxmlformats.org/drawingml/2006/main" w="0">
            <a:noFill/>
            <a:prstDash val="solid"/>
          </a:ln>
        </p:spPr>
      </p:sp>
      <p:sp>
        <p:nvSpPr>
          <p:cNvPr id="23" name="">
            <a:extLst xmlns:a="http://schemas.openxmlformats.org/drawingml/2006/main">
              <a:ext uri="{FF2B5EF4-FFF2-40B4-BE49-F238E27FC236}">
                <a16:creationId xmlns:a16="http://schemas.microsoft.com/office/drawing/2014/main" id="{757FA2AE-D326-4B7F-9F74-72A619BC84E7}"/>
              </a:ext>
            </a:extLst>
          </p:cNvPr>
          <p:cNvSpPr>
            <a:spLocks xmlns:a="http://schemas.openxmlformats.org/drawingml/2006/main" noGrp="1"/>
          </p:cNvSpPr>
          <p:nvPr/>
        </p:nvSpPr>
        <p:spPr>
          <a:xfrm xmlns:a="http://schemas.openxmlformats.org/drawingml/2006/main">
            <a:off x="533400" y="6600825"/>
            <a:ext cx="3429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975" b="1">
                <a:solidFill>
                  <a:srgbClr val="FFFFFF"/>
                </a:solidFill>
              </a:defRPr>
            </a:pPr>
            <a:r>
              <a:rPr sz="975" b="1">
                <a:solidFill>
                  <a:srgbClr val="FFFFFF"/>
                </a:solidFill>
              </a:rPr>
              <a:t>PAL Environmental Services</a:t>
            </a:r>
          </a:p>
        </p:txBody>
      </p:sp>
      <p:sp>
        <p:nvSpPr>
          <p:cNvPr id="24" name="">
            <a:extLst xmlns:a="http://schemas.openxmlformats.org/drawingml/2006/main">
              <a:ext uri="{FF2B5EF4-FFF2-40B4-BE49-F238E27FC236}">
                <a16:creationId xmlns:a16="http://schemas.microsoft.com/office/drawing/2014/main" id="{F92CA797-B599-4387-821B-F9B33CE04DFE}"/>
              </a:ext>
            </a:extLst>
          </p:cNvPr>
          <p:cNvSpPr>
            <a:spLocks xmlns:a="http://schemas.openxmlformats.org/drawingml/2006/main" noGrp="1"/>
          </p:cNvSpPr>
          <p:nvPr/>
        </p:nvSpPr>
        <p:spPr>
          <a:xfrm xmlns:a="http://schemas.openxmlformats.org/drawingml/2006/main">
            <a:off x="9620250" y="6600825"/>
            <a:ext cx="2095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900">
                <a:solidFill>
                  <a:srgbClr val="DDEAF5"/>
                </a:solidFill>
              </a:defRPr>
            </a:pPr>
            <a:r>
              <a:rPr sz="900">
                <a:solidFill>
                  <a:srgbClr val="DDEAF5"/>
                </a:solidFill>
              </a:rPr>
              <a:t>Employee Orientation  |  13</a:t>
            </a:r>
          </a:p>
        </p:txBody>
      </p:sp>
    </p:spTree>
    <p:extLst>
      <p:ext uri="{BB962C8B-B14F-4D97-AF65-F5344CB8AC3E}">
        <p14:creationId xmlns:p14="http://schemas.microsoft.com/office/powerpoint/2010/main" val="468747562"/>
      </p:ext>
    </p:extLst>
  </p:cSld>
</p:sld>
</file>

<file path=ppt/slides/slide1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E4A9137D-FB6B-4C19-A125-986DF9BCCCA0}"/>
              </a:ext>
            </a:extLst>
          </p:cNvPr>
          <p:cNvSpPr>
            <a:spLocks xmlns:a="http://schemas.openxmlformats.org/drawingml/2006/main" noGrp="1"/>
          </p:cNvSpPr>
          <p:nvPr/>
        </p:nvSpPr>
        <p:spPr>
          <a:xfrm xmlns:a="http://schemas.openxmlformats.org/drawingml/2006/main">
            <a:off x="0" y="0"/>
            <a:ext cx="12192000" cy="266700"/>
          </a:xfrm>
          <a:prstGeom xmlns:a="http://schemas.openxmlformats.org/drawingml/2006/main" prst="rect">
            <a:avLst/>
          </a:prstGeom>
          <a:solidFill xmlns:a="http://schemas.openxmlformats.org/drawingml/2006/main">
            <a:srgbClr val="0B243D"/>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286B236F-E780-4F37-9B30-12B0AD53954E}"/>
              </a:ext>
            </a:extLst>
          </p:cNvPr>
          <p:cNvSpPr>
            <a:spLocks xmlns:a="http://schemas.openxmlformats.org/drawingml/2006/main" noGrp="1"/>
          </p:cNvSpPr>
          <p:nvPr/>
        </p:nvSpPr>
        <p:spPr>
          <a:xfrm xmlns:a="http://schemas.openxmlformats.org/drawingml/2006/main">
            <a:off x="0" y="266700"/>
            <a:ext cx="171450" cy="6248400"/>
          </a:xfrm>
          <a:prstGeom xmlns:a="http://schemas.openxmlformats.org/drawingml/2006/main" prst="rect">
            <a:avLst/>
          </a:prstGeom>
          <a:solidFill xmlns:a="http://schemas.openxmlformats.org/drawingml/2006/main">
            <a:srgbClr val="66C43A"/>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DF24E042-D0C1-42ED-A536-E0492DA883C7}"/>
              </a:ext>
            </a:extLst>
          </p:cNvPr>
          <p:cNvSpPr>
            <a:spLocks xmlns:a="http://schemas.openxmlformats.org/drawingml/2006/main" noGrp="1"/>
          </p:cNvSpPr>
          <p:nvPr/>
        </p:nvSpPr>
        <p:spPr>
          <a:xfrm xmlns:a="http://schemas.openxmlformats.org/drawingml/2006/main">
            <a:off x="533400" y="666750"/>
            <a:ext cx="44767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050" b="1">
                <a:solidFill>
                  <a:srgbClr val="5E6B7A"/>
                </a:solidFill>
              </a:defRPr>
            </a:pPr>
            <a:r>
              <a:rPr sz="1050" b="1">
                <a:solidFill>
                  <a:srgbClr val="5E6B7A"/>
                </a:solidFill>
              </a:rPr>
              <a:t>SAFE LIFTING</a:t>
            </a:r>
          </a:p>
        </p:txBody>
      </p:sp>
      <p:sp>
        <p:nvSpPr>
          <p:cNvPr id="4" name="">
            <a:extLst xmlns:a="http://schemas.openxmlformats.org/drawingml/2006/main">
              <a:ext uri="{FF2B5EF4-FFF2-40B4-BE49-F238E27FC236}">
                <a16:creationId xmlns:a16="http://schemas.microsoft.com/office/drawing/2014/main" id="{B6D3D531-AC19-4465-8E04-82455CC7FC68}"/>
              </a:ext>
            </a:extLst>
          </p:cNvPr>
          <p:cNvSpPr>
            <a:spLocks xmlns:a="http://schemas.openxmlformats.org/drawingml/2006/main" noGrp="1"/>
          </p:cNvSpPr>
          <p:nvPr/>
        </p:nvSpPr>
        <p:spPr>
          <a:xfrm xmlns:a="http://schemas.openxmlformats.org/drawingml/2006/main">
            <a:off x="533400" y="1047750"/>
            <a:ext cx="5524500" cy="1428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3150" b="1">
                <a:solidFill>
                  <a:srgbClr val="0B243D"/>
                </a:solidFill>
              </a:defRPr>
            </a:pPr>
            <a:r>
              <a:rPr sz="3150" b="1">
                <a:solidFill>
                  <a:srgbClr val="0B243D"/>
                </a:solidFill>
              </a:rPr>
              <a:t>Keep the load close and avoid twisting.</a:t>
            </a:r>
          </a:p>
        </p:txBody>
      </p:sp>
      <p:sp>
        <p:nvSpPr>
          <p:cNvPr id="5" name="">
            <a:extLst xmlns:a="http://schemas.openxmlformats.org/drawingml/2006/main">
              <a:ext uri="{FF2B5EF4-FFF2-40B4-BE49-F238E27FC236}">
                <a16:creationId xmlns:a16="http://schemas.microsoft.com/office/drawing/2014/main" id="{7CF1DA97-84D3-459C-9CD0-443C5C98E43E}"/>
              </a:ext>
            </a:extLst>
          </p:cNvPr>
          <p:cNvSpPr>
            <a:spLocks xmlns:a="http://schemas.openxmlformats.org/drawingml/2006/main" noGrp="1"/>
          </p:cNvSpPr>
          <p:nvPr/>
        </p:nvSpPr>
        <p:spPr>
          <a:xfrm xmlns:a="http://schemas.openxmlformats.org/drawingml/2006/main">
            <a:off x="609600" y="2990850"/>
            <a:ext cx="114300" cy="114300"/>
          </a:xfrm>
          <a:prstGeom xmlns:a="http://schemas.openxmlformats.org/drawingml/2006/main" prst="rect">
            <a:avLst/>
          </a:prstGeom>
          <a:solidFill xmlns:a="http://schemas.openxmlformats.org/drawingml/2006/main">
            <a:srgbClr val="66C43A"/>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FCD7E7A1-1EA7-4275-A6CD-CF834FE8D491}"/>
              </a:ext>
            </a:extLst>
          </p:cNvPr>
          <p:cNvSpPr>
            <a:spLocks xmlns:a="http://schemas.openxmlformats.org/drawingml/2006/main" noGrp="1"/>
          </p:cNvSpPr>
          <p:nvPr/>
        </p:nvSpPr>
        <p:spPr>
          <a:xfrm xmlns:a="http://schemas.openxmlformats.org/drawingml/2006/main">
            <a:off x="914400" y="2914650"/>
            <a:ext cx="53340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800" b="1">
                <a:solidFill>
                  <a:srgbClr val="12233A"/>
                </a:solidFill>
              </a:defRPr>
            </a:pPr>
            <a:r>
              <a:rPr sz="1800" b="1">
                <a:solidFill>
                  <a:srgbClr val="12233A"/>
                </a:solidFill>
              </a:rPr>
              <a:t>Set your feet before lifting</a:t>
            </a:r>
          </a:p>
        </p:txBody>
      </p:sp>
      <p:sp>
        <p:nvSpPr>
          <p:cNvPr id="7" name="">
            <a:extLst xmlns:a="http://schemas.openxmlformats.org/drawingml/2006/main">
              <a:ext uri="{FF2B5EF4-FFF2-40B4-BE49-F238E27FC236}">
                <a16:creationId xmlns:a16="http://schemas.microsoft.com/office/drawing/2014/main" id="{29D6A9D9-A7BB-4FD2-B385-B49AA9993D62}"/>
              </a:ext>
            </a:extLst>
          </p:cNvPr>
          <p:cNvSpPr>
            <a:spLocks xmlns:a="http://schemas.openxmlformats.org/drawingml/2006/main" noGrp="1"/>
          </p:cNvSpPr>
          <p:nvPr/>
        </p:nvSpPr>
        <p:spPr>
          <a:xfrm xmlns:a="http://schemas.openxmlformats.org/drawingml/2006/main">
            <a:off x="609600" y="3600450"/>
            <a:ext cx="114300" cy="114300"/>
          </a:xfrm>
          <a:prstGeom xmlns:a="http://schemas.openxmlformats.org/drawingml/2006/main" prst="rect">
            <a:avLst/>
          </a:prstGeom>
          <a:solidFill xmlns:a="http://schemas.openxmlformats.org/drawingml/2006/main">
            <a:srgbClr val="66C43A"/>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9012783E-7605-4BD4-82F6-F93B9F9166EF}"/>
              </a:ext>
            </a:extLst>
          </p:cNvPr>
          <p:cNvSpPr>
            <a:spLocks xmlns:a="http://schemas.openxmlformats.org/drawingml/2006/main" noGrp="1"/>
          </p:cNvSpPr>
          <p:nvPr/>
        </p:nvSpPr>
        <p:spPr>
          <a:xfrm xmlns:a="http://schemas.openxmlformats.org/drawingml/2006/main">
            <a:off x="914400" y="3524250"/>
            <a:ext cx="53340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800" b="0">
                <a:solidFill>
                  <a:srgbClr val="12233A"/>
                </a:solidFill>
              </a:defRPr>
            </a:pPr>
            <a:r>
              <a:rPr sz="1800" b="0">
                <a:solidFill>
                  <a:srgbClr val="12233A"/>
                </a:solidFill>
              </a:rPr>
              <a:t>Lift with your legs</a:t>
            </a:r>
          </a:p>
        </p:txBody>
      </p:sp>
      <p:sp>
        <p:nvSpPr>
          <p:cNvPr id="9" name="">
            <a:extLst xmlns:a="http://schemas.openxmlformats.org/drawingml/2006/main">
              <a:ext uri="{FF2B5EF4-FFF2-40B4-BE49-F238E27FC236}">
                <a16:creationId xmlns:a16="http://schemas.microsoft.com/office/drawing/2014/main" id="{997772B8-A037-41F3-9699-F8BC65798711}"/>
              </a:ext>
            </a:extLst>
          </p:cNvPr>
          <p:cNvSpPr>
            <a:spLocks xmlns:a="http://schemas.openxmlformats.org/drawingml/2006/main" noGrp="1"/>
          </p:cNvSpPr>
          <p:nvPr/>
        </p:nvSpPr>
        <p:spPr>
          <a:xfrm xmlns:a="http://schemas.openxmlformats.org/drawingml/2006/main">
            <a:off x="609600" y="4210050"/>
            <a:ext cx="114300" cy="114300"/>
          </a:xfrm>
          <a:prstGeom xmlns:a="http://schemas.openxmlformats.org/drawingml/2006/main" prst="rect">
            <a:avLst/>
          </a:prstGeom>
          <a:solidFill xmlns:a="http://schemas.openxmlformats.org/drawingml/2006/main">
            <a:srgbClr val="66C43A"/>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1E17FD0F-96DE-46B8-8D18-4C0FDC6F015E}"/>
              </a:ext>
            </a:extLst>
          </p:cNvPr>
          <p:cNvSpPr>
            <a:spLocks xmlns:a="http://schemas.openxmlformats.org/drawingml/2006/main" noGrp="1"/>
          </p:cNvSpPr>
          <p:nvPr/>
        </p:nvSpPr>
        <p:spPr>
          <a:xfrm xmlns:a="http://schemas.openxmlformats.org/drawingml/2006/main">
            <a:off x="914400" y="4133850"/>
            <a:ext cx="53340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800" b="0">
                <a:solidFill>
                  <a:srgbClr val="12233A"/>
                </a:solidFill>
              </a:defRPr>
            </a:pPr>
            <a:r>
              <a:rPr sz="1800" b="0">
                <a:solidFill>
                  <a:srgbClr val="12233A"/>
                </a:solidFill>
              </a:rPr>
              <a:t>Secure material so it cannot shift</a:t>
            </a:r>
          </a:p>
        </p:txBody>
      </p:sp>
      <p:sp>
        <p:nvSpPr>
          <p:cNvPr id="11" name="">
            <a:extLst xmlns:a="http://schemas.openxmlformats.org/drawingml/2006/main">
              <a:ext uri="{FF2B5EF4-FFF2-40B4-BE49-F238E27FC236}">
                <a16:creationId xmlns:a16="http://schemas.microsoft.com/office/drawing/2014/main" id="{4087A384-8AB4-447D-9BB4-D6E42C353944}"/>
              </a:ext>
            </a:extLst>
          </p:cNvPr>
          <p:cNvSpPr>
            <a:spLocks xmlns:a="http://schemas.openxmlformats.org/drawingml/2006/main" noGrp="1"/>
          </p:cNvSpPr>
          <p:nvPr/>
        </p:nvSpPr>
        <p:spPr>
          <a:xfrm xmlns:a="http://schemas.openxmlformats.org/drawingml/2006/main">
            <a:off x="6858000" y="704850"/>
            <a:ext cx="4495800" cy="4953000"/>
          </a:xfrm>
          <a:prstGeom xmlns:a="http://schemas.openxmlformats.org/drawingml/2006/main" prst="rect">
            <a:avLst/>
          </a:prstGeom>
          <a:solidFill xmlns:a="http://schemas.openxmlformats.org/drawingml/2006/main">
            <a:srgbClr val="F3F6F8"/>
          </a:solidFill>
          <a:ln xmlns:a="http://schemas.openxmlformats.org/drawingml/2006/main" w="9525">
            <a:solidFill>
              <a:srgbClr val="D8E1EA"/>
            </a:solidFill>
            <a:prstDash val="solid"/>
          </a:ln>
        </p:spPr>
      </p:sp>
      <p:sp>
        <p:nvSpPr>
          <p:cNvPr id="12" name="">
            <a:extLst xmlns:a="http://schemas.openxmlformats.org/drawingml/2006/main">
              <a:ext uri="{FF2B5EF4-FFF2-40B4-BE49-F238E27FC236}">
                <a16:creationId xmlns:a16="http://schemas.microsoft.com/office/drawing/2014/main" id="{0138C4F2-D6AF-4422-AEFB-BB11F2A4E1DF}"/>
              </a:ext>
            </a:extLst>
          </p:cNvPr>
          <p:cNvSpPr>
            <a:spLocks xmlns:a="http://schemas.openxmlformats.org/drawingml/2006/main" noGrp="1"/>
          </p:cNvSpPr>
          <p:nvPr/>
        </p:nvSpPr>
        <p:spPr>
          <a:xfrm xmlns:a="http://schemas.openxmlformats.org/drawingml/2006/main">
            <a:off x="6858000" y="704850"/>
            <a:ext cx="4495800" cy="114300"/>
          </a:xfrm>
          <a:prstGeom xmlns:a="http://schemas.openxmlformats.org/drawingml/2006/main" prst="rect">
            <a:avLst/>
          </a:prstGeom>
          <a:solidFill xmlns:a="http://schemas.openxmlformats.org/drawingml/2006/main">
            <a:srgbClr val="66C43A"/>
          </a:solidFill>
          <a:ln xmlns:a="http://schemas.openxmlformats.org/drawingml/2006/main" w="0">
            <a:noFill/>
            <a:prstDash val="solid"/>
          </a:ln>
        </p:spPr>
      </p:sp>
      <p:sp>
        <p:nvSpPr>
          <p:cNvPr id="13" name="">
            <a:extLst xmlns:a="http://schemas.openxmlformats.org/drawingml/2006/main">
              <a:ext uri="{FF2B5EF4-FFF2-40B4-BE49-F238E27FC236}">
                <a16:creationId xmlns:a16="http://schemas.microsoft.com/office/drawing/2014/main" id="{4A2D5788-F9A8-401F-A64B-D646F67F802A}"/>
              </a:ext>
            </a:extLst>
          </p:cNvPr>
          <p:cNvSpPr>
            <a:spLocks xmlns:a="http://schemas.openxmlformats.org/drawingml/2006/main" noGrp="1"/>
          </p:cNvSpPr>
          <p:nvPr/>
        </p:nvSpPr>
        <p:spPr>
          <a:xfrm xmlns:a="http://schemas.openxmlformats.org/drawingml/2006/main">
            <a:off x="7200900" y="1123950"/>
            <a:ext cx="1714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050" b="1">
                <a:solidFill>
                  <a:srgbClr val="5E6B7A"/>
                </a:solidFill>
              </a:defRPr>
            </a:pPr>
            <a:r>
              <a:rPr sz="1050" b="1">
                <a:solidFill>
                  <a:srgbClr val="5E6B7A"/>
                </a:solidFill>
              </a:rPr>
              <a:t>VIDEO VISUAL</a:t>
            </a:r>
          </a:p>
        </p:txBody>
      </p:sp>
      <p:sp>
        <p:nvSpPr>
          <p:cNvPr id="14" name="">
            <a:extLst xmlns:a="http://schemas.openxmlformats.org/drawingml/2006/main">
              <a:ext uri="{FF2B5EF4-FFF2-40B4-BE49-F238E27FC236}">
                <a16:creationId xmlns:a16="http://schemas.microsoft.com/office/drawing/2014/main" id="{402EF4B3-36D4-48D8-9237-78CD6228DBBC}"/>
              </a:ext>
            </a:extLst>
          </p:cNvPr>
          <p:cNvSpPr>
            <a:spLocks xmlns:a="http://schemas.openxmlformats.org/drawingml/2006/main" noGrp="1"/>
          </p:cNvSpPr>
          <p:nvPr/>
        </p:nvSpPr>
        <p:spPr>
          <a:xfrm xmlns:a="http://schemas.openxmlformats.org/drawingml/2006/main">
            <a:off x="7200900" y="1543050"/>
            <a:ext cx="3810000" cy="1047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800" b="1">
                <a:solidFill>
                  <a:srgbClr val="12233A"/>
                </a:solidFill>
              </a:defRPr>
            </a:pPr>
            <a:r>
              <a:rPr sz="1800" b="1">
                <a:solidFill>
                  <a:srgbClr val="12233A"/>
                </a:solidFill>
              </a:rPr>
              <a:t>Worker lifting bags from a pallet jack with proper body position.</a:t>
            </a:r>
          </a:p>
        </p:txBody>
      </p:sp>
      <p:sp>
        <p:nvSpPr>
          <p:cNvPr id="15" name="">
            <a:extLst xmlns:a="http://schemas.openxmlformats.org/drawingml/2006/main">
              <a:ext uri="{FF2B5EF4-FFF2-40B4-BE49-F238E27FC236}">
                <a16:creationId xmlns:a16="http://schemas.microsoft.com/office/drawing/2014/main" id="{4090CCA9-B242-4FA1-B6BA-38378E1AA6F3}"/>
              </a:ext>
            </a:extLst>
          </p:cNvPr>
          <p:cNvSpPr>
            <a:spLocks xmlns:a="http://schemas.openxmlformats.org/drawingml/2006/main" noGrp="1"/>
          </p:cNvSpPr>
          <p:nvPr/>
        </p:nvSpPr>
        <p:spPr>
          <a:xfrm xmlns:a="http://schemas.openxmlformats.org/drawingml/2006/main">
            <a:off x="7200900" y="3028950"/>
            <a:ext cx="171450" cy="171450"/>
          </a:xfrm>
          <a:prstGeom xmlns:a="http://schemas.openxmlformats.org/drawingml/2006/main" prst="rect">
            <a:avLst/>
          </a:prstGeom>
          <a:solidFill xmlns:a="http://schemas.openxmlformats.org/drawingml/2006/main">
            <a:srgbClr val="66C43A"/>
          </a:solidFill>
          <a:ln xmlns:a="http://schemas.openxmlformats.org/drawingml/2006/main" w="0">
            <a:noFill/>
            <a:prstDash val="solid"/>
          </a:ln>
        </p:spPr>
      </p:sp>
      <p:sp>
        <p:nvSpPr>
          <p:cNvPr id="16" name="">
            <a:extLst xmlns:a="http://schemas.openxmlformats.org/drawingml/2006/main">
              <a:ext uri="{FF2B5EF4-FFF2-40B4-BE49-F238E27FC236}">
                <a16:creationId xmlns:a16="http://schemas.microsoft.com/office/drawing/2014/main" id="{CB373C30-1066-4512-BD12-186AC87080B7}"/>
              </a:ext>
            </a:extLst>
          </p:cNvPr>
          <p:cNvSpPr>
            <a:spLocks xmlns:a="http://schemas.openxmlformats.org/drawingml/2006/main" noGrp="1"/>
          </p:cNvSpPr>
          <p:nvPr/>
        </p:nvSpPr>
        <p:spPr>
          <a:xfrm xmlns:a="http://schemas.openxmlformats.org/drawingml/2006/main">
            <a:off x="7524750" y="3000375"/>
            <a:ext cx="3143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500" b="1">
                <a:solidFill>
                  <a:srgbClr val="0B243D"/>
                </a:solidFill>
              </a:defRPr>
            </a:pPr>
            <a:r>
              <a:rPr sz="1500" b="1">
                <a:solidFill>
                  <a:srgbClr val="0B243D"/>
                </a:solidFill>
              </a:rPr>
              <a:t>Set your feet before lifting</a:t>
            </a:r>
          </a:p>
        </p:txBody>
      </p:sp>
      <p:sp>
        <p:nvSpPr>
          <p:cNvPr id="17" name="">
            <a:extLst xmlns:a="http://schemas.openxmlformats.org/drawingml/2006/main">
              <a:ext uri="{FF2B5EF4-FFF2-40B4-BE49-F238E27FC236}">
                <a16:creationId xmlns:a16="http://schemas.microsoft.com/office/drawing/2014/main" id="{50B1A6CE-BFD3-48C4-A2B8-A48A613FCFA9}"/>
              </a:ext>
            </a:extLst>
          </p:cNvPr>
          <p:cNvSpPr>
            <a:spLocks xmlns:a="http://schemas.openxmlformats.org/drawingml/2006/main" noGrp="1"/>
          </p:cNvSpPr>
          <p:nvPr/>
        </p:nvSpPr>
        <p:spPr>
          <a:xfrm xmlns:a="http://schemas.openxmlformats.org/drawingml/2006/main">
            <a:off x="7200900" y="3467100"/>
            <a:ext cx="171450" cy="171450"/>
          </a:xfrm>
          <a:prstGeom xmlns:a="http://schemas.openxmlformats.org/drawingml/2006/main" prst="rect">
            <a:avLst/>
          </a:prstGeom>
          <a:solidFill xmlns:a="http://schemas.openxmlformats.org/drawingml/2006/main">
            <a:srgbClr val="66C43A"/>
          </a:solidFill>
          <a:ln xmlns:a="http://schemas.openxmlformats.org/drawingml/2006/main" w="0">
            <a:noFill/>
            <a:prstDash val="solid"/>
          </a:ln>
        </p:spPr>
      </p:sp>
      <p:sp>
        <p:nvSpPr>
          <p:cNvPr id="18" name="">
            <a:extLst xmlns:a="http://schemas.openxmlformats.org/drawingml/2006/main">
              <a:ext uri="{FF2B5EF4-FFF2-40B4-BE49-F238E27FC236}">
                <a16:creationId xmlns:a16="http://schemas.microsoft.com/office/drawing/2014/main" id="{3FF70447-EF29-4003-B7FA-9EF65A179FB8}"/>
              </a:ext>
            </a:extLst>
          </p:cNvPr>
          <p:cNvSpPr>
            <a:spLocks xmlns:a="http://schemas.openxmlformats.org/drawingml/2006/main" noGrp="1"/>
          </p:cNvSpPr>
          <p:nvPr/>
        </p:nvSpPr>
        <p:spPr>
          <a:xfrm xmlns:a="http://schemas.openxmlformats.org/drawingml/2006/main">
            <a:off x="7524750" y="3438525"/>
            <a:ext cx="3143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500" b="1">
                <a:solidFill>
                  <a:srgbClr val="0B243D"/>
                </a:solidFill>
              </a:defRPr>
            </a:pPr>
            <a:r>
              <a:rPr sz="1500" b="1">
                <a:solidFill>
                  <a:srgbClr val="0B243D"/>
                </a:solidFill>
              </a:rPr>
              <a:t>Lift with your legs</a:t>
            </a:r>
          </a:p>
        </p:txBody>
      </p:sp>
      <p:sp>
        <p:nvSpPr>
          <p:cNvPr id="19" name="">
            <a:extLst xmlns:a="http://schemas.openxmlformats.org/drawingml/2006/main">
              <a:ext uri="{FF2B5EF4-FFF2-40B4-BE49-F238E27FC236}">
                <a16:creationId xmlns:a16="http://schemas.microsoft.com/office/drawing/2014/main" id="{D014E4FA-33B3-49C5-A39B-7A1DD97D6D11}"/>
              </a:ext>
            </a:extLst>
          </p:cNvPr>
          <p:cNvSpPr>
            <a:spLocks xmlns:a="http://schemas.openxmlformats.org/drawingml/2006/main" noGrp="1"/>
          </p:cNvSpPr>
          <p:nvPr/>
        </p:nvSpPr>
        <p:spPr>
          <a:xfrm xmlns:a="http://schemas.openxmlformats.org/drawingml/2006/main">
            <a:off x="7200900" y="3905250"/>
            <a:ext cx="171450" cy="171450"/>
          </a:xfrm>
          <a:prstGeom xmlns:a="http://schemas.openxmlformats.org/drawingml/2006/main" prst="rect">
            <a:avLst/>
          </a:prstGeom>
          <a:solidFill xmlns:a="http://schemas.openxmlformats.org/drawingml/2006/main">
            <a:srgbClr val="66C43A"/>
          </a:solidFill>
          <a:ln xmlns:a="http://schemas.openxmlformats.org/drawingml/2006/main" w="0">
            <a:noFill/>
            <a:prstDash val="solid"/>
          </a:ln>
        </p:spPr>
      </p:sp>
      <p:sp>
        <p:nvSpPr>
          <p:cNvPr id="20" name="">
            <a:extLst xmlns:a="http://schemas.openxmlformats.org/drawingml/2006/main">
              <a:ext uri="{FF2B5EF4-FFF2-40B4-BE49-F238E27FC236}">
                <a16:creationId xmlns:a16="http://schemas.microsoft.com/office/drawing/2014/main" id="{3D159E11-0C88-49B9-A37B-8FDD171197CD}"/>
              </a:ext>
            </a:extLst>
          </p:cNvPr>
          <p:cNvSpPr>
            <a:spLocks xmlns:a="http://schemas.openxmlformats.org/drawingml/2006/main" noGrp="1"/>
          </p:cNvSpPr>
          <p:nvPr/>
        </p:nvSpPr>
        <p:spPr>
          <a:xfrm xmlns:a="http://schemas.openxmlformats.org/drawingml/2006/main">
            <a:off x="7524750" y="3876675"/>
            <a:ext cx="3143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500" b="1">
                <a:solidFill>
                  <a:srgbClr val="0B243D"/>
                </a:solidFill>
              </a:defRPr>
            </a:pPr>
            <a:r>
              <a:rPr sz="1500" b="1">
                <a:solidFill>
                  <a:srgbClr val="0B243D"/>
                </a:solidFill>
              </a:rPr>
              <a:t>Secure material so it cannot shift</a:t>
            </a:r>
          </a:p>
        </p:txBody>
      </p:sp>
      <p:sp>
        <p:nvSpPr>
          <p:cNvPr id="21" name="">
            <a:extLst xmlns:a="http://schemas.openxmlformats.org/drawingml/2006/main">
              <a:ext uri="{FF2B5EF4-FFF2-40B4-BE49-F238E27FC236}">
                <a16:creationId xmlns:a16="http://schemas.microsoft.com/office/drawing/2014/main" id="{0F75766F-1022-4D3A-A51C-28B9570065CB}"/>
              </a:ext>
            </a:extLst>
          </p:cNvPr>
          <p:cNvSpPr>
            <a:spLocks xmlns:a="http://schemas.openxmlformats.org/drawingml/2006/main" noGrp="1"/>
          </p:cNvSpPr>
          <p:nvPr/>
        </p:nvSpPr>
        <p:spPr>
          <a:xfrm xmlns:a="http://schemas.openxmlformats.org/drawingml/2006/main">
            <a:off x="7200900" y="5219700"/>
            <a:ext cx="1714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975" b="1">
                <a:solidFill>
                  <a:srgbClr val="5E6B7A"/>
                </a:solidFill>
              </a:defRPr>
            </a:pPr>
            <a:r>
              <a:rPr sz="975" b="1">
                <a:solidFill>
                  <a:srgbClr val="5E6B7A"/>
                </a:solidFill>
              </a:rPr>
              <a:t>Scene 14</a:t>
            </a:r>
          </a:p>
        </p:txBody>
      </p:sp>
      <p:sp>
        <p:nvSpPr>
          <p:cNvPr id="22" name="">
            <a:extLst xmlns:a="http://schemas.openxmlformats.org/drawingml/2006/main">
              <a:ext uri="{FF2B5EF4-FFF2-40B4-BE49-F238E27FC236}">
                <a16:creationId xmlns:a16="http://schemas.microsoft.com/office/drawing/2014/main" id="{B78E77E9-DD63-470F-B4CA-F8F35D6C681A}"/>
              </a:ext>
            </a:extLst>
          </p:cNvPr>
          <p:cNvSpPr>
            <a:spLocks xmlns:a="http://schemas.openxmlformats.org/drawingml/2006/main" noGrp="1"/>
          </p:cNvSpPr>
          <p:nvPr/>
        </p:nvSpPr>
        <p:spPr>
          <a:xfrm xmlns:a="http://schemas.openxmlformats.org/drawingml/2006/main">
            <a:off x="0" y="6515100"/>
            <a:ext cx="12192000" cy="342900"/>
          </a:xfrm>
          <a:prstGeom xmlns:a="http://schemas.openxmlformats.org/drawingml/2006/main" prst="rect">
            <a:avLst/>
          </a:prstGeom>
          <a:solidFill xmlns:a="http://schemas.openxmlformats.org/drawingml/2006/main">
            <a:srgbClr val="0B243D"/>
          </a:solidFill>
          <a:ln xmlns:a="http://schemas.openxmlformats.org/drawingml/2006/main" w="0">
            <a:noFill/>
            <a:prstDash val="solid"/>
          </a:ln>
        </p:spPr>
      </p:sp>
      <p:sp>
        <p:nvSpPr>
          <p:cNvPr id="23" name="">
            <a:extLst xmlns:a="http://schemas.openxmlformats.org/drawingml/2006/main">
              <a:ext uri="{FF2B5EF4-FFF2-40B4-BE49-F238E27FC236}">
                <a16:creationId xmlns:a16="http://schemas.microsoft.com/office/drawing/2014/main" id="{F5EC30C4-1688-4FAE-8A71-FB5CA4673473}"/>
              </a:ext>
            </a:extLst>
          </p:cNvPr>
          <p:cNvSpPr>
            <a:spLocks xmlns:a="http://schemas.openxmlformats.org/drawingml/2006/main" noGrp="1"/>
          </p:cNvSpPr>
          <p:nvPr/>
        </p:nvSpPr>
        <p:spPr>
          <a:xfrm xmlns:a="http://schemas.openxmlformats.org/drawingml/2006/main">
            <a:off x="533400" y="6600825"/>
            <a:ext cx="3429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975" b="1">
                <a:solidFill>
                  <a:srgbClr val="FFFFFF"/>
                </a:solidFill>
              </a:defRPr>
            </a:pPr>
            <a:r>
              <a:rPr sz="975" b="1">
                <a:solidFill>
                  <a:srgbClr val="FFFFFF"/>
                </a:solidFill>
              </a:rPr>
              <a:t>PAL Environmental Services</a:t>
            </a:r>
          </a:p>
        </p:txBody>
      </p:sp>
      <p:sp>
        <p:nvSpPr>
          <p:cNvPr id="24" name="">
            <a:extLst xmlns:a="http://schemas.openxmlformats.org/drawingml/2006/main">
              <a:ext uri="{FF2B5EF4-FFF2-40B4-BE49-F238E27FC236}">
                <a16:creationId xmlns:a16="http://schemas.microsoft.com/office/drawing/2014/main" id="{3B60363C-6DBE-4F57-B334-DFB73C9A02C5}"/>
              </a:ext>
            </a:extLst>
          </p:cNvPr>
          <p:cNvSpPr>
            <a:spLocks xmlns:a="http://schemas.openxmlformats.org/drawingml/2006/main" noGrp="1"/>
          </p:cNvSpPr>
          <p:nvPr/>
        </p:nvSpPr>
        <p:spPr>
          <a:xfrm xmlns:a="http://schemas.openxmlformats.org/drawingml/2006/main">
            <a:off x="9620250" y="6600825"/>
            <a:ext cx="2095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900">
                <a:solidFill>
                  <a:srgbClr val="DDEAF5"/>
                </a:solidFill>
              </a:defRPr>
            </a:pPr>
            <a:r>
              <a:rPr sz="900">
                <a:solidFill>
                  <a:srgbClr val="DDEAF5"/>
                </a:solidFill>
              </a:rPr>
              <a:t>Employee Orientation  |  14</a:t>
            </a:r>
          </a:p>
        </p:txBody>
      </p:sp>
    </p:spTree>
    <p:extLst>
      <p:ext uri="{BB962C8B-B14F-4D97-AF65-F5344CB8AC3E}">
        <p14:creationId xmlns:p14="http://schemas.microsoft.com/office/powerpoint/2010/main" val="871468421"/>
      </p:ext>
    </p:extLst>
  </p:cSld>
</p:sld>
</file>

<file path=ppt/slides/slide1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4ECEDC8D-5819-49F5-9FF4-68BCDE6004CE}"/>
              </a:ext>
            </a:extLst>
          </p:cNvPr>
          <p:cNvSpPr>
            <a:spLocks xmlns:a="http://schemas.openxmlformats.org/drawingml/2006/main" noGrp="1"/>
          </p:cNvSpPr>
          <p:nvPr/>
        </p:nvSpPr>
        <p:spPr>
          <a:xfrm xmlns:a="http://schemas.openxmlformats.org/drawingml/2006/main">
            <a:off x="0" y="0"/>
            <a:ext cx="12192000" cy="266700"/>
          </a:xfrm>
          <a:prstGeom xmlns:a="http://schemas.openxmlformats.org/drawingml/2006/main" prst="rect">
            <a:avLst/>
          </a:prstGeom>
          <a:solidFill xmlns:a="http://schemas.openxmlformats.org/drawingml/2006/main">
            <a:srgbClr val="0B243D"/>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B99D3952-4622-487B-B69A-2E59A64AFDAB}"/>
              </a:ext>
            </a:extLst>
          </p:cNvPr>
          <p:cNvSpPr>
            <a:spLocks xmlns:a="http://schemas.openxmlformats.org/drawingml/2006/main" noGrp="1"/>
          </p:cNvSpPr>
          <p:nvPr/>
        </p:nvSpPr>
        <p:spPr>
          <a:xfrm xmlns:a="http://schemas.openxmlformats.org/drawingml/2006/main">
            <a:off x="0" y="266700"/>
            <a:ext cx="171450" cy="6248400"/>
          </a:xfrm>
          <a:prstGeom xmlns:a="http://schemas.openxmlformats.org/drawingml/2006/main" prst="rect">
            <a:avLst/>
          </a:prstGeom>
          <a:solidFill xmlns:a="http://schemas.openxmlformats.org/drawingml/2006/main">
            <a:srgbClr val="66C43A"/>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040D9759-CC67-4ED4-891C-CA7495E8F418}"/>
              </a:ext>
            </a:extLst>
          </p:cNvPr>
          <p:cNvSpPr>
            <a:spLocks xmlns:a="http://schemas.openxmlformats.org/drawingml/2006/main" noGrp="1"/>
          </p:cNvSpPr>
          <p:nvPr/>
        </p:nvSpPr>
        <p:spPr>
          <a:xfrm xmlns:a="http://schemas.openxmlformats.org/drawingml/2006/main">
            <a:off x="533400" y="666750"/>
            <a:ext cx="44767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050" b="1">
                <a:solidFill>
                  <a:srgbClr val="5E6B7A"/>
                </a:solidFill>
              </a:defRPr>
            </a:pPr>
            <a:r>
              <a:rPr sz="1050" b="1">
                <a:solidFill>
                  <a:srgbClr val="5E6B7A"/>
                </a:solidFill>
              </a:rPr>
              <a:t>FIRE SAFETY</a:t>
            </a:r>
          </a:p>
        </p:txBody>
      </p:sp>
      <p:sp>
        <p:nvSpPr>
          <p:cNvPr id="4" name="">
            <a:extLst xmlns:a="http://schemas.openxmlformats.org/drawingml/2006/main">
              <a:ext uri="{FF2B5EF4-FFF2-40B4-BE49-F238E27FC236}">
                <a16:creationId xmlns:a16="http://schemas.microsoft.com/office/drawing/2014/main" id="{D207A92D-6869-44E6-915D-5404EB22D313}"/>
              </a:ext>
            </a:extLst>
          </p:cNvPr>
          <p:cNvSpPr>
            <a:spLocks xmlns:a="http://schemas.openxmlformats.org/drawingml/2006/main" noGrp="1"/>
          </p:cNvSpPr>
          <p:nvPr/>
        </p:nvSpPr>
        <p:spPr>
          <a:xfrm xmlns:a="http://schemas.openxmlformats.org/drawingml/2006/main">
            <a:off x="533400" y="1047750"/>
            <a:ext cx="5524500" cy="1428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3150" b="1">
                <a:solidFill>
                  <a:srgbClr val="0B243D"/>
                </a:solidFill>
              </a:defRPr>
            </a:pPr>
            <a:r>
              <a:rPr sz="3150" b="1">
                <a:solidFill>
                  <a:srgbClr val="0B243D"/>
                </a:solidFill>
              </a:rPr>
              <a:t>Control ignition sources and keep an exit route.</a:t>
            </a:r>
          </a:p>
        </p:txBody>
      </p:sp>
      <p:sp>
        <p:nvSpPr>
          <p:cNvPr id="5" name="">
            <a:extLst xmlns:a="http://schemas.openxmlformats.org/drawingml/2006/main">
              <a:ext uri="{FF2B5EF4-FFF2-40B4-BE49-F238E27FC236}">
                <a16:creationId xmlns:a16="http://schemas.microsoft.com/office/drawing/2014/main" id="{7117830F-3699-4B40-976F-806E9B3AFA08}"/>
              </a:ext>
            </a:extLst>
          </p:cNvPr>
          <p:cNvSpPr>
            <a:spLocks xmlns:a="http://schemas.openxmlformats.org/drawingml/2006/main" noGrp="1"/>
          </p:cNvSpPr>
          <p:nvPr/>
        </p:nvSpPr>
        <p:spPr>
          <a:xfrm xmlns:a="http://schemas.openxmlformats.org/drawingml/2006/main">
            <a:off x="609600" y="2990850"/>
            <a:ext cx="114300" cy="114300"/>
          </a:xfrm>
          <a:prstGeom xmlns:a="http://schemas.openxmlformats.org/drawingml/2006/main" prst="rect">
            <a:avLst/>
          </a:prstGeom>
          <a:solidFill xmlns:a="http://schemas.openxmlformats.org/drawingml/2006/main">
            <a:srgbClr val="66C43A"/>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48EA0436-8DDE-4ACF-A860-FD0674F3490D}"/>
              </a:ext>
            </a:extLst>
          </p:cNvPr>
          <p:cNvSpPr>
            <a:spLocks xmlns:a="http://schemas.openxmlformats.org/drawingml/2006/main" noGrp="1"/>
          </p:cNvSpPr>
          <p:nvPr/>
        </p:nvSpPr>
        <p:spPr>
          <a:xfrm xmlns:a="http://schemas.openxmlformats.org/drawingml/2006/main">
            <a:off x="914400" y="2914650"/>
            <a:ext cx="53340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800" b="1">
                <a:solidFill>
                  <a:srgbClr val="12233A"/>
                </a:solidFill>
              </a:defRPr>
            </a:pPr>
            <a:r>
              <a:rPr sz="1800" b="1">
                <a:solidFill>
                  <a:srgbClr val="12233A"/>
                </a:solidFill>
              </a:rPr>
              <a:t>Hot work requires an approved permit and controls</a:t>
            </a:r>
          </a:p>
        </p:txBody>
      </p:sp>
      <p:sp>
        <p:nvSpPr>
          <p:cNvPr id="7" name="">
            <a:extLst xmlns:a="http://schemas.openxmlformats.org/drawingml/2006/main">
              <a:ext uri="{FF2B5EF4-FFF2-40B4-BE49-F238E27FC236}">
                <a16:creationId xmlns:a16="http://schemas.microsoft.com/office/drawing/2014/main" id="{AFA95445-79AD-496D-B63B-E04FB6EB0E7C}"/>
              </a:ext>
            </a:extLst>
          </p:cNvPr>
          <p:cNvSpPr>
            <a:spLocks xmlns:a="http://schemas.openxmlformats.org/drawingml/2006/main" noGrp="1"/>
          </p:cNvSpPr>
          <p:nvPr/>
        </p:nvSpPr>
        <p:spPr>
          <a:xfrm xmlns:a="http://schemas.openxmlformats.org/drawingml/2006/main">
            <a:off x="609600" y="3600450"/>
            <a:ext cx="114300" cy="114300"/>
          </a:xfrm>
          <a:prstGeom xmlns:a="http://schemas.openxmlformats.org/drawingml/2006/main" prst="rect">
            <a:avLst/>
          </a:prstGeom>
          <a:solidFill xmlns:a="http://schemas.openxmlformats.org/drawingml/2006/main">
            <a:srgbClr val="66C43A"/>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F24F73B6-81A3-4353-8C18-A9A0A9A8F25D}"/>
              </a:ext>
            </a:extLst>
          </p:cNvPr>
          <p:cNvSpPr>
            <a:spLocks xmlns:a="http://schemas.openxmlformats.org/drawingml/2006/main" noGrp="1"/>
          </p:cNvSpPr>
          <p:nvPr/>
        </p:nvSpPr>
        <p:spPr>
          <a:xfrm xmlns:a="http://schemas.openxmlformats.org/drawingml/2006/main">
            <a:off x="914400" y="3524250"/>
            <a:ext cx="53340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800" b="0">
                <a:solidFill>
                  <a:srgbClr val="12233A"/>
                </a:solidFill>
              </a:defRPr>
            </a:pPr>
            <a:r>
              <a:rPr sz="1800" b="0">
                <a:solidFill>
                  <a:srgbClr val="12233A"/>
                </a:solidFill>
              </a:rPr>
              <a:t>Call 911 and evacuate if the fire is too large</a:t>
            </a:r>
          </a:p>
        </p:txBody>
      </p:sp>
      <p:sp>
        <p:nvSpPr>
          <p:cNvPr id="9" name="">
            <a:extLst xmlns:a="http://schemas.openxmlformats.org/drawingml/2006/main">
              <a:ext uri="{FF2B5EF4-FFF2-40B4-BE49-F238E27FC236}">
                <a16:creationId xmlns:a16="http://schemas.microsoft.com/office/drawing/2014/main" id="{C46C5E6A-E3C6-46D9-828E-976FC0DDB820}"/>
              </a:ext>
            </a:extLst>
          </p:cNvPr>
          <p:cNvSpPr>
            <a:spLocks xmlns:a="http://schemas.openxmlformats.org/drawingml/2006/main" noGrp="1"/>
          </p:cNvSpPr>
          <p:nvPr/>
        </p:nvSpPr>
        <p:spPr>
          <a:xfrm xmlns:a="http://schemas.openxmlformats.org/drawingml/2006/main">
            <a:off x="609600" y="4210050"/>
            <a:ext cx="114300" cy="114300"/>
          </a:xfrm>
          <a:prstGeom xmlns:a="http://schemas.openxmlformats.org/drawingml/2006/main" prst="rect">
            <a:avLst/>
          </a:prstGeom>
          <a:solidFill xmlns:a="http://schemas.openxmlformats.org/drawingml/2006/main">
            <a:srgbClr val="66C43A"/>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5EFDFCBD-15A6-47E0-9E10-7C7596A86981}"/>
              </a:ext>
            </a:extLst>
          </p:cNvPr>
          <p:cNvSpPr>
            <a:spLocks xmlns:a="http://schemas.openxmlformats.org/drawingml/2006/main" noGrp="1"/>
          </p:cNvSpPr>
          <p:nvPr/>
        </p:nvSpPr>
        <p:spPr>
          <a:xfrm xmlns:a="http://schemas.openxmlformats.org/drawingml/2006/main">
            <a:off x="914400" y="4133850"/>
            <a:ext cx="53340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800" b="0">
                <a:solidFill>
                  <a:srgbClr val="12233A"/>
                </a:solidFill>
              </a:defRPr>
            </a:pPr>
            <a:r>
              <a:rPr sz="1800" b="0">
                <a:solidFill>
                  <a:srgbClr val="12233A"/>
                </a:solidFill>
              </a:rPr>
              <a:t>Use PASS only if trained and conditions allow</a:t>
            </a:r>
          </a:p>
        </p:txBody>
      </p:sp>
      <p:sp>
        <p:nvSpPr>
          <p:cNvPr id="11" name="">
            <a:extLst xmlns:a="http://schemas.openxmlformats.org/drawingml/2006/main">
              <a:ext uri="{FF2B5EF4-FFF2-40B4-BE49-F238E27FC236}">
                <a16:creationId xmlns:a16="http://schemas.microsoft.com/office/drawing/2014/main" id="{0DDFD0B0-2A4D-4B8F-BD2D-0021E6FAF280}"/>
              </a:ext>
            </a:extLst>
          </p:cNvPr>
          <p:cNvSpPr>
            <a:spLocks xmlns:a="http://schemas.openxmlformats.org/drawingml/2006/main" noGrp="1"/>
          </p:cNvSpPr>
          <p:nvPr/>
        </p:nvSpPr>
        <p:spPr>
          <a:xfrm xmlns:a="http://schemas.openxmlformats.org/drawingml/2006/main">
            <a:off x="6858000" y="704850"/>
            <a:ext cx="4495800" cy="4953000"/>
          </a:xfrm>
          <a:prstGeom xmlns:a="http://schemas.openxmlformats.org/drawingml/2006/main" prst="rect">
            <a:avLst/>
          </a:prstGeom>
          <a:solidFill xmlns:a="http://schemas.openxmlformats.org/drawingml/2006/main">
            <a:srgbClr val="F3F6F8"/>
          </a:solidFill>
          <a:ln xmlns:a="http://schemas.openxmlformats.org/drawingml/2006/main" w="9525">
            <a:solidFill>
              <a:srgbClr val="D8E1EA"/>
            </a:solidFill>
            <a:prstDash val="solid"/>
          </a:ln>
        </p:spPr>
      </p:sp>
      <p:sp>
        <p:nvSpPr>
          <p:cNvPr id="12" name="">
            <a:extLst xmlns:a="http://schemas.openxmlformats.org/drawingml/2006/main">
              <a:ext uri="{FF2B5EF4-FFF2-40B4-BE49-F238E27FC236}">
                <a16:creationId xmlns:a16="http://schemas.microsoft.com/office/drawing/2014/main" id="{7E143AEA-5F4D-4736-A135-FCB92D58662B}"/>
              </a:ext>
            </a:extLst>
          </p:cNvPr>
          <p:cNvSpPr>
            <a:spLocks xmlns:a="http://schemas.openxmlformats.org/drawingml/2006/main" noGrp="1"/>
          </p:cNvSpPr>
          <p:nvPr/>
        </p:nvSpPr>
        <p:spPr>
          <a:xfrm xmlns:a="http://schemas.openxmlformats.org/drawingml/2006/main">
            <a:off x="6858000" y="704850"/>
            <a:ext cx="4495800" cy="114300"/>
          </a:xfrm>
          <a:prstGeom xmlns:a="http://schemas.openxmlformats.org/drawingml/2006/main" prst="rect">
            <a:avLst/>
          </a:prstGeom>
          <a:solidFill xmlns:a="http://schemas.openxmlformats.org/drawingml/2006/main">
            <a:srgbClr val="66C43A"/>
          </a:solidFill>
          <a:ln xmlns:a="http://schemas.openxmlformats.org/drawingml/2006/main" w="0">
            <a:noFill/>
            <a:prstDash val="solid"/>
          </a:ln>
        </p:spPr>
      </p:sp>
      <p:sp>
        <p:nvSpPr>
          <p:cNvPr id="13" name="">
            <a:extLst xmlns:a="http://schemas.openxmlformats.org/drawingml/2006/main">
              <a:ext uri="{FF2B5EF4-FFF2-40B4-BE49-F238E27FC236}">
                <a16:creationId xmlns:a16="http://schemas.microsoft.com/office/drawing/2014/main" id="{29211B5D-2426-494A-B8BF-D69863221E0B}"/>
              </a:ext>
            </a:extLst>
          </p:cNvPr>
          <p:cNvSpPr>
            <a:spLocks xmlns:a="http://schemas.openxmlformats.org/drawingml/2006/main" noGrp="1"/>
          </p:cNvSpPr>
          <p:nvPr/>
        </p:nvSpPr>
        <p:spPr>
          <a:xfrm xmlns:a="http://schemas.openxmlformats.org/drawingml/2006/main">
            <a:off x="7200900" y="1123950"/>
            <a:ext cx="1714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050" b="1">
                <a:solidFill>
                  <a:srgbClr val="5E6B7A"/>
                </a:solidFill>
              </a:defRPr>
            </a:pPr>
            <a:r>
              <a:rPr sz="1050" b="1">
                <a:solidFill>
                  <a:srgbClr val="5E6B7A"/>
                </a:solidFill>
              </a:rPr>
              <a:t>VIDEO VISUAL</a:t>
            </a:r>
          </a:p>
        </p:txBody>
      </p:sp>
      <p:sp>
        <p:nvSpPr>
          <p:cNvPr id="14" name="">
            <a:extLst xmlns:a="http://schemas.openxmlformats.org/drawingml/2006/main">
              <a:ext uri="{FF2B5EF4-FFF2-40B4-BE49-F238E27FC236}">
                <a16:creationId xmlns:a16="http://schemas.microsoft.com/office/drawing/2014/main" id="{ED00ADE3-0A06-49D5-BA45-2AF2C6D7F724}"/>
              </a:ext>
            </a:extLst>
          </p:cNvPr>
          <p:cNvSpPr>
            <a:spLocks xmlns:a="http://schemas.openxmlformats.org/drawingml/2006/main" noGrp="1"/>
          </p:cNvSpPr>
          <p:nvPr/>
        </p:nvSpPr>
        <p:spPr>
          <a:xfrm xmlns:a="http://schemas.openxmlformats.org/drawingml/2006/main">
            <a:off x="7200900" y="1543050"/>
            <a:ext cx="3810000" cy="1047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800" b="1">
                <a:solidFill>
                  <a:srgbClr val="12233A"/>
                </a:solidFill>
              </a:defRPr>
            </a:pPr>
            <a:r>
              <a:rPr sz="1800" b="1">
                <a:solidFill>
                  <a:srgbClr val="12233A"/>
                </a:solidFill>
              </a:rPr>
              <a:t>Hot-work controls, clear extinguisher access, and safe exit path.</a:t>
            </a:r>
          </a:p>
        </p:txBody>
      </p:sp>
      <p:sp>
        <p:nvSpPr>
          <p:cNvPr id="15" name="">
            <a:extLst xmlns:a="http://schemas.openxmlformats.org/drawingml/2006/main">
              <a:ext uri="{FF2B5EF4-FFF2-40B4-BE49-F238E27FC236}">
                <a16:creationId xmlns:a16="http://schemas.microsoft.com/office/drawing/2014/main" id="{0790BD01-6EBD-41F9-BB84-AFCE785D7251}"/>
              </a:ext>
            </a:extLst>
          </p:cNvPr>
          <p:cNvSpPr>
            <a:spLocks xmlns:a="http://schemas.openxmlformats.org/drawingml/2006/main" noGrp="1"/>
          </p:cNvSpPr>
          <p:nvPr/>
        </p:nvSpPr>
        <p:spPr>
          <a:xfrm xmlns:a="http://schemas.openxmlformats.org/drawingml/2006/main">
            <a:off x="7200900" y="3028950"/>
            <a:ext cx="171450" cy="171450"/>
          </a:xfrm>
          <a:prstGeom xmlns:a="http://schemas.openxmlformats.org/drawingml/2006/main" prst="rect">
            <a:avLst/>
          </a:prstGeom>
          <a:solidFill xmlns:a="http://schemas.openxmlformats.org/drawingml/2006/main">
            <a:srgbClr val="66C43A"/>
          </a:solidFill>
          <a:ln xmlns:a="http://schemas.openxmlformats.org/drawingml/2006/main" w="0">
            <a:noFill/>
            <a:prstDash val="solid"/>
          </a:ln>
        </p:spPr>
      </p:sp>
      <p:sp>
        <p:nvSpPr>
          <p:cNvPr id="16" name="">
            <a:extLst xmlns:a="http://schemas.openxmlformats.org/drawingml/2006/main">
              <a:ext uri="{FF2B5EF4-FFF2-40B4-BE49-F238E27FC236}">
                <a16:creationId xmlns:a16="http://schemas.microsoft.com/office/drawing/2014/main" id="{53063C4C-16DE-4AA1-9471-02D1FEFEE40B}"/>
              </a:ext>
            </a:extLst>
          </p:cNvPr>
          <p:cNvSpPr>
            <a:spLocks xmlns:a="http://schemas.openxmlformats.org/drawingml/2006/main" noGrp="1"/>
          </p:cNvSpPr>
          <p:nvPr/>
        </p:nvSpPr>
        <p:spPr>
          <a:xfrm xmlns:a="http://schemas.openxmlformats.org/drawingml/2006/main">
            <a:off x="7524750" y="3000375"/>
            <a:ext cx="3143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500" b="1">
                <a:solidFill>
                  <a:srgbClr val="0B243D"/>
                </a:solidFill>
              </a:defRPr>
            </a:pPr>
            <a:r>
              <a:rPr sz="1500" b="1">
                <a:solidFill>
                  <a:srgbClr val="0B243D"/>
                </a:solidFill>
              </a:rPr>
              <a:t>Hot work requires an approved permit and controls</a:t>
            </a:r>
          </a:p>
        </p:txBody>
      </p:sp>
      <p:sp>
        <p:nvSpPr>
          <p:cNvPr id="17" name="">
            <a:extLst xmlns:a="http://schemas.openxmlformats.org/drawingml/2006/main">
              <a:ext uri="{FF2B5EF4-FFF2-40B4-BE49-F238E27FC236}">
                <a16:creationId xmlns:a16="http://schemas.microsoft.com/office/drawing/2014/main" id="{B3E26E84-A901-40CD-90DA-E529CEA1F5A0}"/>
              </a:ext>
            </a:extLst>
          </p:cNvPr>
          <p:cNvSpPr>
            <a:spLocks xmlns:a="http://schemas.openxmlformats.org/drawingml/2006/main" noGrp="1"/>
          </p:cNvSpPr>
          <p:nvPr/>
        </p:nvSpPr>
        <p:spPr>
          <a:xfrm xmlns:a="http://schemas.openxmlformats.org/drawingml/2006/main">
            <a:off x="7200900" y="3467100"/>
            <a:ext cx="171450" cy="171450"/>
          </a:xfrm>
          <a:prstGeom xmlns:a="http://schemas.openxmlformats.org/drawingml/2006/main" prst="rect">
            <a:avLst/>
          </a:prstGeom>
          <a:solidFill xmlns:a="http://schemas.openxmlformats.org/drawingml/2006/main">
            <a:srgbClr val="66C43A"/>
          </a:solidFill>
          <a:ln xmlns:a="http://schemas.openxmlformats.org/drawingml/2006/main" w="0">
            <a:noFill/>
            <a:prstDash val="solid"/>
          </a:ln>
        </p:spPr>
      </p:sp>
      <p:sp>
        <p:nvSpPr>
          <p:cNvPr id="18" name="">
            <a:extLst xmlns:a="http://schemas.openxmlformats.org/drawingml/2006/main">
              <a:ext uri="{FF2B5EF4-FFF2-40B4-BE49-F238E27FC236}">
                <a16:creationId xmlns:a16="http://schemas.microsoft.com/office/drawing/2014/main" id="{8BCDC9C3-A023-4568-A934-507497838249}"/>
              </a:ext>
            </a:extLst>
          </p:cNvPr>
          <p:cNvSpPr>
            <a:spLocks xmlns:a="http://schemas.openxmlformats.org/drawingml/2006/main" noGrp="1"/>
          </p:cNvSpPr>
          <p:nvPr/>
        </p:nvSpPr>
        <p:spPr>
          <a:xfrm xmlns:a="http://schemas.openxmlformats.org/drawingml/2006/main">
            <a:off x="7524750" y="3438525"/>
            <a:ext cx="3143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500" b="1">
                <a:solidFill>
                  <a:srgbClr val="0B243D"/>
                </a:solidFill>
              </a:defRPr>
            </a:pPr>
            <a:r>
              <a:rPr sz="1500" b="1">
                <a:solidFill>
                  <a:srgbClr val="0B243D"/>
                </a:solidFill>
              </a:rPr>
              <a:t>Call 911 and evacuate if the fire is too large</a:t>
            </a:r>
          </a:p>
        </p:txBody>
      </p:sp>
      <p:sp>
        <p:nvSpPr>
          <p:cNvPr id="19" name="">
            <a:extLst xmlns:a="http://schemas.openxmlformats.org/drawingml/2006/main">
              <a:ext uri="{FF2B5EF4-FFF2-40B4-BE49-F238E27FC236}">
                <a16:creationId xmlns:a16="http://schemas.microsoft.com/office/drawing/2014/main" id="{AD7C42E1-6FDA-4097-8141-3F3F4D93868A}"/>
              </a:ext>
            </a:extLst>
          </p:cNvPr>
          <p:cNvSpPr>
            <a:spLocks xmlns:a="http://schemas.openxmlformats.org/drawingml/2006/main" noGrp="1"/>
          </p:cNvSpPr>
          <p:nvPr/>
        </p:nvSpPr>
        <p:spPr>
          <a:xfrm xmlns:a="http://schemas.openxmlformats.org/drawingml/2006/main">
            <a:off x="7200900" y="3905250"/>
            <a:ext cx="171450" cy="171450"/>
          </a:xfrm>
          <a:prstGeom xmlns:a="http://schemas.openxmlformats.org/drawingml/2006/main" prst="rect">
            <a:avLst/>
          </a:prstGeom>
          <a:solidFill xmlns:a="http://schemas.openxmlformats.org/drawingml/2006/main">
            <a:srgbClr val="66C43A"/>
          </a:solidFill>
          <a:ln xmlns:a="http://schemas.openxmlformats.org/drawingml/2006/main" w="0">
            <a:noFill/>
            <a:prstDash val="solid"/>
          </a:ln>
        </p:spPr>
      </p:sp>
      <p:sp>
        <p:nvSpPr>
          <p:cNvPr id="20" name="">
            <a:extLst xmlns:a="http://schemas.openxmlformats.org/drawingml/2006/main">
              <a:ext uri="{FF2B5EF4-FFF2-40B4-BE49-F238E27FC236}">
                <a16:creationId xmlns:a16="http://schemas.microsoft.com/office/drawing/2014/main" id="{A8036E1B-F6F3-4DA3-9E91-C207E12CAC1E}"/>
              </a:ext>
            </a:extLst>
          </p:cNvPr>
          <p:cNvSpPr>
            <a:spLocks xmlns:a="http://schemas.openxmlformats.org/drawingml/2006/main" noGrp="1"/>
          </p:cNvSpPr>
          <p:nvPr/>
        </p:nvSpPr>
        <p:spPr>
          <a:xfrm xmlns:a="http://schemas.openxmlformats.org/drawingml/2006/main">
            <a:off x="7524750" y="3876675"/>
            <a:ext cx="3143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500" b="1">
                <a:solidFill>
                  <a:srgbClr val="0B243D"/>
                </a:solidFill>
              </a:defRPr>
            </a:pPr>
            <a:r>
              <a:rPr sz="1500" b="1">
                <a:solidFill>
                  <a:srgbClr val="0B243D"/>
                </a:solidFill>
              </a:rPr>
              <a:t>Use PASS only if trained and conditions allow</a:t>
            </a:r>
          </a:p>
        </p:txBody>
      </p:sp>
      <p:sp>
        <p:nvSpPr>
          <p:cNvPr id="21" name="">
            <a:extLst xmlns:a="http://schemas.openxmlformats.org/drawingml/2006/main">
              <a:ext uri="{FF2B5EF4-FFF2-40B4-BE49-F238E27FC236}">
                <a16:creationId xmlns:a16="http://schemas.microsoft.com/office/drawing/2014/main" id="{52D45762-374C-4F33-8E29-C90D7030B65F}"/>
              </a:ext>
            </a:extLst>
          </p:cNvPr>
          <p:cNvSpPr>
            <a:spLocks xmlns:a="http://schemas.openxmlformats.org/drawingml/2006/main" noGrp="1"/>
          </p:cNvSpPr>
          <p:nvPr/>
        </p:nvSpPr>
        <p:spPr>
          <a:xfrm xmlns:a="http://schemas.openxmlformats.org/drawingml/2006/main">
            <a:off x="7200900" y="5219700"/>
            <a:ext cx="1714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975" b="1">
                <a:solidFill>
                  <a:srgbClr val="5E6B7A"/>
                </a:solidFill>
              </a:defRPr>
            </a:pPr>
            <a:r>
              <a:rPr sz="975" b="1">
                <a:solidFill>
                  <a:srgbClr val="5E6B7A"/>
                </a:solidFill>
              </a:rPr>
              <a:t>Scene 15</a:t>
            </a:r>
          </a:p>
        </p:txBody>
      </p:sp>
      <p:sp>
        <p:nvSpPr>
          <p:cNvPr id="22" name="">
            <a:extLst xmlns:a="http://schemas.openxmlformats.org/drawingml/2006/main">
              <a:ext uri="{FF2B5EF4-FFF2-40B4-BE49-F238E27FC236}">
                <a16:creationId xmlns:a16="http://schemas.microsoft.com/office/drawing/2014/main" id="{D8680E4B-5F3C-4D75-87F5-87CB9187933E}"/>
              </a:ext>
            </a:extLst>
          </p:cNvPr>
          <p:cNvSpPr>
            <a:spLocks xmlns:a="http://schemas.openxmlformats.org/drawingml/2006/main" noGrp="1"/>
          </p:cNvSpPr>
          <p:nvPr/>
        </p:nvSpPr>
        <p:spPr>
          <a:xfrm xmlns:a="http://schemas.openxmlformats.org/drawingml/2006/main">
            <a:off x="0" y="6515100"/>
            <a:ext cx="12192000" cy="342900"/>
          </a:xfrm>
          <a:prstGeom xmlns:a="http://schemas.openxmlformats.org/drawingml/2006/main" prst="rect">
            <a:avLst/>
          </a:prstGeom>
          <a:solidFill xmlns:a="http://schemas.openxmlformats.org/drawingml/2006/main">
            <a:srgbClr val="0B243D"/>
          </a:solidFill>
          <a:ln xmlns:a="http://schemas.openxmlformats.org/drawingml/2006/main" w="0">
            <a:noFill/>
            <a:prstDash val="solid"/>
          </a:ln>
        </p:spPr>
      </p:sp>
      <p:sp>
        <p:nvSpPr>
          <p:cNvPr id="23" name="">
            <a:extLst xmlns:a="http://schemas.openxmlformats.org/drawingml/2006/main">
              <a:ext uri="{FF2B5EF4-FFF2-40B4-BE49-F238E27FC236}">
                <a16:creationId xmlns:a16="http://schemas.microsoft.com/office/drawing/2014/main" id="{723619F2-5CDA-465E-82CE-295A38436EC5}"/>
              </a:ext>
            </a:extLst>
          </p:cNvPr>
          <p:cNvSpPr>
            <a:spLocks xmlns:a="http://schemas.openxmlformats.org/drawingml/2006/main" noGrp="1"/>
          </p:cNvSpPr>
          <p:nvPr/>
        </p:nvSpPr>
        <p:spPr>
          <a:xfrm xmlns:a="http://schemas.openxmlformats.org/drawingml/2006/main">
            <a:off x="533400" y="6600825"/>
            <a:ext cx="3429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975" b="1">
                <a:solidFill>
                  <a:srgbClr val="FFFFFF"/>
                </a:solidFill>
              </a:defRPr>
            </a:pPr>
            <a:r>
              <a:rPr sz="975" b="1">
                <a:solidFill>
                  <a:srgbClr val="FFFFFF"/>
                </a:solidFill>
              </a:rPr>
              <a:t>PAL Environmental Services</a:t>
            </a:r>
          </a:p>
        </p:txBody>
      </p:sp>
      <p:sp>
        <p:nvSpPr>
          <p:cNvPr id="24" name="">
            <a:extLst xmlns:a="http://schemas.openxmlformats.org/drawingml/2006/main">
              <a:ext uri="{FF2B5EF4-FFF2-40B4-BE49-F238E27FC236}">
                <a16:creationId xmlns:a16="http://schemas.microsoft.com/office/drawing/2014/main" id="{F911638A-DB7A-4D9D-8BA9-25C4B81DE787}"/>
              </a:ext>
            </a:extLst>
          </p:cNvPr>
          <p:cNvSpPr>
            <a:spLocks xmlns:a="http://schemas.openxmlformats.org/drawingml/2006/main" noGrp="1"/>
          </p:cNvSpPr>
          <p:nvPr/>
        </p:nvSpPr>
        <p:spPr>
          <a:xfrm xmlns:a="http://schemas.openxmlformats.org/drawingml/2006/main">
            <a:off x="9620250" y="6600825"/>
            <a:ext cx="2095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900">
                <a:solidFill>
                  <a:srgbClr val="DDEAF5"/>
                </a:solidFill>
              </a:defRPr>
            </a:pPr>
            <a:r>
              <a:rPr sz="900">
                <a:solidFill>
                  <a:srgbClr val="DDEAF5"/>
                </a:solidFill>
              </a:rPr>
              <a:t>Employee Orientation  |  15</a:t>
            </a:r>
          </a:p>
        </p:txBody>
      </p:sp>
    </p:spTree>
    <p:extLst>
      <p:ext uri="{BB962C8B-B14F-4D97-AF65-F5344CB8AC3E}">
        <p14:creationId xmlns:p14="http://schemas.microsoft.com/office/powerpoint/2010/main" val="983075108"/>
      </p:ext>
    </p:extLst>
  </p:cSld>
</p:sld>
</file>

<file path=ppt/slides/slide1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21945AF4-3A01-4AD0-ADE4-969CFFB58DB5}"/>
              </a:ext>
            </a:extLst>
          </p:cNvPr>
          <p:cNvSpPr>
            <a:spLocks xmlns:a="http://schemas.openxmlformats.org/drawingml/2006/main" noGrp="1"/>
          </p:cNvSpPr>
          <p:nvPr/>
        </p:nvSpPr>
        <p:spPr>
          <a:xfrm xmlns:a="http://schemas.openxmlformats.org/drawingml/2006/main">
            <a:off x="0" y="0"/>
            <a:ext cx="12192000" cy="266700"/>
          </a:xfrm>
          <a:prstGeom xmlns:a="http://schemas.openxmlformats.org/drawingml/2006/main" prst="rect">
            <a:avLst/>
          </a:prstGeom>
          <a:solidFill xmlns:a="http://schemas.openxmlformats.org/drawingml/2006/main">
            <a:srgbClr val="0B243D"/>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25B36562-353F-48A9-96F0-AD8077170637}"/>
              </a:ext>
            </a:extLst>
          </p:cNvPr>
          <p:cNvSpPr>
            <a:spLocks xmlns:a="http://schemas.openxmlformats.org/drawingml/2006/main" noGrp="1"/>
          </p:cNvSpPr>
          <p:nvPr/>
        </p:nvSpPr>
        <p:spPr>
          <a:xfrm xmlns:a="http://schemas.openxmlformats.org/drawingml/2006/main">
            <a:off x="0" y="266700"/>
            <a:ext cx="171450" cy="6248400"/>
          </a:xfrm>
          <a:prstGeom xmlns:a="http://schemas.openxmlformats.org/drawingml/2006/main" prst="rect">
            <a:avLst/>
          </a:prstGeom>
          <a:solidFill xmlns:a="http://schemas.openxmlformats.org/drawingml/2006/main">
            <a:srgbClr val="66C43A"/>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E5DA907B-9078-441E-8911-E5A1CFF77FC2}"/>
              </a:ext>
            </a:extLst>
          </p:cNvPr>
          <p:cNvSpPr>
            <a:spLocks xmlns:a="http://schemas.openxmlformats.org/drawingml/2006/main" noGrp="1"/>
          </p:cNvSpPr>
          <p:nvPr/>
        </p:nvSpPr>
        <p:spPr>
          <a:xfrm xmlns:a="http://schemas.openxmlformats.org/drawingml/2006/main">
            <a:off x="533400" y="666750"/>
            <a:ext cx="44767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050" b="1">
                <a:solidFill>
                  <a:srgbClr val="5E6B7A"/>
                </a:solidFill>
              </a:defRPr>
            </a:pPr>
            <a:r>
              <a:rPr sz="1050" b="1">
                <a:solidFill>
                  <a:srgbClr val="5E6B7A"/>
                </a:solidFill>
              </a:rPr>
              <a:t>HOUSEKEEPING</a:t>
            </a:r>
          </a:p>
        </p:txBody>
      </p:sp>
      <p:sp>
        <p:nvSpPr>
          <p:cNvPr id="4" name="">
            <a:extLst xmlns:a="http://schemas.openxmlformats.org/drawingml/2006/main">
              <a:ext uri="{FF2B5EF4-FFF2-40B4-BE49-F238E27FC236}">
                <a16:creationId xmlns:a16="http://schemas.microsoft.com/office/drawing/2014/main" id="{11DF46CD-D9C8-4070-B6E6-98B669FF9C18}"/>
              </a:ext>
            </a:extLst>
          </p:cNvPr>
          <p:cNvSpPr>
            <a:spLocks xmlns:a="http://schemas.openxmlformats.org/drawingml/2006/main" noGrp="1"/>
          </p:cNvSpPr>
          <p:nvPr/>
        </p:nvSpPr>
        <p:spPr>
          <a:xfrm xmlns:a="http://schemas.openxmlformats.org/drawingml/2006/main">
            <a:off x="533400" y="1047750"/>
            <a:ext cx="5524500" cy="1428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3150" b="1">
                <a:solidFill>
                  <a:srgbClr val="0B243D"/>
                </a:solidFill>
              </a:defRPr>
            </a:pPr>
            <a:r>
              <a:rPr sz="3150" b="1">
                <a:solidFill>
                  <a:srgbClr val="0B243D"/>
                </a:solidFill>
              </a:rPr>
              <a:t>A clean jobsite prevents injuries.</a:t>
            </a:r>
          </a:p>
        </p:txBody>
      </p:sp>
      <p:sp>
        <p:nvSpPr>
          <p:cNvPr id="5" name="">
            <a:extLst xmlns:a="http://schemas.openxmlformats.org/drawingml/2006/main">
              <a:ext uri="{FF2B5EF4-FFF2-40B4-BE49-F238E27FC236}">
                <a16:creationId xmlns:a16="http://schemas.microsoft.com/office/drawing/2014/main" id="{06EA4ED5-B5F5-4314-B417-1BA9A3B395E5}"/>
              </a:ext>
            </a:extLst>
          </p:cNvPr>
          <p:cNvSpPr>
            <a:spLocks xmlns:a="http://schemas.openxmlformats.org/drawingml/2006/main" noGrp="1"/>
          </p:cNvSpPr>
          <p:nvPr/>
        </p:nvSpPr>
        <p:spPr>
          <a:xfrm xmlns:a="http://schemas.openxmlformats.org/drawingml/2006/main">
            <a:off x="609600" y="2990850"/>
            <a:ext cx="114300" cy="114300"/>
          </a:xfrm>
          <a:prstGeom xmlns:a="http://schemas.openxmlformats.org/drawingml/2006/main" prst="rect">
            <a:avLst/>
          </a:prstGeom>
          <a:solidFill xmlns:a="http://schemas.openxmlformats.org/drawingml/2006/main">
            <a:srgbClr val="66C43A"/>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FDFDAE00-1095-47A6-B43B-FBD806652BC8}"/>
              </a:ext>
            </a:extLst>
          </p:cNvPr>
          <p:cNvSpPr>
            <a:spLocks xmlns:a="http://schemas.openxmlformats.org/drawingml/2006/main" noGrp="1"/>
          </p:cNvSpPr>
          <p:nvPr/>
        </p:nvSpPr>
        <p:spPr>
          <a:xfrm xmlns:a="http://schemas.openxmlformats.org/drawingml/2006/main">
            <a:off x="914400" y="2914650"/>
            <a:ext cx="53340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800" b="1">
                <a:solidFill>
                  <a:srgbClr val="12233A"/>
                </a:solidFill>
              </a:defRPr>
            </a:pPr>
            <a:r>
              <a:rPr sz="1800" b="1">
                <a:solidFill>
                  <a:srgbClr val="12233A"/>
                </a:solidFill>
              </a:rPr>
              <a:t>Keep walkways, stairs, doors, and emergency equipment clear</a:t>
            </a:r>
          </a:p>
        </p:txBody>
      </p:sp>
      <p:sp>
        <p:nvSpPr>
          <p:cNvPr id="7" name="">
            <a:extLst xmlns:a="http://schemas.openxmlformats.org/drawingml/2006/main">
              <a:ext uri="{FF2B5EF4-FFF2-40B4-BE49-F238E27FC236}">
                <a16:creationId xmlns:a16="http://schemas.microsoft.com/office/drawing/2014/main" id="{A4F09E16-7B63-4949-852B-A5478DA04336}"/>
              </a:ext>
            </a:extLst>
          </p:cNvPr>
          <p:cNvSpPr>
            <a:spLocks xmlns:a="http://schemas.openxmlformats.org/drawingml/2006/main" noGrp="1"/>
          </p:cNvSpPr>
          <p:nvPr/>
        </p:nvSpPr>
        <p:spPr>
          <a:xfrm xmlns:a="http://schemas.openxmlformats.org/drawingml/2006/main">
            <a:off x="609600" y="3600450"/>
            <a:ext cx="114300" cy="114300"/>
          </a:xfrm>
          <a:prstGeom xmlns:a="http://schemas.openxmlformats.org/drawingml/2006/main" prst="rect">
            <a:avLst/>
          </a:prstGeom>
          <a:solidFill xmlns:a="http://schemas.openxmlformats.org/drawingml/2006/main">
            <a:srgbClr val="66C43A"/>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DFB5857A-1122-4387-A3F9-9609E58B7D51}"/>
              </a:ext>
            </a:extLst>
          </p:cNvPr>
          <p:cNvSpPr>
            <a:spLocks xmlns:a="http://schemas.openxmlformats.org/drawingml/2006/main" noGrp="1"/>
          </p:cNvSpPr>
          <p:nvPr/>
        </p:nvSpPr>
        <p:spPr>
          <a:xfrm xmlns:a="http://schemas.openxmlformats.org/drawingml/2006/main">
            <a:off x="914400" y="3524250"/>
            <a:ext cx="53340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800" b="0">
                <a:solidFill>
                  <a:srgbClr val="12233A"/>
                </a:solidFill>
              </a:defRPr>
            </a:pPr>
            <a:r>
              <a:rPr sz="1800" b="0">
                <a:solidFill>
                  <a:srgbClr val="12233A"/>
                </a:solidFill>
              </a:rPr>
              <a:t>Clean spills or isolate the area</a:t>
            </a:r>
          </a:p>
        </p:txBody>
      </p:sp>
      <p:sp>
        <p:nvSpPr>
          <p:cNvPr id="9" name="">
            <a:extLst xmlns:a="http://schemas.openxmlformats.org/drawingml/2006/main">
              <a:ext uri="{FF2B5EF4-FFF2-40B4-BE49-F238E27FC236}">
                <a16:creationId xmlns:a16="http://schemas.microsoft.com/office/drawing/2014/main" id="{915E7E40-2975-49D8-B526-DDDE8DA39CF7}"/>
              </a:ext>
            </a:extLst>
          </p:cNvPr>
          <p:cNvSpPr>
            <a:spLocks xmlns:a="http://schemas.openxmlformats.org/drawingml/2006/main" noGrp="1"/>
          </p:cNvSpPr>
          <p:nvPr/>
        </p:nvSpPr>
        <p:spPr>
          <a:xfrm xmlns:a="http://schemas.openxmlformats.org/drawingml/2006/main">
            <a:off x="609600" y="4210050"/>
            <a:ext cx="114300" cy="114300"/>
          </a:xfrm>
          <a:prstGeom xmlns:a="http://schemas.openxmlformats.org/drawingml/2006/main" prst="rect">
            <a:avLst/>
          </a:prstGeom>
          <a:solidFill xmlns:a="http://schemas.openxmlformats.org/drawingml/2006/main">
            <a:srgbClr val="66C43A"/>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D22B9856-8C73-4ED7-ACF9-F0D4D01F065E}"/>
              </a:ext>
            </a:extLst>
          </p:cNvPr>
          <p:cNvSpPr>
            <a:spLocks xmlns:a="http://schemas.openxmlformats.org/drawingml/2006/main" noGrp="1"/>
          </p:cNvSpPr>
          <p:nvPr/>
        </p:nvSpPr>
        <p:spPr>
          <a:xfrm xmlns:a="http://schemas.openxmlformats.org/drawingml/2006/main">
            <a:off x="914400" y="4133850"/>
            <a:ext cx="53340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800" b="0">
                <a:solidFill>
                  <a:srgbClr val="12233A"/>
                </a:solidFill>
              </a:defRPr>
            </a:pPr>
            <a:r>
              <a:rPr sz="1800" b="0">
                <a:solidFill>
                  <a:srgbClr val="12233A"/>
                </a:solidFill>
              </a:rPr>
              <a:t>Store materials so they cannot fall, shift, or block access</a:t>
            </a:r>
          </a:p>
        </p:txBody>
      </p:sp>
      <p:sp>
        <p:nvSpPr>
          <p:cNvPr id="11" name="">
            <a:extLst xmlns:a="http://schemas.openxmlformats.org/drawingml/2006/main">
              <a:ext uri="{FF2B5EF4-FFF2-40B4-BE49-F238E27FC236}">
                <a16:creationId xmlns:a16="http://schemas.microsoft.com/office/drawing/2014/main" id="{161CC8D5-5973-4E78-BCDC-C69718DCE7C1}"/>
              </a:ext>
            </a:extLst>
          </p:cNvPr>
          <p:cNvSpPr>
            <a:spLocks xmlns:a="http://schemas.openxmlformats.org/drawingml/2006/main" noGrp="1"/>
          </p:cNvSpPr>
          <p:nvPr/>
        </p:nvSpPr>
        <p:spPr>
          <a:xfrm xmlns:a="http://schemas.openxmlformats.org/drawingml/2006/main">
            <a:off x="6858000" y="704850"/>
            <a:ext cx="4495800" cy="4953000"/>
          </a:xfrm>
          <a:prstGeom xmlns:a="http://schemas.openxmlformats.org/drawingml/2006/main" prst="rect">
            <a:avLst/>
          </a:prstGeom>
          <a:solidFill xmlns:a="http://schemas.openxmlformats.org/drawingml/2006/main">
            <a:srgbClr val="F3F6F8"/>
          </a:solidFill>
          <a:ln xmlns:a="http://schemas.openxmlformats.org/drawingml/2006/main" w="9525">
            <a:solidFill>
              <a:srgbClr val="D8E1EA"/>
            </a:solidFill>
            <a:prstDash val="solid"/>
          </a:ln>
        </p:spPr>
      </p:sp>
      <p:sp>
        <p:nvSpPr>
          <p:cNvPr id="12" name="">
            <a:extLst xmlns:a="http://schemas.openxmlformats.org/drawingml/2006/main">
              <a:ext uri="{FF2B5EF4-FFF2-40B4-BE49-F238E27FC236}">
                <a16:creationId xmlns:a16="http://schemas.microsoft.com/office/drawing/2014/main" id="{5D5C4C7E-21C2-4042-948A-7F0DBB220D19}"/>
              </a:ext>
            </a:extLst>
          </p:cNvPr>
          <p:cNvSpPr>
            <a:spLocks xmlns:a="http://schemas.openxmlformats.org/drawingml/2006/main" noGrp="1"/>
          </p:cNvSpPr>
          <p:nvPr/>
        </p:nvSpPr>
        <p:spPr>
          <a:xfrm xmlns:a="http://schemas.openxmlformats.org/drawingml/2006/main">
            <a:off x="6858000" y="704850"/>
            <a:ext cx="4495800" cy="114300"/>
          </a:xfrm>
          <a:prstGeom xmlns:a="http://schemas.openxmlformats.org/drawingml/2006/main" prst="rect">
            <a:avLst/>
          </a:prstGeom>
          <a:solidFill xmlns:a="http://schemas.openxmlformats.org/drawingml/2006/main">
            <a:srgbClr val="66C43A"/>
          </a:solidFill>
          <a:ln xmlns:a="http://schemas.openxmlformats.org/drawingml/2006/main" w="0">
            <a:noFill/>
            <a:prstDash val="solid"/>
          </a:ln>
        </p:spPr>
      </p:sp>
      <p:sp>
        <p:nvSpPr>
          <p:cNvPr id="13" name="">
            <a:extLst xmlns:a="http://schemas.openxmlformats.org/drawingml/2006/main">
              <a:ext uri="{FF2B5EF4-FFF2-40B4-BE49-F238E27FC236}">
                <a16:creationId xmlns:a16="http://schemas.microsoft.com/office/drawing/2014/main" id="{46754E98-8FEF-49E0-88CF-8A62108C1632}"/>
              </a:ext>
            </a:extLst>
          </p:cNvPr>
          <p:cNvSpPr>
            <a:spLocks xmlns:a="http://schemas.openxmlformats.org/drawingml/2006/main" noGrp="1"/>
          </p:cNvSpPr>
          <p:nvPr/>
        </p:nvSpPr>
        <p:spPr>
          <a:xfrm xmlns:a="http://schemas.openxmlformats.org/drawingml/2006/main">
            <a:off x="7200900" y="1123950"/>
            <a:ext cx="1714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050" b="1">
                <a:solidFill>
                  <a:srgbClr val="5E6B7A"/>
                </a:solidFill>
              </a:defRPr>
            </a:pPr>
            <a:r>
              <a:rPr sz="1050" b="1">
                <a:solidFill>
                  <a:srgbClr val="5E6B7A"/>
                </a:solidFill>
              </a:rPr>
              <a:t>VIDEO VISUAL</a:t>
            </a:r>
          </a:p>
        </p:txBody>
      </p:sp>
      <p:sp>
        <p:nvSpPr>
          <p:cNvPr id="14" name="">
            <a:extLst xmlns:a="http://schemas.openxmlformats.org/drawingml/2006/main">
              <a:ext uri="{FF2B5EF4-FFF2-40B4-BE49-F238E27FC236}">
                <a16:creationId xmlns:a16="http://schemas.microsoft.com/office/drawing/2014/main" id="{E93B046D-D7EF-46BB-AAEC-731822A319EE}"/>
              </a:ext>
            </a:extLst>
          </p:cNvPr>
          <p:cNvSpPr>
            <a:spLocks xmlns:a="http://schemas.openxmlformats.org/drawingml/2006/main" noGrp="1"/>
          </p:cNvSpPr>
          <p:nvPr/>
        </p:nvSpPr>
        <p:spPr>
          <a:xfrm xmlns:a="http://schemas.openxmlformats.org/drawingml/2006/main">
            <a:off x="7200900" y="1543050"/>
            <a:ext cx="3810000" cy="1047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800" b="1">
                <a:solidFill>
                  <a:srgbClr val="12233A"/>
                </a:solidFill>
              </a:defRPr>
            </a:pPr>
            <a:r>
              <a:rPr sz="1800" b="1">
                <a:solidFill>
                  <a:srgbClr val="12233A"/>
                </a:solidFill>
              </a:rPr>
              <a:t>Crew member cleaning debris and keeping the pathway clear.</a:t>
            </a:r>
          </a:p>
        </p:txBody>
      </p:sp>
      <p:sp>
        <p:nvSpPr>
          <p:cNvPr id="15" name="">
            <a:extLst xmlns:a="http://schemas.openxmlformats.org/drawingml/2006/main">
              <a:ext uri="{FF2B5EF4-FFF2-40B4-BE49-F238E27FC236}">
                <a16:creationId xmlns:a16="http://schemas.microsoft.com/office/drawing/2014/main" id="{E9C08E67-FDC8-4A96-89D8-103886D30D63}"/>
              </a:ext>
            </a:extLst>
          </p:cNvPr>
          <p:cNvSpPr>
            <a:spLocks xmlns:a="http://schemas.openxmlformats.org/drawingml/2006/main" noGrp="1"/>
          </p:cNvSpPr>
          <p:nvPr/>
        </p:nvSpPr>
        <p:spPr>
          <a:xfrm xmlns:a="http://schemas.openxmlformats.org/drawingml/2006/main">
            <a:off x="7200900" y="3028950"/>
            <a:ext cx="171450" cy="171450"/>
          </a:xfrm>
          <a:prstGeom xmlns:a="http://schemas.openxmlformats.org/drawingml/2006/main" prst="rect">
            <a:avLst/>
          </a:prstGeom>
          <a:solidFill xmlns:a="http://schemas.openxmlformats.org/drawingml/2006/main">
            <a:srgbClr val="66C43A"/>
          </a:solidFill>
          <a:ln xmlns:a="http://schemas.openxmlformats.org/drawingml/2006/main" w="0">
            <a:noFill/>
            <a:prstDash val="solid"/>
          </a:ln>
        </p:spPr>
      </p:sp>
      <p:sp>
        <p:nvSpPr>
          <p:cNvPr id="16" name="">
            <a:extLst xmlns:a="http://schemas.openxmlformats.org/drawingml/2006/main">
              <a:ext uri="{FF2B5EF4-FFF2-40B4-BE49-F238E27FC236}">
                <a16:creationId xmlns:a16="http://schemas.microsoft.com/office/drawing/2014/main" id="{8A8E87BC-9FD8-4985-9613-92AB0054A497}"/>
              </a:ext>
            </a:extLst>
          </p:cNvPr>
          <p:cNvSpPr>
            <a:spLocks xmlns:a="http://schemas.openxmlformats.org/drawingml/2006/main" noGrp="1"/>
          </p:cNvSpPr>
          <p:nvPr/>
        </p:nvSpPr>
        <p:spPr>
          <a:xfrm xmlns:a="http://schemas.openxmlformats.org/drawingml/2006/main">
            <a:off x="7524750" y="3000375"/>
            <a:ext cx="3143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500" b="1">
                <a:solidFill>
                  <a:srgbClr val="0B243D"/>
                </a:solidFill>
              </a:defRPr>
            </a:pPr>
            <a:r>
              <a:rPr sz="1500" b="1">
                <a:solidFill>
                  <a:srgbClr val="0B243D"/>
                </a:solidFill>
              </a:rPr>
              <a:t>Keep walkways, stairs, doors, and emergency equipment clear</a:t>
            </a:r>
          </a:p>
        </p:txBody>
      </p:sp>
      <p:sp>
        <p:nvSpPr>
          <p:cNvPr id="17" name="">
            <a:extLst xmlns:a="http://schemas.openxmlformats.org/drawingml/2006/main">
              <a:ext uri="{FF2B5EF4-FFF2-40B4-BE49-F238E27FC236}">
                <a16:creationId xmlns:a16="http://schemas.microsoft.com/office/drawing/2014/main" id="{52E9B153-E3DB-4485-A6FD-43F183F21770}"/>
              </a:ext>
            </a:extLst>
          </p:cNvPr>
          <p:cNvSpPr>
            <a:spLocks xmlns:a="http://schemas.openxmlformats.org/drawingml/2006/main" noGrp="1"/>
          </p:cNvSpPr>
          <p:nvPr/>
        </p:nvSpPr>
        <p:spPr>
          <a:xfrm xmlns:a="http://schemas.openxmlformats.org/drawingml/2006/main">
            <a:off x="7200900" y="3467100"/>
            <a:ext cx="171450" cy="171450"/>
          </a:xfrm>
          <a:prstGeom xmlns:a="http://schemas.openxmlformats.org/drawingml/2006/main" prst="rect">
            <a:avLst/>
          </a:prstGeom>
          <a:solidFill xmlns:a="http://schemas.openxmlformats.org/drawingml/2006/main">
            <a:srgbClr val="66C43A"/>
          </a:solidFill>
          <a:ln xmlns:a="http://schemas.openxmlformats.org/drawingml/2006/main" w="0">
            <a:noFill/>
            <a:prstDash val="solid"/>
          </a:ln>
        </p:spPr>
      </p:sp>
      <p:sp>
        <p:nvSpPr>
          <p:cNvPr id="18" name="">
            <a:extLst xmlns:a="http://schemas.openxmlformats.org/drawingml/2006/main">
              <a:ext uri="{FF2B5EF4-FFF2-40B4-BE49-F238E27FC236}">
                <a16:creationId xmlns:a16="http://schemas.microsoft.com/office/drawing/2014/main" id="{3BCFC4E7-0445-4F33-B742-1B2F26A70571}"/>
              </a:ext>
            </a:extLst>
          </p:cNvPr>
          <p:cNvSpPr>
            <a:spLocks xmlns:a="http://schemas.openxmlformats.org/drawingml/2006/main" noGrp="1"/>
          </p:cNvSpPr>
          <p:nvPr/>
        </p:nvSpPr>
        <p:spPr>
          <a:xfrm xmlns:a="http://schemas.openxmlformats.org/drawingml/2006/main">
            <a:off x="7524750" y="3438525"/>
            <a:ext cx="3143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500" b="1">
                <a:solidFill>
                  <a:srgbClr val="0B243D"/>
                </a:solidFill>
              </a:defRPr>
            </a:pPr>
            <a:r>
              <a:rPr sz="1500" b="1">
                <a:solidFill>
                  <a:srgbClr val="0B243D"/>
                </a:solidFill>
              </a:rPr>
              <a:t>Clean spills or isolate the area</a:t>
            </a:r>
          </a:p>
        </p:txBody>
      </p:sp>
      <p:sp>
        <p:nvSpPr>
          <p:cNvPr id="19" name="">
            <a:extLst xmlns:a="http://schemas.openxmlformats.org/drawingml/2006/main">
              <a:ext uri="{FF2B5EF4-FFF2-40B4-BE49-F238E27FC236}">
                <a16:creationId xmlns:a16="http://schemas.microsoft.com/office/drawing/2014/main" id="{2E2405CA-45CB-40D0-B51A-408A96F28E87}"/>
              </a:ext>
            </a:extLst>
          </p:cNvPr>
          <p:cNvSpPr>
            <a:spLocks xmlns:a="http://schemas.openxmlformats.org/drawingml/2006/main" noGrp="1"/>
          </p:cNvSpPr>
          <p:nvPr/>
        </p:nvSpPr>
        <p:spPr>
          <a:xfrm xmlns:a="http://schemas.openxmlformats.org/drawingml/2006/main">
            <a:off x="7200900" y="3905250"/>
            <a:ext cx="171450" cy="171450"/>
          </a:xfrm>
          <a:prstGeom xmlns:a="http://schemas.openxmlformats.org/drawingml/2006/main" prst="rect">
            <a:avLst/>
          </a:prstGeom>
          <a:solidFill xmlns:a="http://schemas.openxmlformats.org/drawingml/2006/main">
            <a:srgbClr val="66C43A"/>
          </a:solidFill>
          <a:ln xmlns:a="http://schemas.openxmlformats.org/drawingml/2006/main" w="0">
            <a:noFill/>
            <a:prstDash val="solid"/>
          </a:ln>
        </p:spPr>
      </p:sp>
      <p:sp>
        <p:nvSpPr>
          <p:cNvPr id="20" name="">
            <a:extLst xmlns:a="http://schemas.openxmlformats.org/drawingml/2006/main">
              <a:ext uri="{FF2B5EF4-FFF2-40B4-BE49-F238E27FC236}">
                <a16:creationId xmlns:a16="http://schemas.microsoft.com/office/drawing/2014/main" id="{DCAAF16E-3DE8-4E36-9762-5EE4B5238A71}"/>
              </a:ext>
            </a:extLst>
          </p:cNvPr>
          <p:cNvSpPr>
            <a:spLocks xmlns:a="http://schemas.openxmlformats.org/drawingml/2006/main" noGrp="1"/>
          </p:cNvSpPr>
          <p:nvPr/>
        </p:nvSpPr>
        <p:spPr>
          <a:xfrm xmlns:a="http://schemas.openxmlformats.org/drawingml/2006/main">
            <a:off x="7524750" y="3876675"/>
            <a:ext cx="3143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500" b="1">
                <a:solidFill>
                  <a:srgbClr val="0B243D"/>
                </a:solidFill>
              </a:defRPr>
            </a:pPr>
            <a:r>
              <a:rPr sz="1500" b="1">
                <a:solidFill>
                  <a:srgbClr val="0B243D"/>
                </a:solidFill>
              </a:rPr>
              <a:t>Store materials so they cannot fall, shift, or block access</a:t>
            </a:r>
          </a:p>
        </p:txBody>
      </p:sp>
      <p:sp>
        <p:nvSpPr>
          <p:cNvPr id="21" name="">
            <a:extLst xmlns:a="http://schemas.openxmlformats.org/drawingml/2006/main">
              <a:ext uri="{FF2B5EF4-FFF2-40B4-BE49-F238E27FC236}">
                <a16:creationId xmlns:a16="http://schemas.microsoft.com/office/drawing/2014/main" id="{CB249F28-10B7-478F-B529-C5B5377826F9}"/>
              </a:ext>
            </a:extLst>
          </p:cNvPr>
          <p:cNvSpPr>
            <a:spLocks xmlns:a="http://schemas.openxmlformats.org/drawingml/2006/main" noGrp="1"/>
          </p:cNvSpPr>
          <p:nvPr/>
        </p:nvSpPr>
        <p:spPr>
          <a:xfrm xmlns:a="http://schemas.openxmlformats.org/drawingml/2006/main">
            <a:off x="7200900" y="5219700"/>
            <a:ext cx="1714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975" b="1">
                <a:solidFill>
                  <a:srgbClr val="5E6B7A"/>
                </a:solidFill>
              </a:defRPr>
            </a:pPr>
            <a:r>
              <a:rPr sz="975" b="1">
                <a:solidFill>
                  <a:srgbClr val="5E6B7A"/>
                </a:solidFill>
              </a:rPr>
              <a:t>Scene 16</a:t>
            </a:r>
          </a:p>
        </p:txBody>
      </p:sp>
      <p:sp>
        <p:nvSpPr>
          <p:cNvPr id="22" name="">
            <a:extLst xmlns:a="http://schemas.openxmlformats.org/drawingml/2006/main">
              <a:ext uri="{FF2B5EF4-FFF2-40B4-BE49-F238E27FC236}">
                <a16:creationId xmlns:a16="http://schemas.microsoft.com/office/drawing/2014/main" id="{664BBC39-000E-4296-8B20-2306CC273472}"/>
              </a:ext>
            </a:extLst>
          </p:cNvPr>
          <p:cNvSpPr>
            <a:spLocks xmlns:a="http://schemas.openxmlformats.org/drawingml/2006/main" noGrp="1"/>
          </p:cNvSpPr>
          <p:nvPr/>
        </p:nvSpPr>
        <p:spPr>
          <a:xfrm xmlns:a="http://schemas.openxmlformats.org/drawingml/2006/main">
            <a:off x="0" y="6515100"/>
            <a:ext cx="12192000" cy="342900"/>
          </a:xfrm>
          <a:prstGeom xmlns:a="http://schemas.openxmlformats.org/drawingml/2006/main" prst="rect">
            <a:avLst/>
          </a:prstGeom>
          <a:solidFill xmlns:a="http://schemas.openxmlformats.org/drawingml/2006/main">
            <a:srgbClr val="0B243D"/>
          </a:solidFill>
          <a:ln xmlns:a="http://schemas.openxmlformats.org/drawingml/2006/main" w="0">
            <a:noFill/>
            <a:prstDash val="solid"/>
          </a:ln>
        </p:spPr>
      </p:sp>
      <p:sp>
        <p:nvSpPr>
          <p:cNvPr id="23" name="">
            <a:extLst xmlns:a="http://schemas.openxmlformats.org/drawingml/2006/main">
              <a:ext uri="{FF2B5EF4-FFF2-40B4-BE49-F238E27FC236}">
                <a16:creationId xmlns:a16="http://schemas.microsoft.com/office/drawing/2014/main" id="{2B2949EF-1091-4937-8A83-4803CD2A8A84}"/>
              </a:ext>
            </a:extLst>
          </p:cNvPr>
          <p:cNvSpPr>
            <a:spLocks xmlns:a="http://schemas.openxmlformats.org/drawingml/2006/main" noGrp="1"/>
          </p:cNvSpPr>
          <p:nvPr/>
        </p:nvSpPr>
        <p:spPr>
          <a:xfrm xmlns:a="http://schemas.openxmlformats.org/drawingml/2006/main">
            <a:off x="533400" y="6600825"/>
            <a:ext cx="3429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975" b="1">
                <a:solidFill>
                  <a:srgbClr val="FFFFFF"/>
                </a:solidFill>
              </a:defRPr>
            </a:pPr>
            <a:r>
              <a:rPr sz="975" b="1">
                <a:solidFill>
                  <a:srgbClr val="FFFFFF"/>
                </a:solidFill>
              </a:rPr>
              <a:t>PAL Environmental Services</a:t>
            </a:r>
          </a:p>
        </p:txBody>
      </p:sp>
      <p:sp>
        <p:nvSpPr>
          <p:cNvPr id="24" name="">
            <a:extLst xmlns:a="http://schemas.openxmlformats.org/drawingml/2006/main">
              <a:ext uri="{FF2B5EF4-FFF2-40B4-BE49-F238E27FC236}">
                <a16:creationId xmlns:a16="http://schemas.microsoft.com/office/drawing/2014/main" id="{452F3C4C-31F4-4613-88E9-FF0147695360}"/>
              </a:ext>
            </a:extLst>
          </p:cNvPr>
          <p:cNvSpPr>
            <a:spLocks xmlns:a="http://schemas.openxmlformats.org/drawingml/2006/main" noGrp="1"/>
          </p:cNvSpPr>
          <p:nvPr/>
        </p:nvSpPr>
        <p:spPr>
          <a:xfrm xmlns:a="http://schemas.openxmlformats.org/drawingml/2006/main">
            <a:off x="9620250" y="6600825"/>
            <a:ext cx="2095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900">
                <a:solidFill>
                  <a:srgbClr val="DDEAF5"/>
                </a:solidFill>
              </a:defRPr>
            </a:pPr>
            <a:r>
              <a:rPr sz="900">
                <a:solidFill>
                  <a:srgbClr val="DDEAF5"/>
                </a:solidFill>
              </a:rPr>
              <a:t>Employee Orientation  |  16</a:t>
            </a:r>
          </a:p>
        </p:txBody>
      </p:sp>
    </p:spTree>
    <p:extLst>
      <p:ext uri="{BB962C8B-B14F-4D97-AF65-F5344CB8AC3E}">
        <p14:creationId xmlns:p14="http://schemas.microsoft.com/office/powerpoint/2010/main" val="1390050771"/>
      </p:ext>
    </p:extLst>
  </p:cSld>
</p:sld>
</file>

<file path=ppt/slides/slide1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DF6B33EB-26EB-4DD7-BA95-2F393BCAAC62}"/>
              </a:ext>
            </a:extLst>
          </p:cNvPr>
          <p:cNvSpPr>
            <a:spLocks xmlns:a="http://schemas.openxmlformats.org/drawingml/2006/main" noGrp="1"/>
          </p:cNvSpPr>
          <p:nvPr/>
        </p:nvSpPr>
        <p:spPr>
          <a:xfrm xmlns:a="http://schemas.openxmlformats.org/drawingml/2006/main">
            <a:off x="0" y="0"/>
            <a:ext cx="12192000" cy="266700"/>
          </a:xfrm>
          <a:prstGeom xmlns:a="http://schemas.openxmlformats.org/drawingml/2006/main" prst="rect">
            <a:avLst/>
          </a:prstGeom>
          <a:solidFill xmlns:a="http://schemas.openxmlformats.org/drawingml/2006/main">
            <a:srgbClr val="0B243D"/>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C28BAA20-F96A-4B25-9B25-C2F04A34F795}"/>
              </a:ext>
            </a:extLst>
          </p:cNvPr>
          <p:cNvSpPr>
            <a:spLocks xmlns:a="http://schemas.openxmlformats.org/drawingml/2006/main" noGrp="1"/>
          </p:cNvSpPr>
          <p:nvPr/>
        </p:nvSpPr>
        <p:spPr>
          <a:xfrm xmlns:a="http://schemas.openxmlformats.org/drawingml/2006/main">
            <a:off x="0" y="266700"/>
            <a:ext cx="171450" cy="6248400"/>
          </a:xfrm>
          <a:prstGeom xmlns:a="http://schemas.openxmlformats.org/drawingml/2006/main" prst="rect">
            <a:avLst/>
          </a:prstGeom>
          <a:solidFill xmlns:a="http://schemas.openxmlformats.org/drawingml/2006/main">
            <a:srgbClr val="66C43A"/>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D71EA19B-F479-4696-9E57-FAFAE4AA82EC}"/>
              </a:ext>
            </a:extLst>
          </p:cNvPr>
          <p:cNvSpPr>
            <a:spLocks xmlns:a="http://schemas.openxmlformats.org/drawingml/2006/main" noGrp="1"/>
          </p:cNvSpPr>
          <p:nvPr/>
        </p:nvSpPr>
        <p:spPr>
          <a:xfrm xmlns:a="http://schemas.openxmlformats.org/drawingml/2006/main">
            <a:off x="533400" y="666750"/>
            <a:ext cx="44767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050" b="1">
                <a:solidFill>
                  <a:srgbClr val="5E6B7A"/>
                </a:solidFill>
              </a:defRPr>
            </a:pPr>
            <a:r>
              <a:rPr sz="1050" b="1">
                <a:solidFill>
                  <a:srgbClr val="5E6B7A"/>
                </a:solidFill>
              </a:rPr>
              <a:t>HAZCOM AND SDS</a:t>
            </a:r>
          </a:p>
        </p:txBody>
      </p:sp>
      <p:sp>
        <p:nvSpPr>
          <p:cNvPr id="4" name="">
            <a:extLst xmlns:a="http://schemas.openxmlformats.org/drawingml/2006/main">
              <a:ext uri="{FF2B5EF4-FFF2-40B4-BE49-F238E27FC236}">
                <a16:creationId xmlns:a16="http://schemas.microsoft.com/office/drawing/2014/main" id="{72CB0A54-7B0E-4DD8-8254-181F2B7550E6}"/>
              </a:ext>
            </a:extLst>
          </p:cNvPr>
          <p:cNvSpPr>
            <a:spLocks xmlns:a="http://schemas.openxmlformats.org/drawingml/2006/main" noGrp="1"/>
          </p:cNvSpPr>
          <p:nvPr/>
        </p:nvSpPr>
        <p:spPr>
          <a:xfrm xmlns:a="http://schemas.openxmlformats.org/drawingml/2006/main">
            <a:off x="533400" y="1047750"/>
            <a:ext cx="5524500" cy="1428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3150" b="1">
                <a:solidFill>
                  <a:srgbClr val="0B243D"/>
                </a:solidFill>
              </a:defRPr>
            </a:pPr>
            <a:r>
              <a:rPr sz="3150" b="1">
                <a:solidFill>
                  <a:srgbClr val="0B243D"/>
                </a:solidFill>
              </a:rPr>
              <a:t>Never use an unknown material.</a:t>
            </a:r>
          </a:p>
        </p:txBody>
      </p:sp>
      <p:sp>
        <p:nvSpPr>
          <p:cNvPr id="5" name="">
            <a:extLst xmlns:a="http://schemas.openxmlformats.org/drawingml/2006/main">
              <a:ext uri="{FF2B5EF4-FFF2-40B4-BE49-F238E27FC236}">
                <a16:creationId xmlns:a16="http://schemas.microsoft.com/office/drawing/2014/main" id="{EE814B50-1B1C-42AA-913A-8BF0562A8E11}"/>
              </a:ext>
            </a:extLst>
          </p:cNvPr>
          <p:cNvSpPr>
            <a:spLocks xmlns:a="http://schemas.openxmlformats.org/drawingml/2006/main" noGrp="1"/>
          </p:cNvSpPr>
          <p:nvPr/>
        </p:nvSpPr>
        <p:spPr>
          <a:xfrm xmlns:a="http://schemas.openxmlformats.org/drawingml/2006/main">
            <a:off x="609600" y="2990850"/>
            <a:ext cx="114300" cy="114300"/>
          </a:xfrm>
          <a:prstGeom xmlns:a="http://schemas.openxmlformats.org/drawingml/2006/main" prst="rect">
            <a:avLst/>
          </a:prstGeom>
          <a:solidFill xmlns:a="http://schemas.openxmlformats.org/drawingml/2006/main">
            <a:srgbClr val="66C43A"/>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0223106D-6544-4069-873E-DC3B5169D326}"/>
              </a:ext>
            </a:extLst>
          </p:cNvPr>
          <p:cNvSpPr>
            <a:spLocks xmlns:a="http://schemas.openxmlformats.org/drawingml/2006/main" noGrp="1"/>
          </p:cNvSpPr>
          <p:nvPr/>
        </p:nvSpPr>
        <p:spPr>
          <a:xfrm xmlns:a="http://schemas.openxmlformats.org/drawingml/2006/main">
            <a:off x="914400" y="2914650"/>
            <a:ext cx="53340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800" b="1">
                <a:solidFill>
                  <a:srgbClr val="12233A"/>
                </a:solidFill>
              </a:defRPr>
            </a:pPr>
            <a:r>
              <a:rPr sz="1800" b="1">
                <a:solidFill>
                  <a:srgbClr val="12233A"/>
                </a:solidFill>
              </a:rPr>
              <a:t>Know where SDS and Right-to-Know information are located</a:t>
            </a:r>
          </a:p>
        </p:txBody>
      </p:sp>
      <p:sp>
        <p:nvSpPr>
          <p:cNvPr id="7" name="">
            <a:extLst xmlns:a="http://schemas.openxmlformats.org/drawingml/2006/main">
              <a:ext uri="{FF2B5EF4-FFF2-40B4-BE49-F238E27FC236}">
                <a16:creationId xmlns:a16="http://schemas.microsoft.com/office/drawing/2014/main" id="{7C6B7853-B2E7-43A4-8CB1-B811C2E62A59}"/>
              </a:ext>
            </a:extLst>
          </p:cNvPr>
          <p:cNvSpPr>
            <a:spLocks xmlns:a="http://schemas.openxmlformats.org/drawingml/2006/main" noGrp="1"/>
          </p:cNvSpPr>
          <p:nvPr/>
        </p:nvSpPr>
        <p:spPr>
          <a:xfrm xmlns:a="http://schemas.openxmlformats.org/drawingml/2006/main">
            <a:off x="609600" y="3600450"/>
            <a:ext cx="114300" cy="114300"/>
          </a:xfrm>
          <a:prstGeom xmlns:a="http://schemas.openxmlformats.org/drawingml/2006/main" prst="rect">
            <a:avLst/>
          </a:prstGeom>
          <a:solidFill xmlns:a="http://schemas.openxmlformats.org/drawingml/2006/main">
            <a:srgbClr val="66C43A"/>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C1543A54-5B83-4AAF-B98B-A3D3721DACA5}"/>
              </a:ext>
            </a:extLst>
          </p:cNvPr>
          <p:cNvSpPr>
            <a:spLocks xmlns:a="http://schemas.openxmlformats.org/drawingml/2006/main" noGrp="1"/>
          </p:cNvSpPr>
          <p:nvPr/>
        </p:nvSpPr>
        <p:spPr>
          <a:xfrm xmlns:a="http://schemas.openxmlformats.org/drawingml/2006/main">
            <a:off x="914400" y="3524250"/>
            <a:ext cx="53340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800" b="0">
                <a:solidFill>
                  <a:srgbClr val="12233A"/>
                </a:solidFill>
              </a:defRPr>
            </a:pPr>
            <a:r>
              <a:rPr sz="1800" b="0">
                <a:solidFill>
                  <a:srgbClr val="12233A"/>
                </a:solidFill>
              </a:rPr>
              <a:t>Every container must be labeled</a:t>
            </a:r>
          </a:p>
        </p:txBody>
      </p:sp>
      <p:sp>
        <p:nvSpPr>
          <p:cNvPr id="9" name="">
            <a:extLst xmlns:a="http://schemas.openxmlformats.org/drawingml/2006/main">
              <a:ext uri="{FF2B5EF4-FFF2-40B4-BE49-F238E27FC236}">
                <a16:creationId xmlns:a16="http://schemas.microsoft.com/office/drawing/2014/main" id="{49A5B3DD-34BE-4F45-926E-23E60AC48CF9}"/>
              </a:ext>
            </a:extLst>
          </p:cNvPr>
          <p:cNvSpPr>
            <a:spLocks xmlns:a="http://schemas.openxmlformats.org/drawingml/2006/main" noGrp="1"/>
          </p:cNvSpPr>
          <p:nvPr/>
        </p:nvSpPr>
        <p:spPr>
          <a:xfrm xmlns:a="http://schemas.openxmlformats.org/drawingml/2006/main">
            <a:off x="609600" y="4210050"/>
            <a:ext cx="114300" cy="114300"/>
          </a:xfrm>
          <a:prstGeom xmlns:a="http://schemas.openxmlformats.org/drawingml/2006/main" prst="rect">
            <a:avLst/>
          </a:prstGeom>
          <a:solidFill xmlns:a="http://schemas.openxmlformats.org/drawingml/2006/main">
            <a:srgbClr val="66C43A"/>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983F70F7-0924-4E9F-9F6E-CD4CDC50B57E}"/>
              </a:ext>
            </a:extLst>
          </p:cNvPr>
          <p:cNvSpPr>
            <a:spLocks xmlns:a="http://schemas.openxmlformats.org/drawingml/2006/main" noGrp="1"/>
          </p:cNvSpPr>
          <p:nvPr/>
        </p:nvSpPr>
        <p:spPr>
          <a:xfrm xmlns:a="http://schemas.openxmlformats.org/drawingml/2006/main">
            <a:off x="914400" y="4133850"/>
            <a:ext cx="53340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800" b="0">
                <a:solidFill>
                  <a:srgbClr val="12233A"/>
                </a:solidFill>
              </a:defRPr>
            </a:pPr>
            <a:r>
              <a:rPr sz="1800" b="0">
                <a:solidFill>
                  <a:srgbClr val="12233A"/>
                </a:solidFill>
              </a:rPr>
              <a:t>Isolate unlabeled material and notify supervision</a:t>
            </a:r>
          </a:p>
        </p:txBody>
      </p:sp>
      <p:sp>
        <p:nvSpPr>
          <p:cNvPr id="11" name="">
            <a:extLst xmlns:a="http://schemas.openxmlformats.org/drawingml/2006/main">
              <a:ext uri="{FF2B5EF4-FFF2-40B4-BE49-F238E27FC236}">
                <a16:creationId xmlns:a16="http://schemas.microsoft.com/office/drawing/2014/main" id="{5DCE0C85-FA61-420F-82D6-9CA89187953B}"/>
              </a:ext>
            </a:extLst>
          </p:cNvPr>
          <p:cNvSpPr>
            <a:spLocks xmlns:a="http://schemas.openxmlformats.org/drawingml/2006/main" noGrp="1"/>
          </p:cNvSpPr>
          <p:nvPr/>
        </p:nvSpPr>
        <p:spPr>
          <a:xfrm xmlns:a="http://schemas.openxmlformats.org/drawingml/2006/main">
            <a:off x="6858000" y="704850"/>
            <a:ext cx="4495800" cy="4953000"/>
          </a:xfrm>
          <a:prstGeom xmlns:a="http://schemas.openxmlformats.org/drawingml/2006/main" prst="rect">
            <a:avLst/>
          </a:prstGeom>
          <a:solidFill xmlns:a="http://schemas.openxmlformats.org/drawingml/2006/main">
            <a:srgbClr val="F3F6F8"/>
          </a:solidFill>
          <a:ln xmlns:a="http://schemas.openxmlformats.org/drawingml/2006/main" w="9525">
            <a:solidFill>
              <a:srgbClr val="D8E1EA"/>
            </a:solidFill>
            <a:prstDash val="solid"/>
          </a:ln>
        </p:spPr>
      </p:sp>
      <p:sp>
        <p:nvSpPr>
          <p:cNvPr id="12" name="">
            <a:extLst xmlns:a="http://schemas.openxmlformats.org/drawingml/2006/main">
              <a:ext uri="{FF2B5EF4-FFF2-40B4-BE49-F238E27FC236}">
                <a16:creationId xmlns:a16="http://schemas.microsoft.com/office/drawing/2014/main" id="{197A73E2-8644-4684-98C6-6EBA297BE4BF}"/>
              </a:ext>
            </a:extLst>
          </p:cNvPr>
          <p:cNvSpPr>
            <a:spLocks xmlns:a="http://schemas.openxmlformats.org/drawingml/2006/main" noGrp="1"/>
          </p:cNvSpPr>
          <p:nvPr/>
        </p:nvSpPr>
        <p:spPr>
          <a:xfrm xmlns:a="http://schemas.openxmlformats.org/drawingml/2006/main">
            <a:off x="6858000" y="704850"/>
            <a:ext cx="4495800" cy="114300"/>
          </a:xfrm>
          <a:prstGeom xmlns:a="http://schemas.openxmlformats.org/drawingml/2006/main" prst="rect">
            <a:avLst/>
          </a:prstGeom>
          <a:solidFill xmlns:a="http://schemas.openxmlformats.org/drawingml/2006/main">
            <a:srgbClr val="66C43A"/>
          </a:solidFill>
          <a:ln xmlns:a="http://schemas.openxmlformats.org/drawingml/2006/main" w="0">
            <a:noFill/>
            <a:prstDash val="solid"/>
          </a:ln>
        </p:spPr>
      </p:sp>
      <p:sp>
        <p:nvSpPr>
          <p:cNvPr id="13" name="">
            <a:extLst xmlns:a="http://schemas.openxmlformats.org/drawingml/2006/main">
              <a:ext uri="{FF2B5EF4-FFF2-40B4-BE49-F238E27FC236}">
                <a16:creationId xmlns:a16="http://schemas.microsoft.com/office/drawing/2014/main" id="{216A340D-7E5A-4439-8969-8A76BAFF59F8}"/>
              </a:ext>
            </a:extLst>
          </p:cNvPr>
          <p:cNvSpPr>
            <a:spLocks xmlns:a="http://schemas.openxmlformats.org/drawingml/2006/main" noGrp="1"/>
          </p:cNvSpPr>
          <p:nvPr/>
        </p:nvSpPr>
        <p:spPr>
          <a:xfrm xmlns:a="http://schemas.openxmlformats.org/drawingml/2006/main">
            <a:off x="7200900" y="1123950"/>
            <a:ext cx="1714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050" b="1">
                <a:solidFill>
                  <a:srgbClr val="5E6B7A"/>
                </a:solidFill>
              </a:defRPr>
            </a:pPr>
            <a:r>
              <a:rPr sz="1050" b="1">
                <a:solidFill>
                  <a:srgbClr val="5E6B7A"/>
                </a:solidFill>
              </a:rPr>
              <a:t>VIDEO VISUAL</a:t>
            </a:r>
          </a:p>
        </p:txBody>
      </p:sp>
      <p:sp>
        <p:nvSpPr>
          <p:cNvPr id="14" name="">
            <a:extLst xmlns:a="http://schemas.openxmlformats.org/drawingml/2006/main">
              <a:ext uri="{FF2B5EF4-FFF2-40B4-BE49-F238E27FC236}">
                <a16:creationId xmlns:a16="http://schemas.microsoft.com/office/drawing/2014/main" id="{556F4AAF-4C48-47BE-8A7D-55F0D95AB129}"/>
              </a:ext>
            </a:extLst>
          </p:cNvPr>
          <p:cNvSpPr>
            <a:spLocks xmlns:a="http://schemas.openxmlformats.org/drawingml/2006/main" noGrp="1"/>
          </p:cNvSpPr>
          <p:nvPr/>
        </p:nvSpPr>
        <p:spPr>
          <a:xfrm xmlns:a="http://schemas.openxmlformats.org/drawingml/2006/main">
            <a:off x="7200900" y="1543050"/>
            <a:ext cx="3810000" cy="1047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800" b="1">
                <a:solidFill>
                  <a:srgbClr val="12233A"/>
                </a:solidFill>
              </a:defRPr>
            </a:pPr>
            <a:r>
              <a:rPr sz="1800" b="1">
                <a:solidFill>
                  <a:srgbClr val="12233A"/>
                </a:solidFill>
              </a:rPr>
              <a:t>Worker checking a labeled container against an SDS binder or tablet.</a:t>
            </a:r>
          </a:p>
        </p:txBody>
      </p:sp>
      <p:sp>
        <p:nvSpPr>
          <p:cNvPr id="15" name="">
            <a:extLst xmlns:a="http://schemas.openxmlformats.org/drawingml/2006/main">
              <a:ext uri="{FF2B5EF4-FFF2-40B4-BE49-F238E27FC236}">
                <a16:creationId xmlns:a16="http://schemas.microsoft.com/office/drawing/2014/main" id="{D58C4E3E-FD82-4AE7-A8C0-44FCD3C25903}"/>
              </a:ext>
            </a:extLst>
          </p:cNvPr>
          <p:cNvSpPr>
            <a:spLocks xmlns:a="http://schemas.openxmlformats.org/drawingml/2006/main" noGrp="1"/>
          </p:cNvSpPr>
          <p:nvPr/>
        </p:nvSpPr>
        <p:spPr>
          <a:xfrm xmlns:a="http://schemas.openxmlformats.org/drawingml/2006/main">
            <a:off x="7200900" y="3028950"/>
            <a:ext cx="171450" cy="171450"/>
          </a:xfrm>
          <a:prstGeom xmlns:a="http://schemas.openxmlformats.org/drawingml/2006/main" prst="rect">
            <a:avLst/>
          </a:prstGeom>
          <a:solidFill xmlns:a="http://schemas.openxmlformats.org/drawingml/2006/main">
            <a:srgbClr val="66C43A"/>
          </a:solidFill>
          <a:ln xmlns:a="http://schemas.openxmlformats.org/drawingml/2006/main" w="0">
            <a:noFill/>
            <a:prstDash val="solid"/>
          </a:ln>
        </p:spPr>
      </p:sp>
      <p:sp>
        <p:nvSpPr>
          <p:cNvPr id="16" name="">
            <a:extLst xmlns:a="http://schemas.openxmlformats.org/drawingml/2006/main">
              <a:ext uri="{FF2B5EF4-FFF2-40B4-BE49-F238E27FC236}">
                <a16:creationId xmlns:a16="http://schemas.microsoft.com/office/drawing/2014/main" id="{5F787DFF-6EBB-458B-9AD4-46D6DA3C6045}"/>
              </a:ext>
            </a:extLst>
          </p:cNvPr>
          <p:cNvSpPr>
            <a:spLocks xmlns:a="http://schemas.openxmlformats.org/drawingml/2006/main" noGrp="1"/>
          </p:cNvSpPr>
          <p:nvPr/>
        </p:nvSpPr>
        <p:spPr>
          <a:xfrm xmlns:a="http://schemas.openxmlformats.org/drawingml/2006/main">
            <a:off x="7524750" y="3000375"/>
            <a:ext cx="3143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500" b="1">
                <a:solidFill>
                  <a:srgbClr val="0B243D"/>
                </a:solidFill>
              </a:defRPr>
            </a:pPr>
            <a:r>
              <a:rPr sz="1500" b="1">
                <a:solidFill>
                  <a:srgbClr val="0B243D"/>
                </a:solidFill>
              </a:rPr>
              <a:t>Know where SDS and Right-to-Know information are located</a:t>
            </a:r>
          </a:p>
        </p:txBody>
      </p:sp>
      <p:sp>
        <p:nvSpPr>
          <p:cNvPr id="17" name="">
            <a:extLst xmlns:a="http://schemas.openxmlformats.org/drawingml/2006/main">
              <a:ext uri="{FF2B5EF4-FFF2-40B4-BE49-F238E27FC236}">
                <a16:creationId xmlns:a16="http://schemas.microsoft.com/office/drawing/2014/main" id="{789F7A54-C2B1-4EFB-9961-CF5F6B961F38}"/>
              </a:ext>
            </a:extLst>
          </p:cNvPr>
          <p:cNvSpPr>
            <a:spLocks xmlns:a="http://schemas.openxmlformats.org/drawingml/2006/main" noGrp="1"/>
          </p:cNvSpPr>
          <p:nvPr/>
        </p:nvSpPr>
        <p:spPr>
          <a:xfrm xmlns:a="http://schemas.openxmlformats.org/drawingml/2006/main">
            <a:off x="7200900" y="3467100"/>
            <a:ext cx="171450" cy="171450"/>
          </a:xfrm>
          <a:prstGeom xmlns:a="http://schemas.openxmlformats.org/drawingml/2006/main" prst="rect">
            <a:avLst/>
          </a:prstGeom>
          <a:solidFill xmlns:a="http://schemas.openxmlformats.org/drawingml/2006/main">
            <a:srgbClr val="66C43A"/>
          </a:solidFill>
          <a:ln xmlns:a="http://schemas.openxmlformats.org/drawingml/2006/main" w="0">
            <a:noFill/>
            <a:prstDash val="solid"/>
          </a:ln>
        </p:spPr>
      </p:sp>
      <p:sp>
        <p:nvSpPr>
          <p:cNvPr id="18" name="">
            <a:extLst xmlns:a="http://schemas.openxmlformats.org/drawingml/2006/main">
              <a:ext uri="{FF2B5EF4-FFF2-40B4-BE49-F238E27FC236}">
                <a16:creationId xmlns:a16="http://schemas.microsoft.com/office/drawing/2014/main" id="{9E8FDFDD-3122-49E4-B601-C5BA79D9B0F0}"/>
              </a:ext>
            </a:extLst>
          </p:cNvPr>
          <p:cNvSpPr>
            <a:spLocks xmlns:a="http://schemas.openxmlformats.org/drawingml/2006/main" noGrp="1"/>
          </p:cNvSpPr>
          <p:nvPr/>
        </p:nvSpPr>
        <p:spPr>
          <a:xfrm xmlns:a="http://schemas.openxmlformats.org/drawingml/2006/main">
            <a:off x="7524750" y="3438525"/>
            <a:ext cx="3143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500" b="1">
                <a:solidFill>
                  <a:srgbClr val="0B243D"/>
                </a:solidFill>
              </a:defRPr>
            </a:pPr>
            <a:r>
              <a:rPr sz="1500" b="1">
                <a:solidFill>
                  <a:srgbClr val="0B243D"/>
                </a:solidFill>
              </a:rPr>
              <a:t>Every container must be labeled</a:t>
            </a:r>
          </a:p>
        </p:txBody>
      </p:sp>
      <p:sp>
        <p:nvSpPr>
          <p:cNvPr id="19" name="">
            <a:extLst xmlns:a="http://schemas.openxmlformats.org/drawingml/2006/main">
              <a:ext uri="{FF2B5EF4-FFF2-40B4-BE49-F238E27FC236}">
                <a16:creationId xmlns:a16="http://schemas.microsoft.com/office/drawing/2014/main" id="{C4792F5F-44FD-4203-9A33-3E935F0F964F}"/>
              </a:ext>
            </a:extLst>
          </p:cNvPr>
          <p:cNvSpPr>
            <a:spLocks xmlns:a="http://schemas.openxmlformats.org/drawingml/2006/main" noGrp="1"/>
          </p:cNvSpPr>
          <p:nvPr/>
        </p:nvSpPr>
        <p:spPr>
          <a:xfrm xmlns:a="http://schemas.openxmlformats.org/drawingml/2006/main">
            <a:off x="7200900" y="3905250"/>
            <a:ext cx="171450" cy="171450"/>
          </a:xfrm>
          <a:prstGeom xmlns:a="http://schemas.openxmlformats.org/drawingml/2006/main" prst="rect">
            <a:avLst/>
          </a:prstGeom>
          <a:solidFill xmlns:a="http://schemas.openxmlformats.org/drawingml/2006/main">
            <a:srgbClr val="66C43A"/>
          </a:solidFill>
          <a:ln xmlns:a="http://schemas.openxmlformats.org/drawingml/2006/main" w="0">
            <a:noFill/>
            <a:prstDash val="solid"/>
          </a:ln>
        </p:spPr>
      </p:sp>
      <p:sp>
        <p:nvSpPr>
          <p:cNvPr id="20" name="">
            <a:extLst xmlns:a="http://schemas.openxmlformats.org/drawingml/2006/main">
              <a:ext uri="{FF2B5EF4-FFF2-40B4-BE49-F238E27FC236}">
                <a16:creationId xmlns:a16="http://schemas.microsoft.com/office/drawing/2014/main" id="{0B382DA5-3A80-4D9E-9142-121BF9AB8136}"/>
              </a:ext>
            </a:extLst>
          </p:cNvPr>
          <p:cNvSpPr>
            <a:spLocks xmlns:a="http://schemas.openxmlformats.org/drawingml/2006/main" noGrp="1"/>
          </p:cNvSpPr>
          <p:nvPr/>
        </p:nvSpPr>
        <p:spPr>
          <a:xfrm xmlns:a="http://schemas.openxmlformats.org/drawingml/2006/main">
            <a:off x="7524750" y="3876675"/>
            <a:ext cx="3143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500" b="1">
                <a:solidFill>
                  <a:srgbClr val="0B243D"/>
                </a:solidFill>
              </a:defRPr>
            </a:pPr>
            <a:r>
              <a:rPr sz="1500" b="1">
                <a:solidFill>
                  <a:srgbClr val="0B243D"/>
                </a:solidFill>
              </a:rPr>
              <a:t>Isolate unlabeled material and notify supervision</a:t>
            </a:r>
          </a:p>
        </p:txBody>
      </p:sp>
      <p:sp>
        <p:nvSpPr>
          <p:cNvPr id="21" name="">
            <a:extLst xmlns:a="http://schemas.openxmlformats.org/drawingml/2006/main">
              <a:ext uri="{FF2B5EF4-FFF2-40B4-BE49-F238E27FC236}">
                <a16:creationId xmlns:a16="http://schemas.microsoft.com/office/drawing/2014/main" id="{921D9634-FBEE-40A2-8200-BA026493F0B4}"/>
              </a:ext>
            </a:extLst>
          </p:cNvPr>
          <p:cNvSpPr>
            <a:spLocks xmlns:a="http://schemas.openxmlformats.org/drawingml/2006/main" noGrp="1"/>
          </p:cNvSpPr>
          <p:nvPr/>
        </p:nvSpPr>
        <p:spPr>
          <a:xfrm xmlns:a="http://schemas.openxmlformats.org/drawingml/2006/main">
            <a:off x="7200900" y="5219700"/>
            <a:ext cx="1714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975" b="1">
                <a:solidFill>
                  <a:srgbClr val="5E6B7A"/>
                </a:solidFill>
              </a:defRPr>
            </a:pPr>
            <a:r>
              <a:rPr sz="975" b="1">
                <a:solidFill>
                  <a:srgbClr val="5E6B7A"/>
                </a:solidFill>
              </a:rPr>
              <a:t>Scene 17</a:t>
            </a:r>
          </a:p>
        </p:txBody>
      </p:sp>
      <p:sp>
        <p:nvSpPr>
          <p:cNvPr id="22" name="">
            <a:extLst xmlns:a="http://schemas.openxmlformats.org/drawingml/2006/main">
              <a:ext uri="{FF2B5EF4-FFF2-40B4-BE49-F238E27FC236}">
                <a16:creationId xmlns:a16="http://schemas.microsoft.com/office/drawing/2014/main" id="{6E65FC08-BF15-40F0-BAE0-0A50AC6D98FE}"/>
              </a:ext>
            </a:extLst>
          </p:cNvPr>
          <p:cNvSpPr>
            <a:spLocks xmlns:a="http://schemas.openxmlformats.org/drawingml/2006/main" noGrp="1"/>
          </p:cNvSpPr>
          <p:nvPr/>
        </p:nvSpPr>
        <p:spPr>
          <a:xfrm xmlns:a="http://schemas.openxmlformats.org/drawingml/2006/main">
            <a:off x="0" y="6515100"/>
            <a:ext cx="12192000" cy="342900"/>
          </a:xfrm>
          <a:prstGeom xmlns:a="http://schemas.openxmlformats.org/drawingml/2006/main" prst="rect">
            <a:avLst/>
          </a:prstGeom>
          <a:solidFill xmlns:a="http://schemas.openxmlformats.org/drawingml/2006/main">
            <a:srgbClr val="0B243D"/>
          </a:solidFill>
          <a:ln xmlns:a="http://schemas.openxmlformats.org/drawingml/2006/main" w="0">
            <a:noFill/>
            <a:prstDash val="solid"/>
          </a:ln>
        </p:spPr>
      </p:sp>
      <p:sp>
        <p:nvSpPr>
          <p:cNvPr id="23" name="">
            <a:extLst xmlns:a="http://schemas.openxmlformats.org/drawingml/2006/main">
              <a:ext uri="{FF2B5EF4-FFF2-40B4-BE49-F238E27FC236}">
                <a16:creationId xmlns:a16="http://schemas.microsoft.com/office/drawing/2014/main" id="{0EAE2993-4948-4CCF-8162-086826824422}"/>
              </a:ext>
            </a:extLst>
          </p:cNvPr>
          <p:cNvSpPr>
            <a:spLocks xmlns:a="http://schemas.openxmlformats.org/drawingml/2006/main" noGrp="1"/>
          </p:cNvSpPr>
          <p:nvPr/>
        </p:nvSpPr>
        <p:spPr>
          <a:xfrm xmlns:a="http://schemas.openxmlformats.org/drawingml/2006/main">
            <a:off x="533400" y="6600825"/>
            <a:ext cx="3429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975" b="1">
                <a:solidFill>
                  <a:srgbClr val="FFFFFF"/>
                </a:solidFill>
              </a:defRPr>
            </a:pPr>
            <a:r>
              <a:rPr sz="975" b="1">
                <a:solidFill>
                  <a:srgbClr val="FFFFFF"/>
                </a:solidFill>
              </a:rPr>
              <a:t>PAL Environmental Services</a:t>
            </a:r>
          </a:p>
        </p:txBody>
      </p:sp>
      <p:sp>
        <p:nvSpPr>
          <p:cNvPr id="24" name="">
            <a:extLst xmlns:a="http://schemas.openxmlformats.org/drawingml/2006/main">
              <a:ext uri="{FF2B5EF4-FFF2-40B4-BE49-F238E27FC236}">
                <a16:creationId xmlns:a16="http://schemas.microsoft.com/office/drawing/2014/main" id="{FEF9D241-86E2-4388-B924-97D16CB83955}"/>
              </a:ext>
            </a:extLst>
          </p:cNvPr>
          <p:cNvSpPr>
            <a:spLocks xmlns:a="http://schemas.openxmlformats.org/drawingml/2006/main" noGrp="1"/>
          </p:cNvSpPr>
          <p:nvPr/>
        </p:nvSpPr>
        <p:spPr>
          <a:xfrm xmlns:a="http://schemas.openxmlformats.org/drawingml/2006/main">
            <a:off x="9620250" y="6600825"/>
            <a:ext cx="2095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900">
                <a:solidFill>
                  <a:srgbClr val="DDEAF5"/>
                </a:solidFill>
              </a:defRPr>
            </a:pPr>
            <a:r>
              <a:rPr sz="900">
                <a:solidFill>
                  <a:srgbClr val="DDEAF5"/>
                </a:solidFill>
              </a:rPr>
              <a:t>Employee Orientation  |  17</a:t>
            </a:r>
          </a:p>
        </p:txBody>
      </p:sp>
    </p:spTree>
    <p:extLst>
      <p:ext uri="{BB962C8B-B14F-4D97-AF65-F5344CB8AC3E}">
        <p14:creationId xmlns:p14="http://schemas.microsoft.com/office/powerpoint/2010/main" val="2069645242"/>
      </p:ext>
    </p:extLst>
  </p:cSld>
</p:sld>
</file>

<file path=ppt/slides/slide1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977A19F9-FB40-46AF-9D87-FE6EFD182C7C}"/>
              </a:ext>
            </a:extLst>
          </p:cNvPr>
          <p:cNvSpPr>
            <a:spLocks xmlns:a="http://schemas.openxmlformats.org/drawingml/2006/main" noGrp="1"/>
          </p:cNvSpPr>
          <p:nvPr/>
        </p:nvSpPr>
        <p:spPr>
          <a:xfrm xmlns:a="http://schemas.openxmlformats.org/drawingml/2006/main">
            <a:off x="0" y="0"/>
            <a:ext cx="12192000" cy="266700"/>
          </a:xfrm>
          <a:prstGeom xmlns:a="http://schemas.openxmlformats.org/drawingml/2006/main" prst="rect">
            <a:avLst/>
          </a:prstGeom>
          <a:solidFill xmlns:a="http://schemas.openxmlformats.org/drawingml/2006/main">
            <a:srgbClr val="0B243D"/>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18725530-06EB-4633-8B87-684D55F55A73}"/>
              </a:ext>
            </a:extLst>
          </p:cNvPr>
          <p:cNvSpPr>
            <a:spLocks xmlns:a="http://schemas.openxmlformats.org/drawingml/2006/main" noGrp="1"/>
          </p:cNvSpPr>
          <p:nvPr/>
        </p:nvSpPr>
        <p:spPr>
          <a:xfrm xmlns:a="http://schemas.openxmlformats.org/drawingml/2006/main">
            <a:off x="0" y="266700"/>
            <a:ext cx="171450" cy="6248400"/>
          </a:xfrm>
          <a:prstGeom xmlns:a="http://schemas.openxmlformats.org/drawingml/2006/main" prst="rect">
            <a:avLst/>
          </a:prstGeom>
          <a:solidFill xmlns:a="http://schemas.openxmlformats.org/drawingml/2006/main">
            <a:srgbClr val="66C43A"/>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21D14E52-F01D-4997-B1CA-DB3BD788BF0F}"/>
              </a:ext>
            </a:extLst>
          </p:cNvPr>
          <p:cNvSpPr>
            <a:spLocks xmlns:a="http://schemas.openxmlformats.org/drawingml/2006/main" noGrp="1"/>
          </p:cNvSpPr>
          <p:nvPr/>
        </p:nvSpPr>
        <p:spPr>
          <a:xfrm xmlns:a="http://schemas.openxmlformats.org/drawingml/2006/main">
            <a:off x="533400" y="666750"/>
            <a:ext cx="44767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050" b="1">
                <a:solidFill>
                  <a:srgbClr val="5E6B7A"/>
                </a:solidFill>
              </a:defRPr>
            </a:pPr>
            <a:r>
              <a:rPr sz="1050" b="1">
                <a:solidFill>
                  <a:srgbClr val="5E6B7A"/>
                </a:solidFill>
              </a:rPr>
              <a:t>SCAFFOLDS</a:t>
            </a:r>
          </a:p>
        </p:txBody>
      </p:sp>
      <p:sp>
        <p:nvSpPr>
          <p:cNvPr id="4" name="">
            <a:extLst xmlns:a="http://schemas.openxmlformats.org/drawingml/2006/main">
              <a:ext uri="{FF2B5EF4-FFF2-40B4-BE49-F238E27FC236}">
                <a16:creationId xmlns:a16="http://schemas.microsoft.com/office/drawing/2014/main" id="{79CBF22E-CA79-489C-A2A8-5138E935958D}"/>
              </a:ext>
            </a:extLst>
          </p:cNvPr>
          <p:cNvSpPr>
            <a:spLocks xmlns:a="http://schemas.openxmlformats.org/drawingml/2006/main" noGrp="1"/>
          </p:cNvSpPr>
          <p:nvPr/>
        </p:nvSpPr>
        <p:spPr>
          <a:xfrm xmlns:a="http://schemas.openxmlformats.org/drawingml/2006/main">
            <a:off x="533400" y="1047750"/>
            <a:ext cx="5524500" cy="1428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3150" b="1">
                <a:solidFill>
                  <a:srgbClr val="0B243D"/>
                </a:solidFill>
              </a:defRPr>
            </a:pPr>
            <a:r>
              <a:rPr sz="3150" b="1">
                <a:solidFill>
                  <a:srgbClr val="0B243D"/>
                </a:solidFill>
              </a:rPr>
              <a:t>Scaffolds require competent-person inspection.</a:t>
            </a:r>
          </a:p>
        </p:txBody>
      </p:sp>
      <p:sp>
        <p:nvSpPr>
          <p:cNvPr id="5" name="">
            <a:extLst xmlns:a="http://schemas.openxmlformats.org/drawingml/2006/main">
              <a:ext uri="{FF2B5EF4-FFF2-40B4-BE49-F238E27FC236}">
                <a16:creationId xmlns:a16="http://schemas.microsoft.com/office/drawing/2014/main" id="{D01C16D8-0D69-4CC5-B249-85F4BA2450C1}"/>
              </a:ext>
            </a:extLst>
          </p:cNvPr>
          <p:cNvSpPr>
            <a:spLocks xmlns:a="http://schemas.openxmlformats.org/drawingml/2006/main" noGrp="1"/>
          </p:cNvSpPr>
          <p:nvPr/>
        </p:nvSpPr>
        <p:spPr>
          <a:xfrm xmlns:a="http://schemas.openxmlformats.org/drawingml/2006/main">
            <a:off x="609600" y="2990850"/>
            <a:ext cx="114300" cy="114300"/>
          </a:xfrm>
          <a:prstGeom xmlns:a="http://schemas.openxmlformats.org/drawingml/2006/main" prst="rect">
            <a:avLst/>
          </a:prstGeom>
          <a:solidFill xmlns:a="http://schemas.openxmlformats.org/drawingml/2006/main">
            <a:srgbClr val="66C43A"/>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265995FF-748E-4143-89E0-937EF5F5C8BC}"/>
              </a:ext>
            </a:extLst>
          </p:cNvPr>
          <p:cNvSpPr>
            <a:spLocks xmlns:a="http://schemas.openxmlformats.org/drawingml/2006/main" noGrp="1"/>
          </p:cNvSpPr>
          <p:nvPr/>
        </p:nvSpPr>
        <p:spPr>
          <a:xfrm xmlns:a="http://schemas.openxmlformats.org/drawingml/2006/main">
            <a:off x="914400" y="2914650"/>
            <a:ext cx="53340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800" b="1">
                <a:solidFill>
                  <a:srgbClr val="12233A"/>
                </a:solidFill>
              </a:defRPr>
            </a:pPr>
            <a:r>
              <a:rPr sz="1800" b="1">
                <a:solidFill>
                  <a:srgbClr val="12233A"/>
                </a:solidFill>
              </a:rPr>
              <a:t>Erected and inspected under competent-person control</a:t>
            </a:r>
          </a:p>
        </p:txBody>
      </p:sp>
      <p:sp>
        <p:nvSpPr>
          <p:cNvPr id="7" name="">
            <a:extLst xmlns:a="http://schemas.openxmlformats.org/drawingml/2006/main">
              <a:ext uri="{FF2B5EF4-FFF2-40B4-BE49-F238E27FC236}">
                <a16:creationId xmlns:a16="http://schemas.microsoft.com/office/drawing/2014/main" id="{90DEED8B-EB34-4C49-B5F8-8E4917C75B6F}"/>
              </a:ext>
            </a:extLst>
          </p:cNvPr>
          <p:cNvSpPr>
            <a:spLocks xmlns:a="http://schemas.openxmlformats.org/drawingml/2006/main" noGrp="1"/>
          </p:cNvSpPr>
          <p:nvPr/>
        </p:nvSpPr>
        <p:spPr>
          <a:xfrm xmlns:a="http://schemas.openxmlformats.org/drawingml/2006/main">
            <a:off x="609600" y="3600450"/>
            <a:ext cx="114300" cy="114300"/>
          </a:xfrm>
          <a:prstGeom xmlns:a="http://schemas.openxmlformats.org/drawingml/2006/main" prst="rect">
            <a:avLst/>
          </a:prstGeom>
          <a:solidFill xmlns:a="http://schemas.openxmlformats.org/drawingml/2006/main">
            <a:srgbClr val="66C43A"/>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86435F1A-32B1-4633-8C4C-A60D57252E33}"/>
              </a:ext>
            </a:extLst>
          </p:cNvPr>
          <p:cNvSpPr>
            <a:spLocks xmlns:a="http://schemas.openxmlformats.org/drawingml/2006/main" noGrp="1"/>
          </p:cNvSpPr>
          <p:nvPr/>
        </p:nvSpPr>
        <p:spPr>
          <a:xfrm xmlns:a="http://schemas.openxmlformats.org/drawingml/2006/main">
            <a:off x="914400" y="3524250"/>
            <a:ext cx="53340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800" b="0">
                <a:solidFill>
                  <a:srgbClr val="12233A"/>
                </a:solidFill>
              </a:defRPr>
            </a:pPr>
            <a:r>
              <a:rPr sz="1800" b="0">
                <a:solidFill>
                  <a:srgbClr val="12233A"/>
                </a:solidFill>
              </a:rPr>
              <a:t>Daily inspection must be documented</a:t>
            </a:r>
          </a:p>
        </p:txBody>
      </p:sp>
      <p:sp>
        <p:nvSpPr>
          <p:cNvPr id="9" name="">
            <a:extLst xmlns:a="http://schemas.openxmlformats.org/drawingml/2006/main">
              <a:ext uri="{FF2B5EF4-FFF2-40B4-BE49-F238E27FC236}">
                <a16:creationId xmlns:a16="http://schemas.microsoft.com/office/drawing/2014/main" id="{9C0D6888-4617-4BBB-BBD8-CC9B0BF93813}"/>
              </a:ext>
            </a:extLst>
          </p:cNvPr>
          <p:cNvSpPr>
            <a:spLocks xmlns:a="http://schemas.openxmlformats.org/drawingml/2006/main" noGrp="1"/>
          </p:cNvSpPr>
          <p:nvPr/>
        </p:nvSpPr>
        <p:spPr>
          <a:xfrm xmlns:a="http://schemas.openxmlformats.org/drawingml/2006/main">
            <a:off x="609600" y="4210050"/>
            <a:ext cx="114300" cy="114300"/>
          </a:xfrm>
          <a:prstGeom xmlns:a="http://schemas.openxmlformats.org/drawingml/2006/main" prst="rect">
            <a:avLst/>
          </a:prstGeom>
          <a:solidFill xmlns:a="http://schemas.openxmlformats.org/drawingml/2006/main">
            <a:srgbClr val="66C43A"/>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3D7198D2-8393-4AFD-AFC0-BA43B61DBFCC}"/>
              </a:ext>
            </a:extLst>
          </p:cNvPr>
          <p:cNvSpPr>
            <a:spLocks xmlns:a="http://schemas.openxmlformats.org/drawingml/2006/main" noGrp="1"/>
          </p:cNvSpPr>
          <p:nvPr/>
        </p:nvSpPr>
        <p:spPr>
          <a:xfrm xmlns:a="http://schemas.openxmlformats.org/drawingml/2006/main">
            <a:off x="914400" y="4133850"/>
            <a:ext cx="53340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800" b="0">
                <a:solidFill>
                  <a:srgbClr val="12233A"/>
                </a:solidFill>
              </a:defRPr>
            </a:pPr>
            <a:r>
              <a:rPr sz="1800" b="0">
                <a:solidFill>
                  <a:srgbClr val="12233A"/>
                </a:solidFill>
              </a:rPr>
              <a:t>Never stand, sit, or rest on guardrails</a:t>
            </a:r>
          </a:p>
        </p:txBody>
      </p:sp>
      <p:sp>
        <p:nvSpPr>
          <p:cNvPr id="11" name="">
            <a:extLst xmlns:a="http://schemas.openxmlformats.org/drawingml/2006/main">
              <a:ext uri="{FF2B5EF4-FFF2-40B4-BE49-F238E27FC236}">
                <a16:creationId xmlns:a16="http://schemas.microsoft.com/office/drawing/2014/main" id="{DED413F6-00FA-4B25-8BFD-583E0DC807AF}"/>
              </a:ext>
            </a:extLst>
          </p:cNvPr>
          <p:cNvSpPr>
            <a:spLocks xmlns:a="http://schemas.openxmlformats.org/drawingml/2006/main" noGrp="1"/>
          </p:cNvSpPr>
          <p:nvPr/>
        </p:nvSpPr>
        <p:spPr>
          <a:xfrm xmlns:a="http://schemas.openxmlformats.org/drawingml/2006/main">
            <a:off x="6858000" y="704850"/>
            <a:ext cx="4495800" cy="4953000"/>
          </a:xfrm>
          <a:prstGeom xmlns:a="http://schemas.openxmlformats.org/drawingml/2006/main" prst="rect">
            <a:avLst/>
          </a:prstGeom>
          <a:solidFill xmlns:a="http://schemas.openxmlformats.org/drawingml/2006/main">
            <a:srgbClr val="F3F6F8"/>
          </a:solidFill>
          <a:ln xmlns:a="http://schemas.openxmlformats.org/drawingml/2006/main" w="9525">
            <a:solidFill>
              <a:srgbClr val="D8E1EA"/>
            </a:solidFill>
            <a:prstDash val="solid"/>
          </a:ln>
        </p:spPr>
      </p:sp>
      <p:sp>
        <p:nvSpPr>
          <p:cNvPr id="12" name="">
            <a:extLst xmlns:a="http://schemas.openxmlformats.org/drawingml/2006/main">
              <a:ext uri="{FF2B5EF4-FFF2-40B4-BE49-F238E27FC236}">
                <a16:creationId xmlns:a16="http://schemas.microsoft.com/office/drawing/2014/main" id="{48858E3F-008F-4236-A785-01C4A80E2660}"/>
              </a:ext>
            </a:extLst>
          </p:cNvPr>
          <p:cNvSpPr>
            <a:spLocks xmlns:a="http://schemas.openxmlformats.org/drawingml/2006/main" noGrp="1"/>
          </p:cNvSpPr>
          <p:nvPr/>
        </p:nvSpPr>
        <p:spPr>
          <a:xfrm xmlns:a="http://schemas.openxmlformats.org/drawingml/2006/main">
            <a:off x="6858000" y="704850"/>
            <a:ext cx="4495800" cy="114300"/>
          </a:xfrm>
          <a:prstGeom xmlns:a="http://schemas.openxmlformats.org/drawingml/2006/main" prst="rect">
            <a:avLst/>
          </a:prstGeom>
          <a:solidFill xmlns:a="http://schemas.openxmlformats.org/drawingml/2006/main">
            <a:srgbClr val="66C43A"/>
          </a:solidFill>
          <a:ln xmlns:a="http://schemas.openxmlformats.org/drawingml/2006/main" w="0">
            <a:noFill/>
            <a:prstDash val="solid"/>
          </a:ln>
        </p:spPr>
      </p:sp>
      <p:sp>
        <p:nvSpPr>
          <p:cNvPr id="13" name="">
            <a:extLst xmlns:a="http://schemas.openxmlformats.org/drawingml/2006/main">
              <a:ext uri="{FF2B5EF4-FFF2-40B4-BE49-F238E27FC236}">
                <a16:creationId xmlns:a16="http://schemas.microsoft.com/office/drawing/2014/main" id="{F1E33DC8-823D-49FA-9BD9-F26724CA579D}"/>
              </a:ext>
            </a:extLst>
          </p:cNvPr>
          <p:cNvSpPr>
            <a:spLocks xmlns:a="http://schemas.openxmlformats.org/drawingml/2006/main" noGrp="1"/>
          </p:cNvSpPr>
          <p:nvPr/>
        </p:nvSpPr>
        <p:spPr>
          <a:xfrm xmlns:a="http://schemas.openxmlformats.org/drawingml/2006/main">
            <a:off x="7200900" y="1123950"/>
            <a:ext cx="1714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050" b="1">
                <a:solidFill>
                  <a:srgbClr val="5E6B7A"/>
                </a:solidFill>
              </a:defRPr>
            </a:pPr>
            <a:r>
              <a:rPr sz="1050" b="1">
                <a:solidFill>
                  <a:srgbClr val="5E6B7A"/>
                </a:solidFill>
              </a:rPr>
              <a:t>VIDEO VISUAL</a:t>
            </a:r>
          </a:p>
        </p:txBody>
      </p:sp>
      <p:sp>
        <p:nvSpPr>
          <p:cNvPr id="14" name="">
            <a:extLst xmlns:a="http://schemas.openxmlformats.org/drawingml/2006/main">
              <a:ext uri="{FF2B5EF4-FFF2-40B4-BE49-F238E27FC236}">
                <a16:creationId xmlns:a16="http://schemas.microsoft.com/office/drawing/2014/main" id="{12AFB53E-C349-4BCC-8730-EE3032A65601}"/>
              </a:ext>
            </a:extLst>
          </p:cNvPr>
          <p:cNvSpPr>
            <a:spLocks xmlns:a="http://schemas.openxmlformats.org/drawingml/2006/main" noGrp="1"/>
          </p:cNvSpPr>
          <p:nvPr/>
        </p:nvSpPr>
        <p:spPr>
          <a:xfrm xmlns:a="http://schemas.openxmlformats.org/drawingml/2006/main">
            <a:off x="7200900" y="1543050"/>
            <a:ext cx="3810000" cy="1047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800" b="1">
                <a:solidFill>
                  <a:srgbClr val="12233A"/>
                </a:solidFill>
              </a:defRPr>
            </a:pPr>
            <a:r>
              <a:rPr sz="1800" b="1">
                <a:solidFill>
                  <a:srgbClr val="12233A"/>
                </a:solidFill>
              </a:rPr>
              <a:t>Competent person reviewing scaffold tag and checklist.</a:t>
            </a:r>
          </a:p>
        </p:txBody>
      </p:sp>
      <p:sp>
        <p:nvSpPr>
          <p:cNvPr id="15" name="">
            <a:extLst xmlns:a="http://schemas.openxmlformats.org/drawingml/2006/main">
              <a:ext uri="{FF2B5EF4-FFF2-40B4-BE49-F238E27FC236}">
                <a16:creationId xmlns:a16="http://schemas.microsoft.com/office/drawing/2014/main" id="{95D5F330-C7DE-4CD2-B34E-DA57615436BF}"/>
              </a:ext>
            </a:extLst>
          </p:cNvPr>
          <p:cNvSpPr>
            <a:spLocks xmlns:a="http://schemas.openxmlformats.org/drawingml/2006/main" noGrp="1"/>
          </p:cNvSpPr>
          <p:nvPr/>
        </p:nvSpPr>
        <p:spPr>
          <a:xfrm xmlns:a="http://schemas.openxmlformats.org/drawingml/2006/main">
            <a:off x="7200900" y="3028950"/>
            <a:ext cx="171450" cy="171450"/>
          </a:xfrm>
          <a:prstGeom xmlns:a="http://schemas.openxmlformats.org/drawingml/2006/main" prst="rect">
            <a:avLst/>
          </a:prstGeom>
          <a:solidFill xmlns:a="http://schemas.openxmlformats.org/drawingml/2006/main">
            <a:srgbClr val="66C43A"/>
          </a:solidFill>
          <a:ln xmlns:a="http://schemas.openxmlformats.org/drawingml/2006/main" w="0">
            <a:noFill/>
            <a:prstDash val="solid"/>
          </a:ln>
        </p:spPr>
      </p:sp>
      <p:sp>
        <p:nvSpPr>
          <p:cNvPr id="16" name="">
            <a:extLst xmlns:a="http://schemas.openxmlformats.org/drawingml/2006/main">
              <a:ext uri="{FF2B5EF4-FFF2-40B4-BE49-F238E27FC236}">
                <a16:creationId xmlns:a16="http://schemas.microsoft.com/office/drawing/2014/main" id="{173D8685-21C1-421F-94A8-574E2324C4E6}"/>
              </a:ext>
            </a:extLst>
          </p:cNvPr>
          <p:cNvSpPr>
            <a:spLocks xmlns:a="http://schemas.openxmlformats.org/drawingml/2006/main" noGrp="1"/>
          </p:cNvSpPr>
          <p:nvPr/>
        </p:nvSpPr>
        <p:spPr>
          <a:xfrm xmlns:a="http://schemas.openxmlformats.org/drawingml/2006/main">
            <a:off x="7524750" y="3000375"/>
            <a:ext cx="3143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500" b="1">
                <a:solidFill>
                  <a:srgbClr val="0B243D"/>
                </a:solidFill>
              </a:defRPr>
            </a:pPr>
            <a:r>
              <a:rPr sz="1500" b="1">
                <a:solidFill>
                  <a:srgbClr val="0B243D"/>
                </a:solidFill>
              </a:rPr>
              <a:t>Erected and inspected under competent-person control</a:t>
            </a:r>
          </a:p>
        </p:txBody>
      </p:sp>
      <p:sp>
        <p:nvSpPr>
          <p:cNvPr id="17" name="">
            <a:extLst xmlns:a="http://schemas.openxmlformats.org/drawingml/2006/main">
              <a:ext uri="{FF2B5EF4-FFF2-40B4-BE49-F238E27FC236}">
                <a16:creationId xmlns:a16="http://schemas.microsoft.com/office/drawing/2014/main" id="{B321F8AC-D0D7-46D3-B11E-80DCC80AA78A}"/>
              </a:ext>
            </a:extLst>
          </p:cNvPr>
          <p:cNvSpPr>
            <a:spLocks xmlns:a="http://schemas.openxmlformats.org/drawingml/2006/main" noGrp="1"/>
          </p:cNvSpPr>
          <p:nvPr/>
        </p:nvSpPr>
        <p:spPr>
          <a:xfrm xmlns:a="http://schemas.openxmlformats.org/drawingml/2006/main">
            <a:off x="7200900" y="3467100"/>
            <a:ext cx="171450" cy="171450"/>
          </a:xfrm>
          <a:prstGeom xmlns:a="http://schemas.openxmlformats.org/drawingml/2006/main" prst="rect">
            <a:avLst/>
          </a:prstGeom>
          <a:solidFill xmlns:a="http://schemas.openxmlformats.org/drawingml/2006/main">
            <a:srgbClr val="66C43A"/>
          </a:solidFill>
          <a:ln xmlns:a="http://schemas.openxmlformats.org/drawingml/2006/main" w="0">
            <a:noFill/>
            <a:prstDash val="solid"/>
          </a:ln>
        </p:spPr>
      </p:sp>
      <p:sp>
        <p:nvSpPr>
          <p:cNvPr id="18" name="">
            <a:extLst xmlns:a="http://schemas.openxmlformats.org/drawingml/2006/main">
              <a:ext uri="{FF2B5EF4-FFF2-40B4-BE49-F238E27FC236}">
                <a16:creationId xmlns:a16="http://schemas.microsoft.com/office/drawing/2014/main" id="{C6D39F66-660F-4412-A91C-78F8D30CE782}"/>
              </a:ext>
            </a:extLst>
          </p:cNvPr>
          <p:cNvSpPr>
            <a:spLocks xmlns:a="http://schemas.openxmlformats.org/drawingml/2006/main" noGrp="1"/>
          </p:cNvSpPr>
          <p:nvPr/>
        </p:nvSpPr>
        <p:spPr>
          <a:xfrm xmlns:a="http://schemas.openxmlformats.org/drawingml/2006/main">
            <a:off x="7524750" y="3438525"/>
            <a:ext cx="3143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500" b="1">
                <a:solidFill>
                  <a:srgbClr val="0B243D"/>
                </a:solidFill>
              </a:defRPr>
            </a:pPr>
            <a:r>
              <a:rPr sz="1500" b="1">
                <a:solidFill>
                  <a:srgbClr val="0B243D"/>
                </a:solidFill>
              </a:rPr>
              <a:t>Daily inspection must be documented</a:t>
            </a:r>
          </a:p>
        </p:txBody>
      </p:sp>
      <p:sp>
        <p:nvSpPr>
          <p:cNvPr id="19" name="">
            <a:extLst xmlns:a="http://schemas.openxmlformats.org/drawingml/2006/main">
              <a:ext uri="{FF2B5EF4-FFF2-40B4-BE49-F238E27FC236}">
                <a16:creationId xmlns:a16="http://schemas.microsoft.com/office/drawing/2014/main" id="{42953087-B3EA-41AF-A01E-C47CCD493731}"/>
              </a:ext>
            </a:extLst>
          </p:cNvPr>
          <p:cNvSpPr>
            <a:spLocks xmlns:a="http://schemas.openxmlformats.org/drawingml/2006/main" noGrp="1"/>
          </p:cNvSpPr>
          <p:nvPr/>
        </p:nvSpPr>
        <p:spPr>
          <a:xfrm xmlns:a="http://schemas.openxmlformats.org/drawingml/2006/main">
            <a:off x="7200900" y="3905250"/>
            <a:ext cx="171450" cy="171450"/>
          </a:xfrm>
          <a:prstGeom xmlns:a="http://schemas.openxmlformats.org/drawingml/2006/main" prst="rect">
            <a:avLst/>
          </a:prstGeom>
          <a:solidFill xmlns:a="http://schemas.openxmlformats.org/drawingml/2006/main">
            <a:srgbClr val="66C43A"/>
          </a:solidFill>
          <a:ln xmlns:a="http://schemas.openxmlformats.org/drawingml/2006/main" w="0">
            <a:noFill/>
            <a:prstDash val="solid"/>
          </a:ln>
        </p:spPr>
      </p:sp>
      <p:sp>
        <p:nvSpPr>
          <p:cNvPr id="20" name="">
            <a:extLst xmlns:a="http://schemas.openxmlformats.org/drawingml/2006/main">
              <a:ext uri="{FF2B5EF4-FFF2-40B4-BE49-F238E27FC236}">
                <a16:creationId xmlns:a16="http://schemas.microsoft.com/office/drawing/2014/main" id="{17F5357D-E4C5-4423-A335-DB4130F8576B}"/>
              </a:ext>
            </a:extLst>
          </p:cNvPr>
          <p:cNvSpPr>
            <a:spLocks xmlns:a="http://schemas.openxmlformats.org/drawingml/2006/main" noGrp="1"/>
          </p:cNvSpPr>
          <p:nvPr/>
        </p:nvSpPr>
        <p:spPr>
          <a:xfrm xmlns:a="http://schemas.openxmlformats.org/drawingml/2006/main">
            <a:off x="7524750" y="3876675"/>
            <a:ext cx="3143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500" b="1">
                <a:solidFill>
                  <a:srgbClr val="0B243D"/>
                </a:solidFill>
              </a:defRPr>
            </a:pPr>
            <a:r>
              <a:rPr sz="1500" b="1">
                <a:solidFill>
                  <a:srgbClr val="0B243D"/>
                </a:solidFill>
              </a:rPr>
              <a:t>Never stand, sit, or rest on guardrails</a:t>
            </a:r>
          </a:p>
        </p:txBody>
      </p:sp>
      <p:sp>
        <p:nvSpPr>
          <p:cNvPr id="21" name="">
            <a:extLst xmlns:a="http://schemas.openxmlformats.org/drawingml/2006/main">
              <a:ext uri="{FF2B5EF4-FFF2-40B4-BE49-F238E27FC236}">
                <a16:creationId xmlns:a16="http://schemas.microsoft.com/office/drawing/2014/main" id="{5D703464-1608-438F-9175-08D0DE865EC0}"/>
              </a:ext>
            </a:extLst>
          </p:cNvPr>
          <p:cNvSpPr>
            <a:spLocks xmlns:a="http://schemas.openxmlformats.org/drawingml/2006/main" noGrp="1"/>
          </p:cNvSpPr>
          <p:nvPr/>
        </p:nvSpPr>
        <p:spPr>
          <a:xfrm xmlns:a="http://schemas.openxmlformats.org/drawingml/2006/main">
            <a:off x="7200900" y="5219700"/>
            <a:ext cx="1714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975" b="1">
                <a:solidFill>
                  <a:srgbClr val="5E6B7A"/>
                </a:solidFill>
              </a:defRPr>
            </a:pPr>
            <a:r>
              <a:rPr sz="975" b="1">
                <a:solidFill>
                  <a:srgbClr val="5E6B7A"/>
                </a:solidFill>
              </a:rPr>
              <a:t>Scene 18</a:t>
            </a:r>
          </a:p>
        </p:txBody>
      </p:sp>
      <p:sp>
        <p:nvSpPr>
          <p:cNvPr id="22" name="">
            <a:extLst xmlns:a="http://schemas.openxmlformats.org/drawingml/2006/main">
              <a:ext uri="{FF2B5EF4-FFF2-40B4-BE49-F238E27FC236}">
                <a16:creationId xmlns:a16="http://schemas.microsoft.com/office/drawing/2014/main" id="{7D35E579-A62B-4D5E-9731-6A1A540DBC60}"/>
              </a:ext>
            </a:extLst>
          </p:cNvPr>
          <p:cNvSpPr>
            <a:spLocks xmlns:a="http://schemas.openxmlformats.org/drawingml/2006/main" noGrp="1"/>
          </p:cNvSpPr>
          <p:nvPr/>
        </p:nvSpPr>
        <p:spPr>
          <a:xfrm xmlns:a="http://schemas.openxmlformats.org/drawingml/2006/main">
            <a:off x="0" y="6515100"/>
            <a:ext cx="12192000" cy="342900"/>
          </a:xfrm>
          <a:prstGeom xmlns:a="http://schemas.openxmlformats.org/drawingml/2006/main" prst="rect">
            <a:avLst/>
          </a:prstGeom>
          <a:solidFill xmlns:a="http://schemas.openxmlformats.org/drawingml/2006/main">
            <a:srgbClr val="0B243D"/>
          </a:solidFill>
          <a:ln xmlns:a="http://schemas.openxmlformats.org/drawingml/2006/main" w="0">
            <a:noFill/>
            <a:prstDash val="solid"/>
          </a:ln>
        </p:spPr>
      </p:sp>
      <p:sp>
        <p:nvSpPr>
          <p:cNvPr id="23" name="">
            <a:extLst xmlns:a="http://schemas.openxmlformats.org/drawingml/2006/main">
              <a:ext uri="{FF2B5EF4-FFF2-40B4-BE49-F238E27FC236}">
                <a16:creationId xmlns:a16="http://schemas.microsoft.com/office/drawing/2014/main" id="{EDAB08D2-7760-4B52-88EC-BFA09F4178C7}"/>
              </a:ext>
            </a:extLst>
          </p:cNvPr>
          <p:cNvSpPr>
            <a:spLocks xmlns:a="http://schemas.openxmlformats.org/drawingml/2006/main" noGrp="1"/>
          </p:cNvSpPr>
          <p:nvPr/>
        </p:nvSpPr>
        <p:spPr>
          <a:xfrm xmlns:a="http://schemas.openxmlformats.org/drawingml/2006/main">
            <a:off x="533400" y="6600825"/>
            <a:ext cx="3429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975" b="1">
                <a:solidFill>
                  <a:srgbClr val="FFFFFF"/>
                </a:solidFill>
              </a:defRPr>
            </a:pPr>
            <a:r>
              <a:rPr sz="975" b="1">
                <a:solidFill>
                  <a:srgbClr val="FFFFFF"/>
                </a:solidFill>
              </a:rPr>
              <a:t>PAL Environmental Services</a:t>
            </a:r>
          </a:p>
        </p:txBody>
      </p:sp>
      <p:sp>
        <p:nvSpPr>
          <p:cNvPr id="24" name="">
            <a:extLst xmlns:a="http://schemas.openxmlformats.org/drawingml/2006/main">
              <a:ext uri="{FF2B5EF4-FFF2-40B4-BE49-F238E27FC236}">
                <a16:creationId xmlns:a16="http://schemas.microsoft.com/office/drawing/2014/main" id="{4E9565EA-D756-4A61-B328-D8C07AA43252}"/>
              </a:ext>
            </a:extLst>
          </p:cNvPr>
          <p:cNvSpPr>
            <a:spLocks xmlns:a="http://schemas.openxmlformats.org/drawingml/2006/main" noGrp="1"/>
          </p:cNvSpPr>
          <p:nvPr/>
        </p:nvSpPr>
        <p:spPr>
          <a:xfrm xmlns:a="http://schemas.openxmlformats.org/drawingml/2006/main">
            <a:off x="9620250" y="6600825"/>
            <a:ext cx="2095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900">
                <a:solidFill>
                  <a:srgbClr val="DDEAF5"/>
                </a:solidFill>
              </a:defRPr>
            </a:pPr>
            <a:r>
              <a:rPr sz="900">
                <a:solidFill>
                  <a:srgbClr val="DDEAF5"/>
                </a:solidFill>
              </a:rPr>
              <a:t>Employee Orientation  |  18</a:t>
            </a:r>
          </a:p>
        </p:txBody>
      </p:sp>
    </p:spTree>
    <p:extLst>
      <p:ext uri="{BB962C8B-B14F-4D97-AF65-F5344CB8AC3E}">
        <p14:creationId xmlns:p14="http://schemas.microsoft.com/office/powerpoint/2010/main" val="1910550447"/>
      </p:ext>
    </p:extLst>
  </p:cSld>
</p:sld>
</file>

<file path=ppt/slides/slide1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0E809ECB-40B4-42B7-B3FF-9681923799C4}"/>
              </a:ext>
            </a:extLst>
          </p:cNvPr>
          <p:cNvSpPr>
            <a:spLocks xmlns:a="http://schemas.openxmlformats.org/drawingml/2006/main" noGrp="1"/>
          </p:cNvSpPr>
          <p:nvPr/>
        </p:nvSpPr>
        <p:spPr>
          <a:xfrm xmlns:a="http://schemas.openxmlformats.org/drawingml/2006/main">
            <a:off x="0" y="0"/>
            <a:ext cx="12192000" cy="266700"/>
          </a:xfrm>
          <a:prstGeom xmlns:a="http://schemas.openxmlformats.org/drawingml/2006/main" prst="rect">
            <a:avLst/>
          </a:prstGeom>
          <a:solidFill xmlns:a="http://schemas.openxmlformats.org/drawingml/2006/main">
            <a:srgbClr val="0B243D"/>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81653CF2-363D-4323-B7EC-E0AEEBDEF5DA}"/>
              </a:ext>
            </a:extLst>
          </p:cNvPr>
          <p:cNvSpPr>
            <a:spLocks xmlns:a="http://schemas.openxmlformats.org/drawingml/2006/main" noGrp="1"/>
          </p:cNvSpPr>
          <p:nvPr/>
        </p:nvSpPr>
        <p:spPr>
          <a:xfrm xmlns:a="http://schemas.openxmlformats.org/drawingml/2006/main">
            <a:off x="0" y="266700"/>
            <a:ext cx="171450" cy="6248400"/>
          </a:xfrm>
          <a:prstGeom xmlns:a="http://schemas.openxmlformats.org/drawingml/2006/main" prst="rect">
            <a:avLst/>
          </a:prstGeom>
          <a:solidFill xmlns:a="http://schemas.openxmlformats.org/drawingml/2006/main">
            <a:srgbClr val="66C43A"/>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4CDB2C4E-F734-4BE2-80DD-AD9D40BC9922}"/>
              </a:ext>
            </a:extLst>
          </p:cNvPr>
          <p:cNvSpPr>
            <a:spLocks xmlns:a="http://schemas.openxmlformats.org/drawingml/2006/main" noGrp="1"/>
          </p:cNvSpPr>
          <p:nvPr/>
        </p:nvSpPr>
        <p:spPr>
          <a:xfrm xmlns:a="http://schemas.openxmlformats.org/drawingml/2006/main">
            <a:off x="533400" y="666750"/>
            <a:ext cx="44767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050" b="1">
                <a:solidFill>
                  <a:srgbClr val="5E6B7A"/>
                </a:solidFill>
              </a:defRPr>
            </a:pPr>
            <a:r>
              <a:rPr sz="1050" b="1">
                <a:solidFill>
                  <a:srgbClr val="5E6B7A"/>
                </a:solidFill>
              </a:rPr>
              <a:t>LIFTS</a:t>
            </a:r>
          </a:p>
        </p:txBody>
      </p:sp>
      <p:sp>
        <p:nvSpPr>
          <p:cNvPr id="4" name="">
            <a:extLst xmlns:a="http://schemas.openxmlformats.org/drawingml/2006/main">
              <a:ext uri="{FF2B5EF4-FFF2-40B4-BE49-F238E27FC236}">
                <a16:creationId xmlns:a16="http://schemas.microsoft.com/office/drawing/2014/main" id="{E1AFAAE6-79E0-42F2-A21C-946EDD2DB41E}"/>
              </a:ext>
            </a:extLst>
          </p:cNvPr>
          <p:cNvSpPr>
            <a:spLocks xmlns:a="http://schemas.openxmlformats.org/drawingml/2006/main" noGrp="1"/>
          </p:cNvSpPr>
          <p:nvPr/>
        </p:nvSpPr>
        <p:spPr>
          <a:xfrm xmlns:a="http://schemas.openxmlformats.org/drawingml/2006/main">
            <a:off x="533400" y="1047750"/>
            <a:ext cx="5524500" cy="1428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3150" b="1">
                <a:solidFill>
                  <a:srgbClr val="0B243D"/>
                </a:solidFill>
              </a:defRPr>
            </a:pPr>
            <a:r>
              <a:rPr sz="3150" b="1">
                <a:solidFill>
                  <a:srgbClr val="0B243D"/>
                </a:solidFill>
              </a:rPr>
              <a:t>Only trained employees may operate lifts.</a:t>
            </a:r>
          </a:p>
        </p:txBody>
      </p:sp>
      <p:sp>
        <p:nvSpPr>
          <p:cNvPr id="5" name="">
            <a:extLst xmlns:a="http://schemas.openxmlformats.org/drawingml/2006/main">
              <a:ext uri="{FF2B5EF4-FFF2-40B4-BE49-F238E27FC236}">
                <a16:creationId xmlns:a16="http://schemas.microsoft.com/office/drawing/2014/main" id="{70F34AE8-CC9E-42D0-B50D-D216F2DE164E}"/>
              </a:ext>
            </a:extLst>
          </p:cNvPr>
          <p:cNvSpPr>
            <a:spLocks xmlns:a="http://schemas.openxmlformats.org/drawingml/2006/main" noGrp="1"/>
          </p:cNvSpPr>
          <p:nvPr/>
        </p:nvSpPr>
        <p:spPr>
          <a:xfrm xmlns:a="http://schemas.openxmlformats.org/drawingml/2006/main">
            <a:off x="609600" y="2990850"/>
            <a:ext cx="114300" cy="114300"/>
          </a:xfrm>
          <a:prstGeom xmlns:a="http://schemas.openxmlformats.org/drawingml/2006/main" prst="rect">
            <a:avLst/>
          </a:prstGeom>
          <a:solidFill xmlns:a="http://schemas.openxmlformats.org/drawingml/2006/main">
            <a:srgbClr val="66C43A"/>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07767462-2EDA-4EFA-B252-AE6EE44FC3F5}"/>
              </a:ext>
            </a:extLst>
          </p:cNvPr>
          <p:cNvSpPr>
            <a:spLocks xmlns:a="http://schemas.openxmlformats.org/drawingml/2006/main" noGrp="1"/>
          </p:cNvSpPr>
          <p:nvPr/>
        </p:nvSpPr>
        <p:spPr>
          <a:xfrm xmlns:a="http://schemas.openxmlformats.org/drawingml/2006/main">
            <a:off x="914400" y="2914650"/>
            <a:ext cx="53340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800" b="1">
                <a:solidFill>
                  <a:srgbClr val="12233A"/>
                </a:solidFill>
              </a:defRPr>
            </a:pPr>
            <a:r>
              <a:rPr sz="1800" b="1">
                <a:solidFill>
                  <a:srgbClr val="12233A"/>
                </a:solidFill>
              </a:rPr>
              <a:t>Conduct and document the pre-use inspection</a:t>
            </a:r>
          </a:p>
        </p:txBody>
      </p:sp>
      <p:sp>
        <p:nvSpPr>
          <p:cNvPr id="7" name="">
            <a:extLst xmlns:a="http://schemas.openxmlformats.org/drawingml/2006/main">
              <a:ext uri="{FF2B5EF4-FFF2-40B4-BE49-F238E27FC236}">
                <a16:creationId xmlns:a16="http://schemas.microsoft.com/office/drawing/2014/main" id="{AF341B65-C889-43C2-B2C8-C33D66BC226C}"/>
              </a:ext>
            </a:extLst>
          </p:cNvPr>
          <p:cNvSpPr>
            <a:spLocks xmlns:a="http://schemas.openxmlformats.org/drawingml/2006/main" noGrp="1"/>
          </p:cNvSpPr>
          <p:nvPr/>
        </p:nvSpPr>
        <p:spPr>
          <a:xfrm xmlns:a="http://schemas.openxmlformats.org/drawingml/2006/main">
            <a:off x="609600" y="3600450"/>
            <a:ext cx="114300" cy="114300"/>
          </a:xfrm>
          <a:prstGeom xmlns:a="http://schemas.openxmlformats.org/drawingml/2006/main" prst="rect">
            <a:avLst/>
          </a:prstGeom>
          <a:solidFill xmlns:a="http://schemas.openxmlformats.org/drawingml/2006/main">
            <a:srgbClr val="66C43A"/>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B24A3D3B-7FFA-4707-9FB1-EB5518C69A60}"/>
              </a:ext>
            </a:extLst>
          </p:cNvPr>
          <p:cNvSpPr>
            <a:spLocks xmlns:a="http://schemas.openxmlformats.org/drawingml/2006/main" noGrp="1"/>
          </p:cNvSpPr>
          <p:nvPr/>
        </p:nvSpPr>
        <p:spPr>
          <a:xfrm xmlns:a="http://schemas.openxmlformats.org/drawingml/2006/main">
            <a:off x="914400" y="3524250"/>
            <a:ext cx="53340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800" b="0">
                <a:solidFill>
                  <a:srgbClr val="12233A"/>
                </a:solidFill>
              </a:defRPr>
            </a:pPr>
            <a:r>
              <a:rPr sz="1800" b="0">
                <a:solidFill>
                  <a:srgbClr val="12233A"/>
                </a:solidFill>
              </a:rPr>
              <a:t>Use approved tie-off points when required</a:t>
            </a:r>
          </a:p>
        </p:txBody>
      </p:sp>
      <p:sp>
        <p:nvSpPr>
          <p:cNvPr id="9" name="">
            <a:extLst xmlns:a="http://schemas.openxmlformats.org/drawingml/2006/main">
              <a:ext uri="{FF2B5EF4-FFF2-40B4-BE49-F238E27FC236}">
                <a16:creationId xmlns:a16="http://schemas.microsoft.com/office/drawing/2014/main" id="{DFD92AB1-A0A5-4DEC-951F-6CE6A40D3362}"/>
              </a:ext>
            </a:extLst>
          </p:cNvPr>
          <p:cNvSpPr>
            <a:spLocks xmlns:a="http://schemas.openxmlformats.org/drawingml/2006/main" noGrp="1"/>
          </p:cNvSpPr>
          <p:nvPr/>
        </p:nvSpPr>
        <p:spPr>
          <a:xfrm xmlns:a="http://schemas.openxmlformats.org/drawingml/2006/main">
            <a:off x="609600" y="4210050"/>
            <a:ext cx="114300" cy="114300"/>
          </a:xfrm>
          <a:prstGeom xmlns:a="http://schemas.openxmlformats.org/drawingml/2006/main" prst="rect">
            <a:avLst/>
          </a:prstGeom>
          <a:solidFill xmlns:a="http://schemas.openxmlformats.org/drawingml/2006/main">
            <a:srgbClr val="66C43A"/>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7856B7F5-B061-436B-A25C-EF4CAC441908}"/>
              </a:ext>
            </a:extLst>
          </p:cNvPr>
          <p:cNvSpPr>
            <a:spLocks xmlns:a="http://schemas.openxmlformats.org/drawingml/2006/main" noGrp="1"/>
          </p:cNvSpPr>
          <p:nvPr/>
        </p:nvSpPr>
        <p:spPr>
          <a:xfrm xmlns:a="http://schemas.openxmlformats.org/drawingml/2006/main">
            <a:off x="914400" y="4133850"/>
            <a:ext cx="53340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800" b="0">
                <a:solidFill>
                  <a:srgbClr val="12233A"/>
                </a:solidFill>
              </a:defRPr>
            </a:pPr>
            <a:r>
              <a:rPr sz="1800" b="0">
                <a:solidFill>
                  <a:srgbClr val="12233A"/>
                </a:solidFill>
              </a:rPr>
              <a:t>Keep both feet on the platform floor</a:t>
            </a:r>
          </a:p>
        </p:txBody>
      </p:sp>
      <p:sp>
        <p:nvSpPr>
          <p:cNvPr id="11" name="">
            <a:extLst xmlns:a="http://schemas.openxmlformats.org/drawingml/2006/main">
              <a:ext uri="{FF2B5EF4-FFF2-40B4-BE49-F238E27FC236}">
                <a16:creationId xmlns:a16="http://schemas.microsoft.com/office/drawing/2014/main" id="{F41B4271-1EF6-4902-812A-B1050AB00A1F}"/>
              </a:ext>
            </a:extLst>
          </p:cNvPr>
          <p:cNvSpPr>
            <a:spLocks xmlns:a="http://schemas.openxmlformats.org/drawingml/2006/main" noGrp="1"/>
          </p:cNvSpPr>
          <p:nvPr/>
        </p:nvSpPr>
        <p:spPr>
          <a:xfrm xmlns:a="http://schemas.openxmlformats.org/drawingml/2006/main">
            <a:off x="6858000" y="704850"/>
            <a:ext cx="4495800" cy="4953000"/>
          </a:xfrm>
          <a:prstGeom xmlns:a="http://schemas.openxmlformats.org/drawingml/2006/main" prst="rect">
            <a:avLst/>
          </a:prstGeom>
          <a:solidFill xmlns:a="http://schemas.openxmlformats.org/drawingml/2006/main">
            <a:srgbClr val="F3F6F8"/>
          </a:solidFill>
          <a:ln xmlns:a="http://schemas.openxmlformats.org/drawingml/2006/main" w="9525">
            <a:solidFill>
              <a:srgbClr val="D8E1EA"/>
            </a:solidFill>
            <a:prstDash val="solid"/>
          </a:ln>
        </p:spPr>
      </p:sp>
      <p:sp>
        <p:nvSpPr>
          <p:cNvPr id="12" name="">
            <a:extLst xmlns:a="http://schemas.openxmlformats.org/drawingml/2006/main">
              <a:ext uri="{FF2B5EF4-FFF2-40B4-BE49-F238E27FC236}">
                <a16:creationId xmlns:a16="http://schemas.microsoft.com/office/drawing/2014/main" id="{B8845302-00DD-449C-8AD2-DC1C891C0101}"/>
              </a:ext>
            </a:extLst>
          </p:cNvPr>
          <p:cNvSpPr>
            <a:spLocks xmlns:a="http://schemas.openxmlformats.org/drawingml/2006/main" noGrp="1"/>
          </p:cNvSpPr>
          <p:nvPr/>
        </p:nvSpPr>
        <p:spPr>
          <a:xfrm xmlns:a="http://schemas.openxmlformats.org/drawingml/2006/main">
            <a:off x="6858000" y="704850"/>
            <a:ext cx="4495800" cy="114300"/>
          </a:xfrm>
          <a:prstGeom xmlns:a="http://schemas.openxmlformats.org/drawingml/2006/main" prst="rect">
            <a:avLst/>
          </a:prstGeom>
          <a:solidFill xmlns:a="http://schemas.openxmlformats.org/drawingml/2006/main">
            <a:srgbClr val="66C43A"/>
          </a:solidFill>
          <a:ln xmlns:a="http://schemas.openxmlformats.org/drawingml/2006/main" w="0">
            <a:noFill/>
            <a:prstDash val="solid"/>
          </a:ln>
        </p:spPr>
      </p:sp>
      <p:sp>
        <p:nvSpPr>
          <p:cNvPr id="13" name="">
            <a:extLst xmlns:a="http://schemas.openxmlformats.org/drawingml/2006/main">
              <a:ext uri="{FF2B5EF4-FFF2-40B4-BE49-F238E27FC236}">
                <a16:creationId xmlns:a16="http://schemas.microsoft.com/office/drawing/2014/main" id="{9C05C3A1-3A07-46A0-8C47-A73C57D0F5F2}"/>
              </a:ext>
            </a:extLst>
          </p:cNvPr>
          <p:cNvSpPr>
            <a:spLocks xmlns:a="http://schemas.openxmlformats.org/drawingml/2006/main" noGrp="1"/>
          </p:cNvSpPr>
          <p:nvPr/>
        </p:nvSpPr>
        <p:spPr>
          <a:xfrm xmlns:a="http://schemas.openxmlformats.org/drawingml/2006/main">
            <a:off x="7200900" y="1123950"/>
            <a:ext cx="1714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050" b="1">
                <a:solidFill>
                  <a:srgbClr val="5E6B7A"/>
                </a:solidFill>
              </a:defRPr>
            </a:pPr>
            <a:r>
              <a:rPr sz="1050" b="1">
                <a:solidFill>
                  <a:srgbClr val="5E6B7A"/>
                </a:solidFill>
              </a:rPr>
              <a:t>VIDEO VISUAL</a:t>
            </a:r>
          </a:p>
        </p:txBody>
      </p:sp>
      <p:sp>
        <p:nvSpPr>
          <p:cNvPr id="14" name="">
            <a:extLst xmlns:a="http://schemas.openxmlformats.org/drawingml/2006/main">
              <a:ext uri="{FF2B5EF4-FFF2-40B4-BE49-F238E27FC236}">
                <a16:creationId xmlns:a16="http://schemas.microsoft.com/office/drawing/2014/main" id="{25C1C191-DE8A-4D31-A76E-E8ECBC026E57}"/>
              </a:ext>
            </a:extLst>
          </p:cNvPr>
          <p:cNvSpPr>
            <a:spLocks xmlns:a="http://schemas.openxmlformats.org/drawingml/2006/main" noGrp="1"/>
          </p:cNvSpPr>
          <p:nvPr/>
        </p:nvSpPr>
        <p:spPr>
          <a:xfrm xmlns:a="http://schemas.openxmlformats.org/drawingml/2006/main">
            <a:off x="7200900" y="1543050"/>
            <a:ext cx="3810000" cy="1047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800" b="1">
                <a:solidFill>
                  <a:srgbClr val="12233A"/>
                </a:solidFill>
              </a:defRPr>
            </a:pPr>
            <a:r>
              <a:rPr sz="1800" b="1">
                <a:solidFill>
                  <a:srgbClr val="12233A"/>
                </a:solidFill>
              </a:rPr>
              <a:t>Scissor lift inspection and worker tied off to designated point.</a:t>
            </a:r>
          </a:p>
        </p:txBody>
      </p:sp>
      <p:sp>
        <p:nvSpPr>
          <p:cNvPr id="15" name="">
            <a:extLst xmlns:a="http://schemas.openxmlformats.org/drawingml/2006/main">
              <a:ext uri="{FF2B5EF4-FFF2-40B4-BE49-F238E27FC236}">
                <a16:creationId xmlns:a16="http://schemas.microsoft.com/office/drawing/2014/main" id="{FC1B72D3-49A4-405F-ADB3-E769FBB4B38A}"/>
              </a:ext>
            </a:extLst>
          </p:cNvPr>
          <p:cNvSpPr>
            <a:spLocks xmlns:a="http://schemas.openxmlformats.org/drawingml/2006/main" noGrp="1"/>
          </p:cNvSpPr>
          <p:nvPr/>
        </p:nvSpPr>
        <p:spPr>
          <a:xfrm xmlns:a="http://schemas.openxmlformats.org/drawingml/2006/main">
            <a:off x="7200900" y="3028950"/>
            <a:ext cx="171450" cy="171450"/>
          </a:xfrm>
          <a:prstGeom xmlns:a="http://schemas.openxmlformats.org/drawingml/2006/main" prst="rect">
            <a:avLst/>
          </a:prstGeom>
          <a:solidFill xmlns:a="http://schemas.openxmlformats.org/drawingml/2006/main">
            <a:srgbClr val="66C43A"/>
          </a:solidFill>
          <a:ln xmlns:a="http://schemas.openxmlformats.org/drawingml/2006/main" w="0">
            <a:noFill/>
            <a:prstDash val="solid"/>
          </a:ln>
        </p:spPr>
      </p:sp>
      <p:sp>
        <p:nvSpPr>
          <p:cNvPr id="16" name="">
            <a:extLst xmlns:a="http://schemas.openxmlformats.org/drawingml/2006/main">
              <a:ext uri="{FF2B5EF4-FFF2-40B4-BE49-F238E27FC236}">
                <a16:creationId xmlns:a16="http://schemas.microsoft.com/office/drawing/2014/main" id="{C62FDF79-E915-488A-8DA1-4CF78A90759F}"/>
              </a:ext>
            </a:extLst>
          </p:cNvPr>
          <p:cNvSpPr>
            <a:spLocks xmlns:a="http://schemas.openxmlformats.org/drawingml/2006/main" noGrp="1"/>
          </p:cNvSpPr>
          <p:nvPr/>
        </p:nvSpPr>
        <p:spPr>
          <a:xfrm xmlns:a="http://schemas.openxmlformats.org/drawingml/2006/main">
            <a:off x="7524750" y="3000375"/>
            <a:ext cx="3143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500" b="1">
                <a:solidFill>
                  <a:srgbClr val="0B243D"/>
                </a:solidFill>
              </a:defRPr>
            </a:pPr>
            <a:r>
              <a:rPr sz="1500" b="1">
                <a:solidFill>
                  <a:srgbClr val="0B243D"/>
                </a:solidFill>
              </a:rPr>
              <a:t>Conduct and document the pre-use inspection</a:t>
            </a:r>
          </a:p>
        </p:txBody>
      </p:sp>
      <p:sp>
        <p:nvSpPr>
          <p:cNvPr id="17" name="">
            <a:extLst xmlns:a="http://schemas.openxmlformats.org/drawingml/2006/main">
              <a:ext uri="{FF2B5EF4-FFF2-40B4-BE49-F238E27FC236}">
                <a16:creationId xmlns:a16="http://schemas.microsoft.com/office/drawing/2014/main" id="{06B0CFDD-D61B-4F19-B082-72C980A5570C}"/>
              </a:ext>
            </a:extLst>
          </p:cNvPr>
          <p:cNvSpPr>
            <a:spLocks xmlns:a="http://schemas.openxmlformats.org/drawingml/2006/main" noGrp="1"/>
          </p:cNvSpPr>
          <p:nvPr/>
        </p:nvSpPr>
        <p:spPr>
          <a:xfrm xmlns:a="http://schemas.openxmlformats.org/drawingml/2006/main">
            <a:off x="7200900" y="3467100"/>
            <a:ext cx="171450" cy="171450"/>
          </a:xfrm>
          <a:prstGeom xmlns:a="http://schemas.openxmlformats.org/drawingml/2006/main" prst="rect">
            <a:avLst/>
          </a:prstGeom>
          <a:solidFill xmlns:a="http://schemas.openxmlformats.org/drawingml/2006/main">
            <a:srgbClr val="66C43A"/>
          </a:solidFill>
          <a:ln xmlns:a="http://schemas.openxmlformats.org/drawingml/2006/main" w="0">
            <a:noFill/>
            <a:prstDash val="solid"/>
          </a:ln>
        </p:spPr>
      </p:sp>
      <p:sp>
        <p:nvSpPr>
          <p:cNvPr id="18" name="">
            <a:extLst xmlns:a="http://schemas.openxmlformats.org/drawingml/2006/main">
              <a:ext uri="{FF2B5EF4-FFF2-40B4-BE49-F238E27FC236}">
                <a16:creationId xmlns:a16="http://schemas.microsoft.com/office/drawing/2014/main" id="{3E7EC98E-D007-4E57-B616-79C20DAFC344}"/>
              </a:ext>
            </a:extLst>
          </p:cNvPr>
          <p:cNvSpPr>
            <a:spLocks xmlns:a="http://schemas.openxmlformats.org/drawingml/2006/main" noGrp="1"/>
          </p:cNvSpPr>
          <p:nvPr/>
        </p:nvSpPr>
        <p:spPr>
          <a:xfrm xmlns:a="http://schemas.openxmlformats.org/drawingml/2006/main">
            <a:off x="7524750" y="3438525"/>
            <a:ext cx="3143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500" b="1">
                <a:solidFill>
                  <a:srgbClr val="0B243D"/>
                </a:solidFill>
              </a:defRPr>
            </a:pPr>
            <a:r>
              <a:rPr sz="1500" b="1">
                <a:solidFill>
                  <a:srgbClr val="0B243D"/>
                </a:solidFill>
              </a:rPr>
              <a:t>Use approved tie-off points when required</a:t>
            </a:r>
          </a:p>
        </p:txBody>
      </p:sp>
      <p:sp>
        <p:nvSpPr>
          <p:cNvPr id="19" name="">
            <a:extLst xmlns:a="http://schemas.openxmlformats.org/drawingml/2006/main">
              <a:ext uri="{FF2B5EF4-FFF2-40B4-BE49-F238E27FC236}">
                <a16:creationId xmlns:a16="http://schemas.microsoft.com/office/drawing/2014/main" id="{BDE5BE32-0A19-4715-B7EC-ADEA6A181C0F}"/>
              </a:ext>
            </a:extLst>
          </p:cNvPr>
          <p:cNvSpPr>
            <a:spLocks xmlns:a="http://schemas.openxmlformats.org/drawingml/2006/main" noGrp="1"/>
          </p:cNvSpPr>
          <p:nvPr/>
        </p:nvSpPr>
        <p:spPr>
          <a:xfrm xmlns:a="http://schemas.openxmlformats.org/drawingml/2006/main">
            <a:off x="7200900" y="3905250"/>
            <a:ext cx="171450" cy="171450"/>
          </a:xfrm>
          <a:prstGeom xmlns:a="http://schemas.openxmlformats.org/drawingml/2006/main" prst="rect">
            <a:avLst/>
          </a:prstGeom>
          <a:solidFill xmlns:a="http://schemas.openxmlformats.org/drawingml/2006/main">
            <a:srgbClr val="66C43A"/>
          </a:solidFill>
          <a:ln xmlns:a="http://schemas.openxmlformats.org/drawingml/2006/main" w="0">
            <a:noFill/>
            <a:prstDash val="solid"/>
          </a:ln>
        </p:spPr>
      </p:sp>
      <p:sp>
        <p:nvSpPr>
          <p:cNvPr id="20" name="">
            <a:extLst xmlns:a="http://schemas.openxmlformats.org/drawingml/2006/main">
              <a:ext uri="{FF2B5EF4-FFF2-40B4-BE49-F238E27FC236}">
                <a16:creationId xmlns:a16="http://schemas.microsoft.com/office/drawing/2014/main" id="{D2FB709F-EDD8-4D05-AA83-6C8A05997DB7}"/>
              </a:ext>
            </a:extLst>
          </p:cNvPr>
          <p:cNvSpPr>
            <a:spLocks xmlns:a="http://schemas.openxmlformats.org/drawingml/2006/main" noGrp="1"/>
          </p:cNvSpPr>
          <p:nvPr/>
        </p:nvSpPr>
        <p:spPr>
          <a:xfrm xmlns:a="http://schemas.openxmlformats.org/drawingml/2006/main">
            <a:off x="7524750" y="3876675"/>
            <a:ext cx="3143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500" b="1">
                <a:solidFill>
                  <a:srgbClr val="0B243D"/>
                </a:solidFill>
              </a:defRPr>
            </a:pPr>
            <a:r>
              <a:rPr sz="1500" b="1">
                <a:solidFill>
                  <a:srgbClr val="0B243D"/>
                </a:solidFill>
              </a:rPr>
              <a:t>Keep both feet on the platform floor</a:t>
            </a:r>
          </a:p>
        </p:txBody>
      </p:sp>
      <p:sp>
        <p:nvSpPr>
          <p:cNvPr id="21" name="">
            <a:extLst xmlns:a="http://schemas.openxmlformats.org/drawingml/2006/main">
              <a:ext uri="{FF2B5EF4-FFF2-40B4-BE49-F238E27FC236}">
                <a16:creationId xmlns:a16="http://schemas.microsoft.com/office/drawing/2014/main" id="{362FC8C3-1147-4E80-9AB6-6E5A01B9EB2B}"/>
              </a:ext>
            </a:extLst>
          </p:cNvPr>
          <p:cNvSpPr>
            <a:spLocks xmlns:a="http://schemas.openxmlformats.org/drawingml/2006/main" noGrp="1"/>
          </p:cNvSpPr>
          <p:nvPr/>
        </p:nvSpPr>
        <p:spPr>
          <a:xfrm xmlns:a="http://schemas.openxmlformats.org/drawingml/2006/main">
            <a:off x="7200900" y="5219700"/>
            <a:ext cx="1714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975" b="1">
                <a:solidFill>
                  <a:srgbClr val="5E6B7A"/>
                </a:solidFill>
              </a:defRPr>
            </a:pPr>
            <a:r>
              <a:rPr sz="975" b="1">
                <a:solidFill>
                  <a:srgbClr val="5E6B7A"/>
                </a:solidFill>
              </a:rPr>
              <a:t>Scene 19</a:t>
            </a:r>
          </a:p>
        </p:txBody>
      </p:sp>
      <p:sp>
        <p:nvSpPr>
          <p:cNvPr id="22" name="">
            <a:extLst xmlns:a="http://schemas.openxmlformats.org/drawingml/2006/main">
              <a:ext uri="{FF2B5EF4-FFF2-40B4-BE49-F238E27FC236}">
                <a16:creationId xmlns:a16="http://schemas.microsoft.com/office/drawing/2014/main" id="{16F971FC-7FFA-4FAB-AB01-99DDF4BA8468}"/>
              </a:ext>
            </a:extLst>
          </p:cNvPr>
          <p:cNvSpPr>
            <a:spLocks xmlns:a="http://schemas.openxmlformats.org/drawingml/2006/main" noGrp="1"/>
          </p:cNvSpPr>
          <p:nvPr/>
        </p:nvSpPr>
        <p:spPr>
          <a:xfrm xmlns:a="http://schemas.openxmlformats.org/drawingml/2006/main">
            <a:off x="0" y="6515100"/>
            <a:ext cx="12192000" cy="342900"/>
          </a:xfrm>
          <a:prstGeom xmlns:a="http://schemas.openxmlformats.org/drawingml/2006/main" prst="rect">
            <a:avLst/>
          </a:prstGeom>
          <a:solidFill xmlns:a="http://schemas.openxmlformats.org/drawingml/2006/main">
            <a:srgbClr val="0B243D"/>
          </a:solidFill>
          <a:ln xmlns:a="http://schemas.openxmlformats.org/drawingml/2006/main" w="0">
            <a:noFill/>
            <a:prstDash val="solid"/>
          </a:ln>
        </p:spPr>
      </p:sp>
      <p:sp>
        <p:nvSpPr>
          <p:cNvPr id="23" name="">
            <a:extLst xmlns:a="http://schemas.openxmlformats.org/drawingml/2006/main">
              <a:ext uri="{FF2B5EF4-FFF2-40B4-BE49-F238E27FC236}">
                <a16:creationId xmlns:a16="http://schemas.microsoft.com/office/drawing/2014/main" id="{44F340F1-9A93-4D87-A415-9ECBFE781DC9}"/>
              </a:ext>
            </a:extLst>
          </p:cNvPr>
          <p:cNvSpPr>
            <a:spLocks xmlns:a="http://schemas.openxmlformats.org/drawingml/2006/main" noGrp="1"/>
          </p:cNvSpPr>
          <p:nvPr/>
        </p:nvSpPr>
        <p:spPr>
          <a:xfrm xmlns:a="http://schemas.openxmlformats.org/drawingml/2006/main">
            <a:off x="533400" y="6600825"/>
            <a:ext cx="3429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975" b="1">
                <a:solidFill>
                  <a:srgbClr val="FFFFFF"/>
                </a:solidFill>
              </a:defRPr>
            </a:pPr>
            <a:r>
              <a:rPr sz="975" b="1">
                <a:solidFill>
                  <a:srgbClr val="FFFFFF"/>
                </a:solidFill>
              </a:rPr>
              <a:t>PAL Environmental Services</a:t>
            </a:r>
          </a:p>
        </p:txBody>
      </p:sp>
      <p:sp>
        <p:nvSpPr>
          <p:cNvPr id="24" name="">
            <a:extLst xmlns:a="http://schemas.openxmlformats.org/drawingml/2006/main">
              <a:ext uri="{FF2B5EF4-FFF2-40B4-BE49-F238E27FC236}">
                <a16:creationId xmlns:a16="http://schemas.microsoft.com/office/drawing/2014/main" id="{8BBEF8CF-9585-45EF-9BFC-C1A1669D3A19}"/>
              </a:ext>
            </a:extLst>
          </p:cNvPr>
          <p:cNvSpPr>
            <a:spLocks xmlns:a="http://schemas.openxmlformats.org/drawingml/2006/main" noGrp="1"/>
          </p:cNvSpPr>
          <p:nvPr/>
        </p:nvSpPr>
        <p:spPr>
          <a:xfrm xmlns:a="http://schemas.openxmlformats.org/drawingml/2006/main">
            <a:off x="9620250" y="6600825"/>
            <a:ext cx="2095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900">
                <a:solidFill>
                  <a:srgbClr val="DDEAF5"/>
                </a:solidFill>
              </a:defRPr>
            </a:pPr>
            <a:r>
              <a:rPr sz="900">
                <a:solidFill>
                  <a:srgbClr val="DDEAF5"/>
                </a:solidFill>
              </a:rPr>
              <a:t>Employee Orientation  |  19</a:t>
            </a:r>
          </a:p>
        </p:txBody>
      </p:sp>
    </p:spTree>
    <p:extLst>
      <p:ext uri="{BB962C8B-B14F-4D97-AF65-F5344CB8AC3E}">
        <p14:creationId xmlns:p14="http://schemas.microsoft.com/office/powerpoint/2010/main" val="1384254383"/>
      </p:ext>
    </p:extLst>
  </p:cSld>
</p:sld>
</file>

<file path=ppt/slides/slide2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446A4159-494F-471D-BE7E-6FE57900718A}"/>
              </a:ext>
            </a:extLst>
          </p:cNvPr>
          <p:cNvSpPr>
            <a:spLocks xmlns:a="http://schemas.openxmlformats.org/drawingml/2006/main" noGrp="1"/>
          </p:cNvSpPr>
          <p:nvPr/>
        </p:nvSpPr>
        <p:spPr>
          <a:xfrm xmlns:a="http://schemas.openxmlformats.org/drawingml/2006/main">
            <a:off x="0" y="0"/>
            <a:ext cx="12192000" cy="266700"/>
          </a:xfrm>
          <a:prstGeom xmlns:a="http://schemas.openxmlformats.org/drawingml/2006/main" prst="rect">
            <a:avLst/>
          </a:prstGeom>
          <a:solidFill xmlns:a="http://schemas.openxmlformats.org/drawingml/2006/main">
            <a:srgbClr val="0B243D"/>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48387E5F-B52F-4C6D-8E4B-60709381C37C}"/>
              </a:ext>
            </a:extLst>
          </p:cNvPr>
          <p:cNvSpPr>
            <a:spLocks xmlns:a="http://schemas.openxmlformats.org/drawingml/2006/main" noGrp="1"/>
          </p:cNvSpPr>
          <p:nvPr/>
        </p:nvSpPr>
        <p:spPr>
          <a:xfrm xmlns:a="http://schemas.openxmlformats.org/drawingml/2006/main">
            <a:off x="0" y="266700"/>
            <a:ext cx="171450" cy="6248400"/>
          </a:xfrm>
          <a:prstGeom xmlns:a="http://schemas.openxmlformats.org/drawingml/2006/main" prst="rect">
            <a:avLst/>
          </a:prstGeom>
          <a:solidFill xmlns:a="http://schemas.openxmlformats.org/drawingml/2006/main">
            <a:srgbClr val="66C43A"/>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22750538-2C4E-41BC-BD18-570B7E042D6A}"/>
              </a:ext>
            </a:extLst>
          </p:cNvPr>
          <p:cNvSpPr>
            <a:spLocks xmlns:a="http://schemas.openxmlformats.org/drawingml/2006/main" noGrp="1"/>
          </p:cNvSpPr>
          <p:nvPr/>
        </p:nvSpPr>
        <p:spPr>
          <a:xfrm xmlns:a="http://schemas.openxmlformats.org/drawingml/2006/main">
            <a:off x="533400" y="666750"/>
            <a:ext cx="44767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050" b="1">
                <a:solidFill>
                  <a:srgbClr val="5E6B7A"/>
                </a:solidFill>
              </a:defRPr>
            </a:pPr>
            <a:r>
              <a:rPr sz="1050" b="1">
                <a:solidFill>
                  <a:srgbClr val="5E6B7A"/>
                </a:solidFill>
              </a:rPr>
              <a:t>HEAVY EQUIPMENT</a:t>
            </a:r>
          </a:p>
        </p:txBody>
      </p:sp>
      <p:sp>
        <p:nvSpPr>
          <p:cNvPr id="4" name="">
            <a:extLst xmlns:a="http://schemas.openxmlformats.org/drawingml/2006/main">
              <a:ext uri="{FF2B5EF4-FFF2-40B4-BE49-F238E27FC236}">
                <a16:creationId xmlns:a16="http://schemas.microsoft.com/office/drawing/2014/main" id="{C92322DA-140A-4542-B116-9F7E2ECB5DF0}"/>
              </a:ext>
            </a:extLst>
          </p:cNvPr>
          <p:cNvSpPr>
            <a:spLocks xmlns:a="http://schemas.openxmlformats.org/drawingml/2006/main" noGrp="1"/>
          </p:cNvSpPr>
          <p:nvPr/>
        </p:nvSpPr>
        <p:spPr>
          <a:xfrm xmlns:a="http://schemas.openxmlformats.org/drawingml/2006/main">
            <a:off x="533400" y="1047750"/>
            <a:ext cx="5524500" cy="1428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3150" b="1">
                <a:solidFill>
                  <a:srgbClr val="0B243D"/>
                </a:solidFill>
              </a:defRPr>
            </a:pPr>
            <a:r>
              <a:rPr sz="3150" b="1">
                <a:solidFill>
                  <a:srgbClr val="0B243D"/>
                </a:solidFill>
              </a:rPr>
              <a:t>Stay visible and out of the equipment path.</a:t>
            </a:r>
          </a:p>
        </p:txBody>
      </p:sp>
      <p:sp>
        <p:nvSpPr>
          <p:cNvPr id="5" name="">
            <a:extLst xmlns:a="http://schemas.openxmlformats.org/drawingml/2006/main">
              <a:ext uri="{FF2B5EF4-FFF2-40B4-BE49-F238E27FC236}">
                <a16:creationId xmlns:a16="http://schemas.microsoft.com/office/drawing/2014/main" id="{BD2A9734-58EF-4E70-A295-F1D5B4C6F438}"/>
              </a:ext>
            </a:extLst>
          </p:cNvPr>
          <p:cNvSpPr>
            <a:spLocks xmlns:a="http://schemas.openxmlformats.org/drawingml/2006/main" noGrp="1"/>
          </p:cNvSpPr>
          <p:nvPr/>
        </p:nvSpPr>
        <p:spPr>
          <a:xfrm xmlns:a="http://schemas.openxmlformats.org/drawingml/2006/main">
            <a:off x="609600" y="2990850"/>
            <a:ext cx="114300" cy="114300"/>
          </a:xfrm>
          <a:prstGeom xmlns:a="http://schemas.openxmlformats.org/drawingml/2006/main" prst="rect">
            <a:avLst/>
          </a:prstGeom>
          <a:solidFill xmlns:a="http://schemas.openxmlformats.org/drawingml/2006/main">
            <a:srgbClr val="66C43A"/>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D44FD4E5-1460-4C38-85CF-E9CA06DC7314}"/>
              </a:ext>
            </a:extLst>
          </p:cNvPr>
          <p:cNvSpPr>
            <a:spLocks xmlns:a="http://schemas.openxmlformats.org/drawingml/2006/main" noGrp="1"/>
          </p:cNvSpPr>
          <p:nvPr/>
        </p:nvSpPr>
        <p:spPr>
          <a:xfrm xmlns:a="http://schemas.openxmlformats.org/drawingml/2006/main">
            <a:off x="914400" y="2914650"/>
            <a:ext cx="53340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800" b="1">
                <a:solidFill>
                  <a:srgbClr val="12233A"/>
                </a:solidFill>
              </a:defRPr>
            </a:pPr>
            <a:r>
              <a:rPr sz="1800" b="1">
                <a:solidFill>
                  <a:srgbClr val="12233A"/>
                </a:solidFill>
              </a:rPr>
              <a:t>Stay out of blind spots and loading areas</a:t>
            </a:r>
          </a:p>
        </p:txBody>
      </p:sp>
      <p:sp>
        <p:nvSpPr>
          <p:cNvPr id="7" name="">
            <a:extLst xmlns:a="http://schemas.openxmlformats.org/drawingml/2006/main">
              <a:ext uri="{FF2B5EF4-FFF2-40B4-BE49-F238E27FC236}">
                <a16:creationId xmlns:a16="http://schemas.microsoft.com/office/drawing/2014/main" id="{DCB6944B-976C-4AE8-B8CF-7942EDFB6D4A}"/>
              </a:ext>
            </a:extLst>
          </p:cNvPr>
          <p:cNvSpPr>
            <a:spLocks xmlns:a="http://schemas.openxmlformats.org/drawingml/2006/main" noGrp="1"/>
          </p:cNvSpPr>
          <p:nvPr/>
        </p:nvSpPr>
        <p:spPr>
          <a:xfrm xmlns:a="http://schemas.openxmlformats.org/drawingml/2006/main">
            <a:off x="609600" y="3600450"/>
            <a:ext cx="114300" cy="114300"/>
          </a:xfrm>
          <a:prstGeom xmlns:a="http://schemas.openxmlformats.org/drawingml/2006/main" prst="rect">
            <a:avLst/>
          </a:prstGeom>
          <a:solidFill xmlns:a="http://schemas.openxmlformats.org/drawingml/2006/main">
            <a:srgbClr val="66C43A"/>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7252C1F8-4E89-42CA-B0AE-C3CDCDECFEB6}"/>
              </a:ext>
            </a:extLst>
          </p:cNvPr>
          <p:cNvSpPr>
            <a:spLocks xmlns:a="http://schemas.openxmlformats.org/drawingml/2006/main" noGrp="1"/>
          </p:cNvSpPr>
          <p:nvPr/>
        </p:nvSpPr>
        <p:spPr>
          <a:xfrm xmlns:a="http://schemas.openxmlformats.org/drawingml/2006/main">
            <a:off x="914400" y="3524250"/>
            <a:ext cx="53340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800" b="0">
                <a:solidFill>
                  <a:srgbClr val="12233A"/>
                </a:solidFill>
              </a:defRPr>
            </a:pPr>
            <a:r>
              <a:rPr sz="1800" b="0">
                <a:solidFill>
                  <a:srgbClr val="12233A"/>
                </a:solidFill>
              </a:rPr>
              <a:t>Make eye contact with the operator before approaching</a:t>
            </a:r>
          </a:p>
        </p:txBody>
      </p:sp>
      <p:sp>
        <p:nvSpPr>
          <p:cNvPr id="9" name="">
            <a:extLst xmlns:a="http://schemas.openxmlformats.org/drawingml/2006/main">
              <a:ext uri="{FF2B5EF4-FFF2-40B4-BE49-F238E27FC236}">
                <a16:creationId xmlns:a16="http://schemas.microsoft.com/office/drawing/2014/main" id="{109F235E-E229-4119-BA7B-147EEB04C4C3}"/>
              </a:ext>
            </a:extLst>
          </p:cNvPr>
          <p:cNvSpPr>
            <a:spLocks xmlns:a="http://schemas.openxmlformats.org/drawingml/2006/main" noGrp="1"/>
          </p:cNvSpPr>
          <p:nvPr/>
        </p:nvSpPr>
        <p:spPr>
          <a:xfrm xmlns:a="http://schemas.openxmlformats.org/drawingml/2006/main">
            <a:off x="609600" y="4210050"/>
            <a:ext cx="114300" cy="114300"/>
          </a:xfrm>
          <a:prstGeom xmlns:a="http://schemas.openxmlformats.org/drawingml/2006/main" prst="rect">
            <a:avLst/>
          </a:prstGeom>
          <a:solidFill xmlns:a="http://schemas.openxmlformats.org/drawingml/2006/main">
            <a:srgbClr val="66C43A"/>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65AFD13E-9362-4620-B942-6237C60C67CB}"/>
              </a:ext>
            </a:extLst>
          </p:cNvPr>
          <p:cNvSpPr>
            <a:spLocks xmlns:a="http://schemas.openxmlformats.org/drawingml/2006/main" noGrp="1"/>
          </p:cNvSpPr>
          <p:nvPr/>
        </p:nvSpPr>
        <p:spPr>
          <a:xfrm xmlns:a="http://schemas.openxmlformats.org/drawingml/2006/main">
            <a:off x="914400" y="4133850"/>
            <a:ext cx="53340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800" b="0">
                <a:solidFill>
                  <a:srgbClr val="12233A"/>
                </a:solidFill>
              </a:defRPr>
            </a:pPr>
            <a:r>
              <a:rPr sz="1800" b="0">
                <a:solidFill>
                  <a:srgbClr val="12233A"/>
                </a:solidFill>
              </a:rPr>
              <a:t>Watch overhead power lines and underground utilities</a:t>
            </a:r>
          </a:p>
        </p:txBody>
      </p:sp>
      <p:sp>
        <p:nvSpPr>
          <p:cNvPr id="11" name="">
            <a:extLst xmlns:a="http://schemas.openxmlformats.org/drawingml/2006/main">
              <a:ext uri="{FF2B5EF4-FFF2-40B4-BE49-F238E27FC236}">
                <a16:creationId xmlns:a16="http://schemas.microsoft.com/office/drawing/2014/main" id="{FC89AD06-366C-4D08-BF77-EA9EFD9D95F6}"/>
              </a:ext>
            </a:extLst>
          </p:cNvPr>
          <p:cNvSpPr>
            <a:spLocks xmlns:a="http://schemas.openxmlformats.org/drawingml/2006/main" noGrp="1"/>
          </p:cNvSpPr>
          <p:nvPr/>
        </p:nvSpPr>
        <p:spPr>
          <a:xfrm xmlns:a="http://schemas.openxmlformats.org/drawingml/2006/main">
            <a:off x="6858000" y="704850"/>
            <a:ext cx="4495800" cy="4953000"/>
          </a:xfrm>
          <a:prstGeom xmlns:a="http://schemas.openxmlformats.org/drawingml/2006/main" prst="rect">
            <a:avLst/>
          </a:prstGeom>
          <a:solidFill xmlns:a="http://schemas.openxmlformats.org/drawingml/2006/main">
            <a:srgbClr val="F3F6F8"/>
          </a:solidFill>
          <a:ln xmlns:a="http://schemas.openxmlformats.org/drawingml/2006/main" w="9525">
            <a:solidFill>
              <a:srgbClr val="D8E1EA"/>
            </a:solidFill>
            <a:prstDash val="solid"/>
          </a:ln>
        </p:spPr>
      </p:sp>
      <p:sp>
        <p:nvSpPr>
          <p:cNvPr id="12" name="">
            <a:extLst xmlns:a="http://schemas.openxmlformats.org/drawingml/2006/main">
              <a:ext uri="{FF2B5EF4-FFF2-40B4-BE49-F238E27FC236}">
                <a16:creationId xmlns:a16="http://schemas.microsoft.com/office/drawing/2014/main" id="{357ECE92-0C85-4136-9CE2-F935DED4A4E1}"/>
              </a:ext>
            </a:extLst>
          </p:cNvPr>
          <p:cNvSpPr>
            <a:spLocks xmlns:a="http://schemas.openxmlformats.org/drawingml/2006/main" noGrp="1"/>
          </p:cNvSpPr>
          <p:nvPr/>
        </p:nvSpPr>
        <p:spPr>
          <a:xfrm xmlns:a="http://schemas.openxmlformats.org/drawingml/2006/main">
            <a:off x="6858000" y="704850"/>
            <a:ext cx="4495800" cy="114300"/>
          </a:xfrm>
          <a:prstGeom xmlns:a="http://schemas.openxmlformats.org/drawingml/2006/main" prst="rect">
            <a:avLst/>
          </a:prstGeom>
          <a:solidFill xmlns:a="http://schemas.openxmlformats.org/drawingml/2006/main">
            <a:srgbClr val="66C43A"/>
          </a:solidFill>
          <a:ln xmlns:a="http://schemas.openxmlformats.org/drawingml/2006/main" w="0">
            <a:noFill/>
            <a:prstDash val="solid"/>
          </a:ln>
        </p:spPr>
      </p:sp>
      <p:sp>
        <p:nvSpPr>
          <p:cNvPr id="13" name="">
            <a:extLst xmlns:a="http://schemas.openxmlformats.org/drawingml/2006/main">
              <a:ext uri="{FF2B5EF4-FFF2-40B4-BE49-F238E27FC236}">
                <a16:creationId xmlns:a16="http://schemas.microsoft.com/office/drawing/2014/main" id="{666616E8-9A19-49BE-B611-0F1FF26D57D0}"/>
              </a:ext>
            </a:extLst>
          </p:cNvPr>
          <p:cNvSpPr>
            <a:spLocks xmlns:a="http://schemas.openxmlformats.org/drawingml/2006/main" noGrp="1"/>
          </p:cNvSpPr>
          <p:nvPr/>
        </p:nvSpPr>
        <p:spPr>
          <a:xfrm xmlns:a="http://schemas.openxmlformats.org/drawingml/2006/main">
            <a:off x="7200900" y="1123950"/>
            <a:ext cx="1714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050" b="1">
                <a:solidFill>
                  <a:srgbClr val="5E6B7A"/>
                </a:solidFill>
              </a:defRPr>
            </a:pPr>
            <a:r>
              <a:rPr sz="1050" b="1">
                <a:solidFill>
                  <a:srgbClr val="5E6B7A"/>
                </a:solidFill>
              </a:rPr>
              <a:t>VIDEO VISUAL</a:t>
            </a:r>
          </a:p>
        </p:txBody>
      </p:sp>
      <p:sp>
        <p:nvSpPr>
          <p:cNvPr id="14" name="">
            <a:extLst xmlns:a="http://schemas.openxmlformats.org/drawingml/2006/main">
              <a:ext uri="{FF2B5EF4-FFF2-40B4-BE49-F238E27FC236}">
                <a16:creationId xmlns:a16="http://schemas.microsoft.com/office/drawing/2014/main" id="{A44A1531-EB34-498E-A64B-29E652B0F782}"/>
              </a:ext>
            </a:extLst>
          </p:cNvPr>
          <p:cNvSpPr>
            <a:spLocks xmlns:a="http://schemas.openxmlformats.org/drawingml/2006/main" noGrp="1"/>
          </p:cNvSpPr>
          <p:nvPr/>
        </p:nvSpPr>
        <p:spPr>
          <a:xfrm xmlns:a="http://schemas.openxmlformats.org/drawingml/2006/main">
            <a:off x="7200900" y="1543050"/>
            <a:ext cx="3810000" cy="1047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800" b="1">
                <a:solidFill>
                  <a:srgbClr val="12233A"/>
                </a:solidFill>
              </a:defRPr>
            </a:pPr>
            <a:r>
              <a:rPr sz="1800" b="1">
                <a:solidFill>
                  <a:srgbClr val="12233A"/>
                </a:solidFill>
              </a:rPr>
              <a:t>Worker outside swing radius making eye contact with equipment operator.</a:t>
            </a:r>
          </a:p>
        </p:txBody>
      </p:sp>
      <p:sp>
        <p:nvSpPr>
          <p:cNvPr id="15" name="">
            <a:extLst xmlns:a="http://schemas.openxmlformats.org/drawingml/2006/main">
              <a:ext uri="{FF2B5EF4-FFF2-40B4-BE49-F238E27FC236}">
                <a16:creationId xmlns:a16="http://schemas.microsoft.com/office/drawing/2014/main" id="{416061A0-A475-432C-8BA2-EDDF61C5709D}"/>
              </a:ext>
            </a:extLst>
          </p:cNvPr>
          <p:cNvSpPr>
            <a:spLocks xmlns:a="http://schemas.openxmlformats.org/drawingml/2006/main" noGrp="1"/>
          </p:cNvSpPr>
          <p:nvPr/>
        </p:nvSpPr>
        <p:spPr>
          <a:xfrm xmlns:a="http://schemas.openxmlformats.org/drawingml/2006/main">
            <a:off x="7200900" y="3028950"/>
            <a:ext cx="171450" cy="171450"/>
          </a:xfrm>
          <a:prstGeom xmlns:a="http://schemas.openxmlformats.org/drawingml/2006/main" prst="rect">
            <a:avLst/>
          </a:prstGeom>
          <a:solidFill xmlns:a="http://schemas.openxmlformats.org/drawingml/2006/main">
            <a:srgbClr val="66C43A"/>
          </a:solidFill>
          <a:ln xmlns:a="http://schemas.openxmlformats.org/drawingml/2006/main" w="0">
            <a:noFill/>
            <a:prstDash val="solid"/>
          </a:ln>
        </p:spPr>
      </p:sp>
      <p:sp>
        <p:nvSpPr>
          <p:cNvPr id="16" name="">
            <a:extLst xmlns:a="http://schemas.openxmlformats.org/drawingml/2006/main">
              <a:ext uri="{FF2B5EF4-FFF2-40B4-BE49-F238E27FC236}">
                <a16:creationId xmlns:a16="http://schemas.microsoft.com/office/drawing/2014/main" id="{71B84276-68CC-4676-9FD6-AC6F07EA4566}"/>
              </a:ext>
            </a:extLst>
          </p:cNvPr>
          <p:cNvSpPr>
            <a:spLocks xmlns:a="http://schemas.openxmlformats.org/drawingml/2006/main" noGrp="1"/>
          </p:cNvSpPr>
          <p:nvPr/>
        </p:nvSpPr>
        <p:spPr>
          <a:xfrm xmlns:a="http://schemas.openxmlformats.org/drawingml/2006/main">
            <a:off x="7524750" y="3000375"/>
            <a:ext cx="3143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500" b="1">
                <a:solidFill>
                  <a:srgbClr val="0B243D"/>
                </a:solidFill>
              </a:defRPr>
            </a:pPr>
            <a:r>
              <a:rPr sz="1500" b="1">
                <a:solidFill>
                  <a:srgbClr val="0B243D"/>
                </a:solidFill>
              </a:rPr>
              <a:t>Stay out of blind spots and loading areas</a:t>
            </a:r>
          </a:p>
        </p:txBody>
      </p:sp>
      <p:sp>
        <p:nvSpPr>
          <p:cNvPr id="17" name="">
            <a:extLst xmlns:a="http://schemas.openxmlformats.org/drawingml/2006/main">
              <a:ext uri="{FF2B5EF4-FFF2-40B4-BE49-F238E27FC236}">
                <a16:creationId xmlns:a16="http://schemas.microsoft.com/office/drawing/2014/main" id="{472B9D0A-3D7D-407F-8F49-6F9C63A635D8}"/>
              </a:ext>
            </a:extLst>
          </p:cNvPr>
          <p:cNvSpPr>
            <a:spLocks xmlns:a="http://schemas.openxmlformats.org/drawingml/2006/main" noGrp="1"/>
          </p:cNvSpPr>
          <p:nvPr/>
        </p:nvSpPr>
        <p:spPr>
          <a:xfrm xmlns:a="http://schemas.openxmlformats.org/drawingml/2006/main">
            <a:off x="7200900" y="3467100"/>
            <a:ext cx="171450" cy="171450"/>
          </a:xfrm>
          <a:prstGeom xmlns:a="http://schemas.openxmlformats.org/drawingml/2006/main" prst="rect">
            <a:avLst/>
          </a:prstGeom>
          <a:solidFill xmlns:a="http://schemas.openxmlformats.org/drawingml/2006/main">
            <a:srgbClr val="66C43A"/>
          </a:solidFill>
          <a:ln xmlns:a="http://schemas.openxmlformats.org/drawingml/2006/main" w="0">
            <a:noFill/>
            <a:prstDash val="solid"/>
          </a:ln>
        </p:spPr>
      </p:sp>
      <p:sp>
        <p:nvSpPr>
          <p:cNvPr id="18" name="">
            <a:extLst xmlns:a="http://schemas.openxmlformats.org/drawingml/2006/main">
              <a:ext uri="{FF2B5EF4-FFF2-40B4-BE49-F238E27FC236}">
                <a16:creationId xmlns:a16="http://schemas.microsoft.com/office/drawing/2014/main" id="{CEBDE9DB-B246-48CF-A0DF-89B91B9FA673}"/>
              </a:ext>
            </a:extLst>
          </p:cNvPr>
          <p:cNvSpPr>
            <a:spLocks xmlns:a="http://schemas.openxmlformats.org/drawingml/2006/main" noGrp="1"/>
          </p:cNvSpPr>
          <p:nvPr/>
        </p:nvSpPr>
        <p:spPr>
          <a:xfrm xmlns:a="http://schemas.openxmlformats.org/drawingml/2006/main">
            <a:off x="7524750" y="3438525"/>
            <a:ext cx="3143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500" b="1">
                <a:solidFill>
                  <a:srgbClr val="0B243D"/>
                </a:solidFill>
              </a:defRPr>
            </a:pPr>
            <a:r>
              <a:rPr sz="1500" b="1">
                <a:solidFill>
                  <a:srgbClr val="0B243D"/>
                </a:solidFill>
              </a:rPr>
              <a:t>Make eye contact with the operator before approaching</a:t>
            </a:r>
          </a:p>
        </p:txBody>
      </p:sp>
      <p:sp>
        <p:nvSpPr>
          <p:cNvPr id="19" name="">
            <a:extLst xmlns:a="http://schemas.openxmlformats.org/drawingml/2006/main">
              <a:ext uri="{FF2B5EF4-FFF2-40B4-BE49-F238E27FC236}">
                <a16:creationId xmlns:a16="http://schemas.microsoft.com/office/drawing/2014/main" id="{949059B1-8AFD-4B94-B744-45397BE19997}"/>
              </a:ext>
            </a:extLst>
          </p:cNvPr>
          <p:cNvSpPr>
            <a:spLocks xmlns:a="http://schemas.openxmlformats.org/drawingml/2006/main" noGrp="1"/>
          </p:cNvSpPr>
          <p:nvPr/>
        </p:nvSpPr>
        <p:spPr>
          <a:xfrm xmlns:a="http://schemas.openxmlformats.org/drawingml/2006/main">
            <a:off x="7200900" y="3905250"/>
            <a:ext cx="171450" cy="171450"/>
          </a:xfrm>
          <a:prstGeom xmlns:a="http://schemas.openxmlformats.org/drawingml/2006/main" prst="rect">
            <a:avLst/>
          </a:prstGeom>
          <a:solidFill xmlns:a="http://schemas.openxmlformats.org/drawingml/2006/main">
            <a:srgbClr val="66C43A"/>
          </a:solidFill>
          <a:ln xmlns:a="http://schemas.openxmlformats.org/drawingml/2006/main" w="0">
            <a:noFill/>
            <a:prstDash val="solid"/>
          </a:ln>
        </p:spPr>
      </p:sp>
      <p:sp>
        <p:nvSpPr>
          <p:cNvPr id="20" name="">
            <a:extLst xmlns:a="http://schemas.openxmlformats.org/drawingml/2006/main">
              <a:ext uri="{FF2B5EF4-FFF2-40B4-BE49-F238E27FC236}">
                <a16:creationId xmlns:a16="http://schemas.microsoft.com/office/drawing/2014/main" id="{89A170BF-CE15-4A9B-BE3C-4DA1E39C5642}"/>
              </a:ext>
            </a:extLst>
          </p:cNvPr>
          <p:cNvSpPr>
            <a:spLocks xmlns:a="http://schemas.openxmlformats.org/drawingml/2006/main" noGrp="1"/>
          </p:cNvSpPr>
          <p:nvPr/>
        </p:nvSpPr>
        <p:spPr>
          <a:xfrm xmlns:a="http://schemas.openxmlformats.org/drawingml/2006/main">
            <a:off x="7524750" y="3876675"/>
            <a:ext cx="3143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500" b="1">
                <a:solidFill>
                  <a:srgbClr val="0B243D"/>
                </a:solidFill>
              </a:defRPr>
            </a:pPr>
            <a:r>
              <a:rPr sz="1500" b="1">
                <a:solidFill>
                  <a:srgbClr val="0B243D"/>
                </a:solidFill>
              </a:rPr>
              <a:t>Watch overhead power lines and underground utilities</a:t>
            </a:r>
          </a:p>
        </p:txBody>
      </p:sp>
      <p:sp>
        <p:nvSpPr>
          <p:cNvPr id="21" name="">
            <a:extLst xmlns:a="http://schemas.openxmlformats.org/drawingml/2006/main">
              <a:ext uri="{FF2B5EF4-FFF2-40B4-BE49-F238E27FC236}">
                <a16:creationId xmlns:a16="http://schemas.microsoft.com/office/drawing/2014/main" id="{DC91B373-53BE-4188-9E93-8F1D5AA6C33C}"/>
              </a:ext>
            </a:extLst>
          </p:cNvPr>
          <p:cNvSpPr>
            <a:spLocks xmlns:a="http://schemas.openxmlformats.org/drawingml/2006/main" noGrp="1"/>
          </p:cNvSpPr>
          <p:nvPr/>
        </p:nvSpPr>
        <p:spPr>
          <a:xfrm xmlns:a="http://schemas.openxmlformats.org/drawingml/2006/main">
            <a:off x="7200900" y="5219700"/>
            <a:ext cx="1714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975" b="1">
                <a:solidFill>
                  <a:srgbClr val="5E6B7A"/>
                </a:solidFill>
              </a:defRPr>
            </a:pPr>
            <a:r>
              <a:rPr sz="975" b="1">
                <a:solidFill>
                  <a:srgbClr val="5E6B7A"/>
                </a:solidFill>
              </a:rPr>
              <a:t>Scene 20</a:t>
            </a:r>
          </a:p>
        </p:txBody>
      </p:sp>
      <p:sp>
        <p:nvSpPr>
          <p:cNvPr id="22" name="">
            <a:extLst xmlns:a="http://schemas.openxmlformats.org/drawingml/2006/main">
              <a:ext uri="{FF2B5EF4-FFF2-40B4-BE49-F238E27FC236}">
                <a16:creationId xmlns:a16="http://schemas.microsoft.com/office/drawing/2014/main" id="{FDA1E458-55A5-4F03-B7D8-B814C27BED7B}"/>
              </a:ext>
            </a:extLst>
          </p:cNvPr>
          <p:cNvSpPr>
            <a:spLocks xmlns:a="http://schemas.openxmlformats.org/drawingml/2006/main" noGrp="1"/>
          </p:cNvSpPr>
          <p:nvPr/>
        </p:nvSpPr>
        <p:spPr>
          <a:xfrm xmlns:a="http://schemas.openxmlformats.org/drawingml/2006/main">
            <a:off x="0" y="6515100"/>
            <a:ext cx="12192000" cy="342900"/>
          </a:xfrm>
          <a:prstGeom xmlns:a="http://schemas.openxmlformats.org/drawingml/2006/main" prst="rect">
            <a:avLst/>
          </a:prstGeom>
          <a:solidFill xmlns:a="http://schemas.openxmlformats.org/drawingml/2006/main">
            <a:srgbClr val="0B243D"/>
          </a:solidFill>
          <a:ln xmlns:a="http://schemas.openxmlformats.org/drawingml/2006/main" w="0">
            <a:noFill/>
            <a:prstDash val="solid"/>
          </a:ln>
        </p:spPr>
      </p:sp>
      <p:sp>
        <p:nvSpPr>
          <p:cNvPr id="23" name="">
            <a:extLst xmlns:a="http://schemas.openxmlformats.org/drawingml/2006/main">
              <a:ext uri="{FF2B5EF4-FFF2-40B4-BE49-F238E27FC236}">
                <a16:creationId xmlns:a16="http://schemas.microsoft.com/office/drawing/2014/main" id="{CA4F4AB4-BC09-4AC4-B2F1-DE27F06C77BC}"/>
              </a:ext>
            </a:extLst>
          </p:cNvPr>
          <p:cNvSpPr>
            <a:spLocks xmlns:a="http://schemas.openxmlformats.org/drawingml/2006/main" noGrp="1"/>
          </p:cNvSpPr>
          <p:nvPr/>
        </p:nvSpPr>
        <p:spPr>
          <a:xfrm xmlns:a="http://schemas.openxmlformats.org/drawingml/2006/main">
            <a:off x="533400" y="6600825"/>
            <a:ext cx="3429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975" b="1">
                <a:solidFill>
                  <a:srgbClr val="FFFFFF"/>
                </a:solidFill>
              </a:defRPr>
            </a:pPr>
            <a:r>
              <a:rPr sz="975" b="1">
                <a:solidFill>
                  <a:srgbClr val="FFFFFF"/>
                </a:solidFill>
              </a:rPr>
              <a:t>PAL Environmental Services</a:t>
            </a:r>
          </a:p>
        </p:txBody>
      </p:sp>
      <p:sp>
        <p:nvSpPr>
          <p:cNvPr id="24" name="">
            <a:extLst xmlns:a="http://schemas.openxmlformats.org/drawingml/2006/main">
              <a:ext uri="{FF2B5EF4-FFF2-40B4-BE49-F238E27FC236}">
                <a16:creationId xmlns:a16="http://schemas.microsoft.com/office/drawing/2014/main" id="{16DF81F0-4EE7-4EB5-A029-DA0E9BEB3C02}"/>
              </a:ext>
            </a:extLst>
          </p:cNvPr>
          <p:cNvSpPr>
            <a:spLocks xmlns:a="http://schemas.openxmlformats.org/drawingml/2006/main" noGrp="1"/>
          </p:cNvSpPr>
          <p:nvPr/>
        </p:nvSpPr>
        <p:spPr>
          <a:xfrm xmlns:a="http://schemas.openxmlformats.org/drawingml/2006/main">
            <a:off x="9620250" y="6600825"/>
            <a:ext cx="2095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900">
                <a:solidFill>
                  <a:srgbClr val="DDEAF5"/>
                </a:solidFill>
              </a:defRPr>
            </a:pPr>
            <a:r>
              <a:rPr sz="900">
                <a:solidFill>
                  <a:srgbClr val="DDEAF5"/>
                </a:solidFill>
              </a:rPr>
              <a:t>Employee Orientation  |  20</a:t>
            </a:r>
          </a:p>
        </p:txBody>
      </p:sp>
    </p:spTree>
    <p:extLst>
      <p:ext uri="{BB962C8B-B14F-4D97-AF65-F5344CB8AC3E}">
        <p14:creationId xmlns:p14="http://schemas.microsoft.com/office/powerpoint/2010/main" val="496089725"/>
      </p:ext>
    </p:extLst>
  </p:cSld>
</p:sld>
</file>

<file path=ppt/slides/slide2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8821277B-087B-479A-84A1-FE0D51E8AEB8}"/>
              </a:ext>
            </a:extLst>
          </p:cNvPr>
          <p:cNvSpPr>
            <a:spLocks xmlns:a="http://schemas.openxmlformats.org/drawingml/2006/main" noGrp="1"/>
          </p:cNvSpPr>
          <p:nvPr/>
        </p:nvSpPr>
        <p:spPr>
          <a:xfrm xmlns:a="http://schemas.openxmlformats.org/drawingml/2006/main">
            <a:off x="0" y="0"/>
            <a:ext cx="12192000" cy="266700"/>
          </a:xfrm>
          <a:prstGeom xmlns:a="http://schemas.openxmlformats.org/drawingml/2006/main" prst="rect">
            <a:avLst/>
          </a:prstGeom>
          <a:solidFill xmlns:a="http://schemas.openxmlformats.org/drawingml/2006/main">
            <a:srgbClr val="0B243D"/>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331D880E-53F5-4717-AE5C-CA8FD61AABA0}"/>
              </a:ext>
            </a:extLst>
          </p:cNvPr>
          <p:cNvSpPr>
            <a:spLocks xmlns:a="http://schemas.openxmlformats.org/drawingml/2006/main" noGrp="1"/>
          </p:cNvSpPr>
          <p:nvPr/>
        </p:nvSpPr>
        <p:spPr>
          <a:xfrm xmlns:a="http://schemas.openxmlformats.org/drawingml/2006/main">
            <a:off x="0" y="266700"/>
            <a:ext cx="171450" cy="6248400"/>
          </a:xfrm>
          <a:prstGeom xmlns:a="http://schemas.openxmlformats.org/drawingml/2006/main" prst="rect">
            <a:avLst/>
          </a:prstGeom>
          <a:solidFill xmlns:a="http://schemas.openxmlformats.org/drawingml/2006/main">
            <a:srgbClr val="B42318"/>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C8E931A0-FBD9-4754-9863-C81D7D22D90E}"/>
              </a:ext>
            </a:extLst>
          </p:cNvPr>
          <p:cNvSpPr>
            <a:spLocks xmlns:a="http://schemas.openxmlformats.org/drawingml/2006/main" noGrp="1"/>
          </p:cNvSpPr>
          <p:nvPr/>
        </p:nvSpPr>
        <p:spPr>
          <a:xfrm xmlns:a="http://schemas.openxmlformats.org/drawingml/2006/main">
            <a:off x="533400" y="666750"/>
            <a:ext cx="44767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050" b="1">
                <a:solidFill>
                  <a:srgbClr val="5E6B7A"/>
                </a:solidFill>
              </a:defRPr>
            </a:pPr>
            <a:r>
              <a:rPr sz="1050" b="1">
                <a:solidFill>
                  <a:srgbClr val="5E6B7A"/>
                </a:solidFill>
              </a:rPr>
              <a:t>CONFINED SPACE</a:t>
            </a:r>
          </a:p>
        </p:txBody>
      </p:sp>
      <p:sp>
        <p:nvSpPr>
          <p:cNvPr id="4" name="">
            <a:extLst xmlns:a="http://schemas.openxmlformats.org/drawingml/2006/main">
              <a:ext uri="{FF2B5EF4-FFF2-40B4-BE49-F238E27FC236}">
                <a16:creationId xmlns:a16="http://schemas.microsoft.com/office/drawing/2014/main" id="{EBC16C95-177A-45A9-B92E-05CAD2F71857}"/>
              </a:ext>
            </a:extLst>
          </p:cNvPr>
          <p:cNvSpPr>
            <a:spLocks xmlns:a="http://schemas.openxmlformats.org/drawingml/2006/main" noGrp="1"/>
          </p:cNvSpPr>
          <p:nvPr/>
        </p:nvSpPr>
        <p:spPr>
          <a:xfrm xmlns:a="http://schemas.openxmlformats.org/drawingml/2006/main">
            <a:off x="533400" y="1047750"/>
            <a:ext cx="5524500" cy="1428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3150" b="1">
                <a:solidFill>
                  <a:srgbClr val="0B243D"/>
                </a:solidFill>
              </a:defRPr>
            </a:pPr>
            <a:r>
              <a:rPr sz="3150" b="1">
                <a:solidFill>
                  <a:srgbClr val="0B243D"/>
                </a:solidFill>
              </a:rPr>
              <a:t>This orientation does not authorize entry.</a:t>
            </a:r>
          </a:p>
        </p:txBody>
      </p:sp>
      <p:sp>
        <p:nvSpPr>
          <p:cNvPr id="5" name="">
            <a:extLst xmlns:a="http://schemas.openxmlformats.org/drawingml/2006/main">
              <a:ext uri="{FF2B5EF4-FFF2-40B4-BE49-F238E27FC236}">
                <a16:creationId xmlns:a16="http://schemas.microsoft.com/office/drawing/2014/main" id="{524A0471-F7F7-462A-B7B8-26841F987596}"/>
              </a:ext>
            </a:extLst>
          </p:cNvPr>
          <p:cNvSpPr>
            <a:spLocks xmlns:a="http://schemas.openxmlformats.org/drawingml/2006/main" noGrp="1"/>
          </p:cNvSpPr>
          <p:nvPr/>
        </p:nvSpPr>
        <p:spPr>
          <a:xfrm xmlns:a="http://schemas.openxmlformats.org/drawingml/2006/main">
            <a:off x="609600" y="2990850"/>
            <a:ext cx="114300" cy="114300"/>
          </a:xfrm>
          <a:prstGeom xmlns:a="http://schemas.openxmlformats.org/drawingml/2006/main" prst="rect">
            <a:avLst/>
          </a:prstGeom>
          <a:solidFill xmlns:a="http://schemas.openxmlformats.org/drawingml/2006/main">
            <a:srgbClr val="B42318"/>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03D5A389-D42E-4208-B22A-DA2E17B005AF}"/>
              </a:ext>
            </a:extLst>
          </p:cNvPr>
          <p:cNvSpPr>
            <a:spLocks xmlns:a="http://schemas.openxmlformats.org/drawingml/2006/main" noGrp="1"/>
          </p:cNvSpPr>
          <p:nvPr/>
        </p:nvSpPr>
        <p:spPr>
          <a:xfrm xmlns:a="http://schemas.openxmlformats.org/drawingml/2006/main">
            <a:off x="914400" y="2914650"/>
            <a:ext cx="53340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800" b="1">
                <a:solidFill>
                  <a:srgbClr val="12233A"/>
                </a:solidFill>
              </a:defRPr>
            </a:pPr>
            <a:r>
              <a:rPr sz="1800" b="1">
                <a:solidFill>
                  <a:srgbClr val="12233A"/>
                </a:solidFill>
              </a:rPr>
              <a:t>Confined spaces require specialized training</a:t>
            </a:r>
          </a:p>
        </p:txBody>
      </p:sp>
      <p:sp>
        <p:nvSpPr>
          <p:cNvPr id="7" name="">
            <a:extLst xmlns:a="http://schemas.openxmlformats.org/drawingml/2006/main">
              <a:ext uri="{FF2B5EF4-FFF2-40B4-BE49-F238E27FC236}">
                <a16:creationId xmlns:a16="http://schemas.microsoft.com/office/drawing/2014/main" id="{4A84A8A9-52DB-4D7C-8EF3-0FA7D04095D4}"/>
              </a:ext>
            </a:extLst>
          </p:cNvPr>
          <p:cNvSpPr>
            <a:spLocks xmlns:a="http://schemas.openxmlformats.org/drawingml/2006/main" noGrp="1"/>
          </p:cNvSpPr>
          <p:nvPr/>
        </p:nvSpPr>
        <p:spPr>
          <a:xfrm xmlns:a="http://schemas.openxmlformats.org/drawingml/2006/main">
            <a:off x="609600" y="3600450"/>
            <a:ext cx="114300" cy="114300"/>
          </a:xfrm>
          <a:prstGeom xmlns:a="http://schemas.openxmlformats.org/drawingml/2006/main" prst="rect">
            <a:avLst/>
          </a:prstGeom>
          <a:solidFill xmlns:a="http://schemas.openxmlformats.org/drawingml/2006/main">
            <a:srgbClr val="B42318"/>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ECFDE8A8-88DC-4183-BD89-180647E82FE3}"/>
              </a:ext>
            </a:extLst>
          </p:cNvPr>
          <p:cNvSpPr>
            <a:spLocks xmlns:a="http://schemas.openxmlformats.org/drawingml/2006/main" noGrp="1"/>
          </p:cNvSpPr>
          <p:nvPr/>
        </p:nvSpPr>
        <p:spPr>
          <a:xfrm xmlns:a="http://schemas.openxmlformats.org/drawingml/2006/main">
            <a:off x="914400" y="3524250"/>
            <a:ext cx="53340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800" b="0">
                <a:solidFill>
                  <a:srgbClr val="12233A"/>
                </a:solidFill>
              </a:defRPr>
            </a:pPr>
            <a:r>
              <a:rPr sz="1800" b="0">
                <a:solidFill>
                  <a:srgbClr val="12233A"/>
                </a:solidFill>
              </a:rPr>
              <a:t>Hazards may include atmosphere, engulfment, or entrapment</a:t>
            </a:r>
          </a:p>
        </p:txBody>
      </p:sp>
      <p:sp>
        <p:nvSpPr>
          <p:cNvPr id="9" name="">
            <a:extLst xmlns:a="http://schemas.openxmlformats.org/drawingml/2006/main">
              <a:ext uri="{FF2B5EF4-FFF2-40B4-BE49-F238E27FC236}">
                <a16:creationId xmlns:a16="http://schemas.microsoft.com/office/drawing/2014/main" id="{5CACC512-F463-4015-ABE0-F694EC32871B}"/>
              </a:ext>
            </a:extLst>
          </p:cNvPr>
          <p:cNvSpPr>
            <a:spLocks xmlns:a="http://schemas.openxmlformats.org/drawingml/2006/main" noGrp="1"/>
          </p:cNvSpPr>
          <p:nvPr/>
        </p:nvSpPr>
        <p:spPr>
          <a:xfrm xmlns:a="http://schemas.openxmlformats.org/drawingml/2006/main">
            <a:off x="609600" y="4210050"/>
            <a:ext cx="114300" cy="114300"/>
          </a:xfrm>
          <a:prstGeom xmlns:a="http://schemas.openxmlformats.org/drawingml/2006/main" prst="rect">
            <a:avLst/>
          </a:prstGeom>
          <a:solidFill xmlns:a="http://schemas.openxmlformats.org/drawingml/2006/main">
            <a:srgbClr val="B42318"/>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FA19A6F7-9BEF-4F4F-95DD-F7FE7897D6B6}"/>
              </a:ext>
            </a:extLst>
          </p:cNvPr>
          <p:cNvSpPr>
            <a:spLocks xmlns:a="http://schemas.openxmlformats.org/drawingml/2006/main" noGrp="1"/>
          </p:cNvSpPr>
          <p:nvPr/>
        </p:nvSpPr>
        <p:spPr>
          <a:xfrm xmlns:a="http://schemas.openxmlformats.org/drawingml/2006/main">
            <a:off x="914400" y="4133850"/>
            <a:ext cx="53340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800" b="0">
                <a:solidFill>
                  <a:srgbClr val="12233A"/>
                </a:solidFill>
              </a:defRPr>
            </a:pPr>
            <a:r>
              <a:rPr sz="1800" b="0">
                <a:solidFill>
                  <a:srgbClr val="12233A"/>
                </a:solidFill>
              </a:rPr>
              <a:t>Do not enter unless trained, authorized, and equipped</a:t>
            </a:r>
          </a:p>
        </p:txBody>
      </p:sp>
      <p:sp>
        <p:nvSpPr>
          <p:cNvPr id="11" name="">
            <a:extLst xmlns:a="http://schemas.openxmlformats.org/drawingml/2006/main">
              <a:ext uri="{FF2B5EF4-FFF2-40B4-BE49-F238E27FC236}">
                <a16:creationId xmlns:a16="http://schemas.microsoft.com/office/drawing/2014/main" id="{5ECE3507-2C7B-477A-8B35-BE093E78698A}"/>
              </a:ext>
            </a:extLst>
          </p:cNvPr>
          <p:cNvSpPr>
            <a:spLocks xmlns:a="http://schemas.openxmlformats.org/drawingml/2006/main" noGrp="1"/>
          </p:cNvSpPr>
          <p:nvPr/>
        </p:nvSpPr>
        <p:spPr>
          <a:xfrm xmlns:a="http://schemas.openxmlformats.org/drawingml/2006/main">
            <a:off x="6858000" y="704850"/>
            <a:ext cx="4495800" cy="4953000"/>
          </a:xfrm>
          <a:prstGeom xmlns:a="http://schemas.openxmlformats.org/drawingml/2006/main" prst="rect">
            <a:avLst/>
          </a:prstGeom>
          <a:solidFill xmlns:a="http://schemas.openxmlformats.org/drawingml/2006/main">
            <a:srgbClr val="F3F6F8"/>
          </a:solidFill>
          <a:ln xmlns:a="http://schemas.openxmlformats.org/drawingml/2006/main" w="9525">
            <a:solidFill>
              <a:srgbClr val="D8E1EA"/>
            </a:solidFill>
            <a:prstDash val="solid"/>
          </a:ln>
        </p:spPr>
      </p:sp>
      <p:sp>
        <p:nvSpPr>
          <p:cNvPr id="12" name="">
            <a:extLst xmlns:a="http://schemas.openxmlformats.org/drawingml/2006/main">
              <a:ext uri="{FF2B5EF4-FFF2-40B4-BE49-F238E27FC236}">
                <a16:creationId xmlns:a16="http://schemas.microsoft.com/office/drawing/2014/main" id="{077FFE61-3510-4246-91F0-A31A1227C74F}"/>
              </a:ext>
            </a:extLst>
          </p:cNvPr>
          <p:cNvSpPr>
            <a:spLocks xmlns:a="http://schemas.openxmlformats.org/drawingml/2006/main" noGrp="1"/>
          </p:cNvSpPr>
          <p:nvPr/>
        </p:nvSpPr>
        <p:spPr>
          <a:xfrm xmlns:a="http://schemas.openxmlformats.org/drawingml/2006/main">
            <a:off x="6858000" y="704850"/>
            <a:ext cx="4495800" cy="114300"/>
          </a:xfrm>
          <a:prstGeom xmlns:a="http://schemas.openxmlformats.org/drawingml/2006/main" prst="rect">
            <a:avLst/>
          </a:prstGeom>
          <a:solidFill xmlns:a="http://schemas.openxmlformats.org/drawingml/2006/main">
            <a:srgbClr val="B42318"/>
          </a:solidFill>
          <a:ln xmlns:a="http://schemas.openxmlformats.org/drawingml/2006/main" w="0">
            <a:noFill/>
            <a:prstDash val="solid"/>
          </a:ln>
        </p:spPr>
      </p:sp>
      <p:sp>
        <p:nvSpPr>
          <p:cNvPr id="13" name="">
            <a:extLst xmlns:a="http://schemas.openxmlformats.org/drawingml/2006/main">
              <a:ext uri="{FF2B5EF4-FFF2-40B4-BE49-F238E27FC236}">
                <a16:creationId xmlns:a16="http://schemas.microsoft.com/office/drawing/2014/main" id="{02E6739C-E361-46DC-9F35-2A5B3353D236}"/>
              </a:ext>
            </a:extLst>
          </p:cNvPr>
          <p:cNvSpPr>
            <a:spLocks xmlns:a="http://schemas.openxmlformats.org/drawingml/2006/main" noGrp="1"/>
          </p:cNvSpPr>
          <p:nvPr/>
        </p:nvSpPr>
        <p:spPr>
          <a:xfrm xmlns:a="http://schemas.openxmlformats.org/drawingml/2006/main">
            <a:off x="7200900" y="1123950"/>
            <a:ext cx="1714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050" b="1">
                <a:solidFill>
                  <a:srgbClr val="5E6B7A"/>
                </a:solidFill>
              </a:defRPr>
            </a:pPr>
            <a:r>
              <a:rPr sz="1050" b="1">
                <a:solidFill>
                  <a:srgbClr val="5E6B7A"/>
                </a:solidFill>
              </a:rPr>
              <a:t>VIDEO VISUAL</a:t>
            </a:r>
          </a:p>
        </p:txBody>
      </p:sp>
      <p:sp>
        <p:nvSpPr>
          <p:cNvPr id="14" name="">
            <a:extLst xmlns:a="http://schemas.openxmlformats.org/drawingml/2006/main">
              <a:ext uri="{FF2B5EF4-FFF2-40B4-BE49-F238E27FC236}">
                <a16:creationId xmlns:a16="http://schemas.microsoft.com/office/drawing/2014/main" id="{0DB3C1EB-48EA-4693-AD47-A9E248459661}"/>
              </a:ext>
            </a:extLst>
          </p:cNvPr>
          <p:cNvSpPr>
            <a:spLocks xmlns:a="http://schemas.openxmlformats.org/drawingml/2006/main" noGrp="1"/>
          </p:cNvSpPr>
          <p:nvPr/>
        </p:nvSpPr>
        <p:spPr>
          <a:xfrm xmlns:a="http://schemas.openxmlformats.org/drawingml/2006/main">
            <a:off x="7200900" y="1543050"/>
            <a:ext cx="3810000" cy="1047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800" b="1">
                <a:solidFill>
                  <a:srgbClr val="12233A"/>
                </a:solidFill>
              </a:defRPr>
            </a:pPr>
            <a:r>
              <a:rPr sz="1800" b="1">
                <a:solidFill>
                  <a:srgbClr val="12233A"/>
                </a:solidFill>
              </a:rPr>
              <a:t>Permit-required confined-space warning with untrained worker stopped outside.</a:t>
            </a:r>
          </a:p>
        </p:txBody>
      </p:sp>
      <p:sp>
        <p:nvSpPr>
          <p:cNvPr id="15" name="">
            <a:extLst xmlns:a="http://schemas.openxmlformats.org/drawingml/2006/main">
              <a:ext uri="{FF2B5EF4-FFF2-40B4-BE49-F238E27FC236}">
                <a16:creationId xmlns:a16="http://schemas.microsoft.com/office/drawing/2014/main" id="{CE29238E-44EF-4F7F-B653-8AE31B952496}"/>
              </a:ext>
            </a:extLst>
          </p:cNvPr>
          <p:cNvSpPr>
            <a:spLocks xmlns:a="http://schemas.openxmlformats.org/drawingml/2006/main" noGrp="1"/>
          </p:cNvSpPr>
          <p:nvPr/>
        </p:nvSpPr>
        <p:spPr>
          <a:xfrm xmlns:a="http://schemas.openxmlformats.org/drawingml/2006/main">
            <a:off x="7200900" y="3028950"/>
            <a:ext cx="171450" cy="171450"/>
          </a:xfrm>
          <a:prstGeom xmlns:a="http://schemas.openxmlformats.org/drawingml/2006/main" prst="rect">
            <a:avLst/>
          </a:prstGeom>
          <a:solidFill xmlns:a="http://schemas.openxmlformats.org/drawingml/2006/main">
            <a:srgbClr val="B42318"/>
          </a:solidFill>
          <a:ln xmlns:a="http://schemas.openxmlformats.org/drawingml/2006/main" w="0">
            <a:noFill/>
            <a:prstDash val="solid"/>
          </a:ln>
        </p:spPr>
      </p:sp>
      <p:sp>
        <p:nvSpPr>
          <p:cNvPr id="16" name="">
            <a:extLst xmlns:a="http://schemas.openxmlformats.org/drawingml/2006/main">
              <a:ext uri="{FF2B5EF4-FFF2-40B4-BE49-F238E27FC236}">
                <a16:creationId xmlns:a16="http://schemas.microsoft.com/office/drawing/2014/main" id="{4AB407C3-0CEE-4C62-897B-6D068026488B}"/>
              </a:ext>
            </a:extLst>
          </p:cNvPr>
          <p:cNvSpPr>
            <a:spLocks xmlns:a="http://schemas.openxmlformats.org/drawingml/2006/main" noGrp="1"/>
          </p:cNvSpPr>
          <p:nvPr/>
        </p:nvSpPr>
        <p:spPr>
          <a:xfrm xmlns:a="http://schemas.openxmlformats.org/drawingml/2006/main">
            <a:off x="7524750" y="3000375"/>
            <a:ext cx="3143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500" b="1">
                <a:solidFill>
                  <a:srgbClr val="0B243D"/>
                </a:solidFill>
              </a:defRPr>
            </a:pPr>
            <a:r>
              <a:rPr sz="1500" b="1">
                <a:solidFill>
                  <a:srgbClr val="0B243D"/>
                </a:solidFill>
              </a:rPr>
              <a:t>Confined spaces require specialized training</a:t>
            </a:r>
          </a:p>
        </p:txBody>
      </p:sp>
      <p:sp>
        <p:nvSpPr>
          <p:cNvPr id="17" name="">
            <a:extLst xmlns:a="http://schemas.openxmlformats.org/drawingml/2006/main">
              <a:ext uri="{FF2B5EF4-FFF2-40B4-BE49-F238E27FC236}">
                <a16:creationId xmlns:a16="http://schemas.microsoft.com/office/drawing/2014/main" id="{1EFA73A9-B243-43F9-BFC2-9CC4EF0B8F0F}"/>
              </a:ext>
            </a:extLst>
          </p:cNvPr>
          <p:cNvSpPr>
            <a:spLocks xmlns:a="http://schemas.openxmlformats.org/drawingml/2006/main" noGrp="1"/>
          </p:cNvSpPr>
          <p:nvPr/>
        </p:nvSpPr>
        <p:spPr>
          <a:xfrm xmlns:a="http://schemas.openxmlformats.org/drawingml/2006/main">
            <a:off x="7200900" y="3467100"/>
            <a:ext cx="171450" cy="171450"/>
          </a:xfrm>
          <a:prstGeom xmlns:a="http://schemas.openxmlformats.org/drawingml/2006/main" prst="rect">
            <a:avLst/>
          </a:prstGeom>
          <a:solidFill xmlns:a="http://schemas.openxmlformats.org/drawingml/2006/main">
            <a:srgbClr val="B42318"/>
          </a:solidFill>
          <a:ln xmlns:a="http://schemas.openxmlformats.org/drawingml/2006/main" w="0">
            <a:noFill/>
            <a:prstDash val="solid"/>
          </a:ln>
        </p:spPr>
      </p:sp>
      <p:sp>
        <p:nvSpPr>
          <p:cNvPr id="18" name="">
            <a:extLst xmlns:a="http://schemas.openxmlformats.org/drawingml/2006/main">
              <a:ext uri="{FF2B5EF4-FFF2-40B4-BE49-F238E27FC236}">
                <a16:creationId xmlns:a16="http://schemas.microsoft.com/office/drawing/2014/main" id="{B53DF81D-5EA6-4E38-965B-058577B37932}"/>
              </a:ext>
            </a:extLst>
          </p:cNvPr>
          <p:cNvSpPr>
            <a:spLocks xmlns:a="http://schemas.openxmlformats.org/drawingml/2006/main" noGrp="1"/>
          </p:cNvSpPr>
          <p:nvPr/>
        </p:nvSpPr>
        <p:spPr>
          <a:xfrm xmlns:a="http://schemas.openxmlformats.org/drawingml/2006/main">
            <a:off x="7524750" y="3438525"/>
            <a:ext cx="3143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500" b="1">
                <a:solidFill>
                  <a:srgbClr val="0B243D"/>
                </a:solidFill>
              </a:defRPr>
            </a:pPr>
            <a:r>
              <a:rPr sz="1500" b="1">
                <a:solidFill>
                  <a:srgbClr val="0B243D"/>
                </a:solidFill>
              </a:rPr>
              <a:t>Hazards may include atmosphere, engulfment, or entrapment</a:t>
            </a:r>
          </a:p>
        </p:txBody>
      </p:sp>
      <p:sp>
        <p:nvSpPr>
          <p:cNvPr id="19" name="">
            <a:extLst xmlns:a="http://schemas.openxmlformats.org/drawingml/2006/main">
              <a:ext uri="{FF2B5EF4-FFF2-40B4-BE49-F238E27FC236}">
                <a16:creationId xmlns:a16="http://schemas.microsoft.com/office/drawing/2014/main" id="{8EE0E048-D1A7-48E4-9E9D-5E2A6B0130C5}"/>
              </a:ext>
            </a:extLst>
          </p:cNvPr>
          <p:cNvSpPr>
            <a:spLocks xmlns:a="http://schemas.openxmlformats.org/drawingml/2006/main" noGrp="1"/>
          </p:cNvSpPr>
          <p:nvPr/>
        </p:nvSpPr>
        <p:spPr>
          <a:xfrm xmlns:a="http://schemas.openxmlformats.org/drawingml/2006/main">
            <a:off x="7200900" y="3905250"/>
            <a:ext cx="171450" cy="171450"/>
          </a:xfrm>
          <a:prstGeom xmlns:a="http://schemas.openxmlformats.org/drawingml/2006/main" prst="rect">
            <a:avLst/>
          </a:prstGeom>
          <a:solidFill xmlns:a="http://schemas.openxmlformats.org/drawingml/2006/main">
            <a:srgbClr val="B42318"/>
          </a:solidFill>
          <a:ln xmlns:a="http://schemas.openxmlformats.org/drawingml/2006/main" w="0">
            <a:noFill/>
            <a:prstDash val="solid"/>
          </a:ln>
        </p:spPr>
      </p:sp>
      <p:sp>
        <p:nvSpPr>
          <p:cNvPr id="20" name="">
            <a:extLst xmlns:a="http://schemas.openxmlformats.org/drawingml/2006/main">
              <a:ext uri="{FF2B5EF4-FFF2-40B4-BE49-F238E27FC236}">
                <a16:creationId xmlns:a16="http://schemas.microsoft.com/office/drawing/2014/main" id="{A27CA34C-9AD1-40D0-8AD0-03E52DD439A0}"/>
              </a:ext>
            </a:extLst>
          </p:cNvPr>
          <p:cNvSpPr>
            <a:spLocks xmlns:a="http://schemas.openxmlformats.org/drawingml/2006/main" noGrp="1"/>
          </p:cNvSpPr>
          <p:nvPr/>
        </p:nvSpPr>
        <p:spPr>
          <a:xfrm xmlns:a="http://schemas.openxmlformats.org/drawingml/2006/main">
            <a:off x="7524750" y="3876675"/>
            <a:ext cx="3143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500" b="1">
                <a:solidFill>
                  <a:srgbClr val="0B243D"/>
                </a:solidFill>
              </a:defRPr>
            </a:pPr>
            <a:r>
              <a:rPr sz="1500" b="1">
                <a:solidFill>
                  <a:srgbClr val="0B243D"/>
                </a:solidFill>
              </a:rPr>
              <a:t>Do not enter unless trained, authorized, and equipped</a:t>
            </a:r>
          </a:p>
        </p:txBody>
      </p:sp>
      <p:sp>
        <p:nvSpPr>
          <p:cNvPr id="21" name="">
            <a:extLst xmlns:a="http://schemas.openxmlformats.org/drawingml/2006/main">
              <a:ext uri="{FF2B5EF4-FFF2-40B4-BE49-F238E27FC236}">
                <a16:creationId xmlns:a16="http://schemas.microsoft.com/office/drawing/2014/main" id="{B2C399B7-E089-4B9F-A170-4692DD91513C}"/>
              </a:ext>
            </a:extLst>
          </p:cNvPr>
          <p:cNvSpPr>
            <a:spLocks xmlns:a="http://schemas.openxmlformats.org/drawingml/2006/main" noGrp="1"/>
          </p:cNvSpPr>
          <p:nvPr/>
        </p:nvSpPr>
        <p:spPr>
          <a:xfrm xmlns:a="http://schemas.openxmlformats.org/drawingml/2006/main">
            <a:off x="7200900" y="5219700"/>
            <a:ext cx="1714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975" b="1">
                <a:solidFill>
                  <a:srgbClr val="5E6B7A"/>
                </a:solidFill>
              </a:defRPr>
            </a:pPr>
            <a:r>
              <a:rPr sz="975" b="1">
                <a:solidFill>
                  <a:srgbClr val="5E6B7A"/>
                </a:solidFill>
              </a:rPr>
              <a:t>Scene 21</a:t>
            </a:r>
          </a:p>
        </p:txBody>
      </p:sp>
      <p:sp>
        <p:nvSpPr>
          <p:cNvPr id="22" name="">
            <a:extLst xmlns:a="http://schemas.openxmlformats.org/drawingml/2006/main">
              <a:ext uri="{FF2B5EF4-FFF2-40B4-BE49-F238E27FC236}">
                <a16:creationId xmlns:a16="http://schemas.microsoft.com/office/drawing/2014/main" id="{82A8F47D-B052-42B0-B69E-F0749A02A43D}"/>
              </a:ext>
            </a:extLst>
          </p:cNvPr>
          <p:cNvSpPr>
            <a:spLocks xmlns:a="http://schemas.openxmlformats.org/drawingml/2006/main" noGrp="1"/>
          </p:cNvSpPr>
          <p:nvPr/>
        </p:nvSpPr>
        <p:spPr>
          <a:xfrm xmlns:a="http://schemas.openxmlformats.org/drawingml/2006/main">
            <a:off x="0" y="6515100"/>
            <a:ext cx="12192000" cy="342900"/>
          </a:xfrm>
          <a:prstGeom xmlns:a="http://schemas.openxmlformats.org/drawingml/2006/main" prst="rect">
            <a:avLst/>
          </a:prstGeom>
          <a:solidFill xmlns:a="http://schemas.openxmlformats.org/drawingml/2006/main">
            <a:srgbClr val="0B243D"/>
          </a:solidFill>
          <a:ln xmlns:a="http://schemas.openxmlformats.org/drawingml/2006/main" w="0">
            <a:noFill/>
            <a:prstDash val="solid"/>
          </a:ln>
        </p:spPr>
      </p:sp>
      <p:sp>
        <p:nvSpPr>
          <p:cNvPr id="23" name="">
            <a:extLst xmlns:a="http://schemas.openxmlformats.org/drawingml/2006/main">
              <a:ext uri="{FF2B5EF4-FFF2-40B4-BE49-F238E27FC236}">
                <a16:creationId xmlns:a16="http://schemas.microsoft.com/office/drawing/2014/main" id="{B11E19A4-12C4-4F81-A64D-A9A5726F1EE9}"/>
              </a:ext>
            </a:extLst>
          </p:cNvPr>
          <p:cNvSpPr>
            <a:spLocks xmlns:a="http://schemas.openxmlformats.org/drawingml/2006/main" noGrp="1"/>
          </p:cNvSpPr>
          <p:nvPr/>
        </p:nvSpPr>
        <p:spPr>
          <a:xfrm xmlns:a="http://schemas.openxmlformats.org/drawingml/2006/main">
            <a:off x="533400" y="6600825"/>
            <a:ext cx="3429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975" b="1">
                <a:solidFill>
                  <a:srgbClr val="FFFFFF"/>
                </a:solidFill>
              </a:defRPr>
            </a:pPr>
            <a:r>
              <a:rPr sz="975" b="1">
                <a:solidFill>
                  <a:srgbClr val="FFFFFF"/>
                </a:solidFill>
              </a:rPr>
              <a:t>PAL Environmental Services</a:t>
            </a:r>
          </a:p>
        </p:txBody>
      </p:sp>
      <p:sp>
        <p:nvSpPr>
          <p:cNvPr id="24" name="">
            <a:extLst xmlns:a="http://schemas.openxmlformats.org/drawingml/2006/main">
              <a:ext uri="{FF2B5EF4-FFF2-40B4-BE49-F238E27FC236}">
                <a16:creationId xmlns:a16="http://schemas.microsoft.com/office/drawing/2014/main" id="{4D197AE4-D155-4CD9-8559-909B3CA94F9F}"/>
              </a:ext>
            </a:extLst>
          </p:cNvPr>
          <p:cNvSpPr>
            <a:spLocks xmlns:a="http://schemas.openxmlformats.org/drawingml/2006/main" noGrp="1"/>
          </p:cNvSpPr>
          <p:nvPr/>
        </p:nvSpPr>
        <p:spPr>
          <a:xfrm xmlns:a="http://schemas.openxmlformats.org/drawingml/2006/main">
            <a:off x="9620250" y="6600825"/>
            <a:ext cx="2095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900">
                <a:solidFill>
                  <a:srgbClr val="DDEAF5"/>
                </a:solidFill>
              </a:defRPr>
            </a:pPr>
            <a:r>
              <a:rPr sz="900">
                <a:solidFill>
                  <a:srgbClr val="DDEAF5"/>
                </a:solidFill>
              </a:rPr>
              <a:t>Employee Orientation  |  21</a:t>
            </a:r>
          </a:p>
        </p:txBody>
      </p:sp>
    </p:spTree>
    <p:extLst>
      <p:ext uri="{BB962C8B-B14F-4D97-AF65-F5344CB8AC3E}">
        <p14:creationId xmlns:p14="http://schemas.microsoft.com/office/powerpoint/2010/main" val="1061640416"/>
      </p:ext>
    </p:extLst>
  </p:cSld>
</p:sld>
</file>

<file path=ppt/slides/slide2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B9F369AE-3407-400D-9776-4EB27A9A93F3}"/>
              </a:ext>
            </a:extLst>
          </p:cNvPr>
          <p:cNvSpPr>
            <a:spLocks xmlns:a="http://schemas.openxmlformats.org/drawingml/2006/main" noGrp="1"/>
          </p:cNvSpPr>
          <p:nvPr/>
        </p:nvSpPr>
        <p:spPr>
          <a:xfrm xmlns:a="http://schemas.openxmlformats.org/drawingml/2006/main">
            <a:off x="0" y="0"/>
            <a:ext cx="12192000" cy="266700"/>
          </a:xfrm>
          <a:prstGeom xmlns:a="http://schemas.openxmlformats.org/drawingml/2006/main" prst="rect">
            <a:avLst/>
          </a:prstGeom>
          <a:solidFill xmlns:a="http://schemas.openxmlformats.org/drawingml/2006/main">
            <a:srgbClr val="0B243D"/>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5302BAC8-05E7-4B89-ADDF-12A7844F5125}"/>
              </a:ext>
            </a:extLst>
          </p:cNvPr>
          <p:cNvSpPr>
            <a:spLocks xmlns:a="http://schemas.openxmlformats.org/drawingml/2006/main" noGrp="1"/>
          </p:cNvSpPr>
          <p:nvPr/>
        </p:nvSpPr>
        <p:spPr>
          <a:xfrm xmlns:a="http://schemas.openxmlformats.org/drawingml/2006/main">
            <a:off x="0" y="266700"/>
            <a:ext cx="171450" cy="6248400"/>
          </a:xfrm>
          <a:prstGeom xmlns:a="http://schemas.openxmlformats.org/drawingml/2006/main" prst="rect">
            <a:avLst/>
          </a:prstGeom>
          <a:solidFill xmlns:a="http://schemas.openxmlformats.org/drawingml/2006/main">
            <a:srgbClr val="66C43A"/>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CD35CD3D-B5CC-4664-96EC-0EC41B8291B1}"/>
              </a:ext>
            </a:extLst>
          </p:cNvPr>
          <p:cNvSpPr>
            <a:spLocks xmlns:a="http://schemas.openxmlformats.org/drawingml/2006/main" noGrp="1"/>
          </p:cNvSpPr>
          <p:nvPr/>
        </p:nvSpPr>
        <p:spPr>
          <a:xfrm xmlns:a="http://schemas.openxmlformats.org/drawingml/2006/main">
            <a:off x="533400" y="666750"/>
            <a:ext cx="44767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050" b="1">
                <a:solidFill>
                  <a:srgbClr val="5E6B7A"/>
                </a:solidFill>
              </a:defRPr>
            </a:pPr>
            <a:r>
              <a:rPr sz="1050" b="1">
                <a:solidFill>
                  <a:srgbClr val="5E6B7A"/>
                </a:solidFill>
              </a:rPr>
              <a:t>ASBESTOS, LEAD, AND SILICA</a:t>
            </a:r>
          </a:p>
        </p:txBody>
      </p:sp>
      <p:sp>
        <p:nvSpPr>
          <p:cNvPr id="4" name="">
            <a:extLst xmlns:a="http://schemas.openxmlformats.org/drawingml/2006/main">
              <a:ext uri="{FF2B5EF4-FFF2-40B4-BE49-F238E27FC236}">
                <a16:creationId xmlns:a16="http://schemas.microsoft.com/office/drawing/2014/main" id="{DBEFF38E-8DAD-4DAB-BACD-EE72E2E9462A}"/>
              </a:ext>
            </a:extLst>
          </p:cNvPr>
          <p:cNvSpPr>
            <a:spLocks xmlns:a="http://schemas.openxmlformats.org/drawingml/2006/main" noGrp="1"/>
          </p:cNvSpPr>
          <p:nvPr/>
        </p:nvSpPr>
        <p:spPr>
          <a:xfrm xmlns:a="http://schemas.openxmlformats.org/drawingml/2006/main">
            <a:off x="533400" y="1047750"/>
            <a:ext cx="5524500" cy="1428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3150" b="1">
                <a:solidFill>
                  <a:srgbClr val="0B243D"/>
                </a:solidFill>
              </a:defRPr>
            </a:pPr>
            <a:r>
              <a:rPr sz="3150" b="1">
                <a:solidFill>
                  <a:srgbClr val="0B243D"/>
                </a:solidFill>
              </a:rPr>
              <a:t>Specialized hazards require authorized controls.</a:t>
            </a:r>
          </a:p>
        </p:txBody>
      </p:sp>
      <p:sp>
        <p:nvSpPr>
          <p:cNvPr id="5" name="">
            <a:extLst xmlns:a="http://schemas.openxmlformats.org/drawingml/2006/main">
              <a:ext uri="{FF2B5EF4-FFF2-40B4-BE49-F238E27FC236}">
                <a16:creationId xmlns:a16="http://schemas.microsoft.com/office/drawing/2014/main" id="{7F225CB4-896B-4220-B973-AD47F1A0D3C1}"/>
              </a:ext>
            </a:extLst>
          </p:cNvPr>
          <p:cNvSpPr>
            <a:spLocks xmlns:a="http://schemas.openxmlformats.org/drawingml/2006/main" noGrp="1"/>
          </p:cNvSpPr>
          <p:nvPr/>
        </p:nvSpPr>
        <p:spPr>
          <a:xfrm xmlns:a="http://schemas.openxmlformats.org/drawingml/2006/main">
            <a:off x="609600" y="2990850"/>
            <a:ext cx="114300" cy="114300"/>
          </a:xfrm>
          <a:prstGeom xmlns:a="http://schemas.openxmlformats.org/drawingml/2006/main" prst="rect">
            <a:avLst/>
          </a:prstGeom>
          <a:solidFill xmlns:a="http://schemas.openxmlformats.org/drawingml/2006/main">
            <a:srgbClr val="66C43A"/>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EA92CAF6-8885-4E20-A93B-6084C20E410B}"/>
              </a:ext>
            </a:extLst>
          </p:cNvPr>
          <p:cNvSpPr>
            <a:spLocks xmlns:a="http://schemas.openxmlformats.org/drawingml/2006/main" noGrp="1"/>
          </p:cNvSpPr>
          <p:nvPr/>
        </p:nvSpPr>
        <p:spPr>
          <a:xfrm xmlns:a="http://schemas.openxmlformats.org/drawingml/2006/main">
            <a:off x="914400" y="2914650"/>
            <a:ext cx="53340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800" b="1">
                <a:solidFill>
                  <a:srgbClr val="12233A"/>
                </a:solidFill>
              </a:defRPr>
            </a:pPr>
            <a:r>
              <a:rPr sz="1800" b="1">
                <a:solidFill>
                  <a:srgbClr val="12233A"/>
                </a:solidFill>
              </a:rPr>
              <a:t>Only trained authorized personnel may disturb asbestos or lead</a:t>
            </a:r>
          </a:p>
        </p:txBody>
      </p:sp>
      <p:sp>
        <p:nvSpPr>
          <p:cNvPr id="7" name="">
            <a:extLst xmlns:a="http://schemas.openxmlformats.org/drawingml/2006/main">
              <a:ext uri="{FF2B5EF4-FFF2-40B4-BE49-F238E27FC236}">
                <a16:creationId xmlns:a16="http://schemas.microsoft.com/office/drawing/2014/main" id="{71B92515-D59B-48B2-A9C0-7BB25E71EAAF}"/>
              </a:ext>
            </a:extLst>
          </p:cNvPr>
          <p:cNvSpPr>
            <a:spLocks xmlns:a="http://schemas.openxmlformats.org/drawingml/2006/main" noGrp="1"/>
          </p:cNvSpPr>
          <p:nvPr/>
        </p:nvSpPr>
        <p:spPr>
          <a:xfrm xmlns:a="http://schemas.openxmlformats.org/drawingml/2006/main">
            <a:off x="609600" y="3600450"/>
            <a:ext cx="114300" cy="114300"/>
          </a:xfrm>
          <a:prstGeom xmlns:a="http://schemas.openxmlformats.org/drawingml/2006/main" prst="rect">
            <a:avLst/>
          </a:prstGeom>
          <a:solidFill xmlns:a="http://schemas.openxmlformats.org/drawingml/2006/main">
            <a:srgbClr val="66C43A"/>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5EBF628E-B77E-4E29-A01E-57683A3EDD7C}"/>
              </a:ext>
            </a:extLst>
          </p:cNvPr>
          <p:cNvSpPr>
            <a:spLocks xmlns:a="http://schemas.openxmlformats.org/drawingml/2006/main" noGrp="1"/>
          </p:cNvSpPr>
          <p:nvPr/>
        </p:nvSpPr>
        <p:spPr>
          <a:xfrm xmlns:a="http://schemas.openxmlformats.org/drawingml/2006/main">
            <a:off x="914400" y="3524250"/>
            <a:ext cx="53340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800" b="0">
                <a:solidFill>
                  <a:srgbClr val="12233A"/>
                </a:solidFill>
              </a:defRPr>
            </a:pPr>
            <a:r>
              <a:rPr sz="1800" b="0">
                <a:solidFill>
                  <a:srgbClr val="12233A"/>
                </a:solidFill>
              </a:rPr>
              <a:t>Follow the task-specific silica exposure control plan</a:t>
            </a:r>
          </a:p>
        </p:txBody>
      </p:sp>
      <p:sp>
        <p:nvSpPr>
          <p:cNvPr id="9" name="">
            <a:extLst xmlns:a="http://schemas.openxmlformats.org/drawingml/2006/main">
              <a:ext uri="{FF2B5EF4-FFF2-40B4-BE49-F238E27FC236}">
                <a16:creationId xmlns:a16="http://schemas.microsoft.com/office/drawing/2014/main" id="{C39820ED-E8C1-4BA8-A56A-B0615AFEEE75}"/>
              </a:ext>
            </a:extLst>
          </p:cNvPr>
          <p:cNvSpPr>
            <a:spLocks xmlns:a="http://schemas.openxmlformats.org/drawingml/2006/main" noGrp="1"/>
          </p:cNvSpPr>
          <p:nvPr/>
        </p:nvSpPr>
        <p:spPr>
          <a:xfrm xmlns:a="http://schemas.openxmlformats.org/drawingml/2006/main">
            <a:off x="609600" y="4210050"/>
            <a:ext cx="114300" cy="114300"/>
          </a:xfrm>
          <a:prstGeom xmlns:a="http://schemas.openxmlformats.org/drawingml/2006/main" prst="rect">
            <a:avLst/>
          </a:prstGeom>
          <a:solidFill xmlns:a="http://schemas.openxmlformats.org/drawingml/2006/main">
            <a:srgbClr val="66C43A"/>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91D5D073-0DAF-4661-907C-55B2F3878B6C}"/>
              </a:ext>
            </a:extLst>
          </p:cNvPr>
          <p:cNvSpPr>
            <a:spLocks xmlns:a="http://schemas.openxmlformats.org/drawingml/2006/main" noGrp="1"/>
          </p:cNvSpPr>
          <p:nvPr/>
        </p:nvSpPr>
        <p:spPr>
          <a:xfrm xmlns:a="http://schemas.openxmlformats.org/drawingml/2006/main">
            <a:off x="914400" y="4133850"/>
            <a:ext cx="53340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800" b="0">
                <a:solidFill>
                  <a:srgbClr val="12233A"/>
                </a:solidFill>
              </a:defRPr>
            </a:pPr>
            <a:r>
              <a:rPr sz="1800" b="0">
                <a:solidFill>
                  <a:srgbClr val="12233A"/>
                </a:solidFill>
              </a:rPr>
              <a:t>Use wet methods, HEPA vacuums, dust collection, and PPE as required</a:t>
            </a:r>
          </a:p>
        </p:txBody>
      </p:sp>
      <p:sp>
        <p:nvSpPr>
          <p:cNvPr id="11" name="">
            <a:extLst xmlns:a="http://schemas.openxmlformats.org/drawingml/2006/main">
              <a:ext uri="{FF2B5EF4-FFF2-40B4-BE49-F238E27FC236}">
                <a16:creationId xmlns:a16="http://schemas.microsoft.com/office/drawing/2014/main" id="{5002D61F-5A9A-49F4-B13E-424A00F13DDC}"/>
              </a:ext>
            </a:extLst>
          </p:cNvPr>
          <p:cNvSpPr>
            <a:spLocks xmlns:a="http://schemas.openxmlformats.org/drawingml/2006/main" noGrp="1"/>
          </p:cNvSpPr>
          <p:nvPr/>
        </p:nvSpPr>
        <p:spPr>
          <a:xfrm xmlns:a="http://schemas.openxmlformats.org/drawingml/2006/main">
            <a:off x="6858000" y="704850"/>
            <a:ext cx="4495800" cy="4953000"/>
          </a:xfrm>
          <a:prstGeom xmlns:a="http://schemas.openxmlformats.org/drawingml/2006/main" prst="rect">
            <a:avLst/>
          </a:prstGeom>
          <a:solidFill xmlns:a="http://schemas.openxmlformats.org/drawingml/2006/main">
            <a:srgbClr val="F3F6F8"/>
          </a:solidFill>
          <a:ln xmlns:a="http://schemas.openxmlformats.org/drawingml/2006/main" w="9525">
            <a:solidFill>
              <a:srgbClr val="D8E1EA"/>
            </a:solidFill>
            <a:prstDash val="solid"/>
          </a:ln>
        </p:spPr>
      </p:sp>
      <p:sp>
        <p:nvSpPr>
          <p:cNvPr id="12" name="">
            <a:extLst xmlns:a="http://schemas.openxmlformats.org/drawingml/2006/main">
              <a:ext uri="{FF2B5EF4-FFF2-40B4-BE49-F238E27FC236}">
                <a16:creationId xmlns:a16="http://schemas.microsoft.com/office/drawing/2014/main" id="{5CFB4043-877D-4477-876B-3D8455A6DA10}"/>
              </a:ext>
            </a:extLst>
          </p:cNvPr>
          <p:cNvSpPr>
            <a:spLocks xmlns:a="http://schemas.openxmlformats.org/drawingml/2006/main" noGrp="1"/>
          </p:cNvSpPr>
          <p:nvPr/>
        </p:nvSpPr>
        <p:spPr>
          <a:xfrm xmlns:a="http://schemas.openxmlformats.org/drawingml/2006/main">
            <a:off x="6858000" y="704850"/>
            <a:ext cx="4495800" cy="114300"/>
          </a:xfrm>
          <a:prstGeom xmlns:a="http://schemas.openxmlformats.org/drawingml/2006/main" prst="rect">
            <a:avLst/>
          </a:prstGeom>
          <a:solidFill xmlns:a="http://schemas.openxmlformats.org/drawingml/2006/main">
            <a:srgbClr val="66C43A"/>
          </a:solidFill>
          <a:ln xmlns:a="http://schemas.openxmlformats.org/drawingml/2006/main" w="0">
            <a:noFill/>
            <a:prstDash val="solid"/>
          </a:ln>
        </p:spPr>
      </p:sp>
      <p:sp>
        <p:nvSpPr>
          <p:cNvPr id="13" name="">
            <a:extLst xmlns:a="http://schemas.openxmlformats.org/drawingml/2006/main">
              <a:ext uri="{FF2B5EF4-FFF2-40B4-BE49-F238E27FC236}">
                <a16:creationId xmlns:a16="http://schemas.microsoft.com/office/drawing/2014/main" id="{E8967692-3B98-4A06-8E75-FBA3679DCB83}"/>
              </a:ext>
            </a:extLst>
          </p:cNvPr>
          <p:cNvSpPr>
            <a:spLocks xmlns:a="http://schemas.openxmlformats.org/drawingml/2006/main" noGrp="1"/>
          </p:cNvSpPr>
          <p:nvPr/>
        </p:nvSpPr>
        <p:spPr>
          <a:xfrm xmlns:a="http://schemas.openxmlformats.org/drawingml/2006/main">
            <a:off x="7200900" y="1123950"/>
            <a:ext cx="1714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050" b="1">
                <a:solidFill>
                  <a:srgbClr val="5E6B7A"/>
                </a:solidFill>
              </a:defRPr>
            </a:pPr>
            <a:r>
              <a:rPr sz="1050" b="1">
                <a:solidFill>
                  <a:srgbClr val="5E6B7A"/>
                </a:solidFill>
              </a:rPr>
              <a:t>VIDEO VISUAL</a:t>
            </a:r>
          </a:p>
        </p:txBody>
      </p:sp>
      <p:sp>
        <p:nvSpPr>
          <p:cNvPr id="14" name="">
            <a:extLst xmlns:a="http://schemas.openxmlformats.org/drawingml/2006/main">
              <a:ext uri="{FF2B5EF4-FFF2-40B4-BE49-F238E27FC236}">
                <a16:creationId xmlns:a16="http://schemas.microsoft.com/office/drawing/2014/main" id="{3FBB58C5-D282-4F7A-818A-1CEADC1127DF}"/>
              </a:ext>
            </a:extLst>
          </p:cNvPr>
          <p:cNvSpPr>
            <a:spLocks xmlns:a="http://schemas.openxmlformats.org/drawingml/2006/main" noGrp="1"/>
          </p:cNvSpPr>
          <p:nvPr/>
        </p:nvSpPr>
        <p:spPr>
          <a:xfrm xmlns:a="http://schemas.openxmlformats.org/drawingml/2006/main">
            <a:off x="7200900" y="1543050"/>
            <a:ext cx="3810000" cy="1047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800" b="1">
                <a:solidFill>
                  <a:srgbClr val="12233A"/>
                </a:solidFill>
              </a:defRPr>
            </a:pPr>
            <a:r>
              <a:rPr sz="1800" b="1">
                <a:solidFill>
                  <a:srgbClr val="12233A"/>
                </a:solidFill>
              </a:rPr>
              <a:t>Controlled regulated area with HEPA vacuum and wet dust control.</a:t>
            </a:r>
          </a:p>
        </p:txBody>
      </p:sp>
      <p:sp>
        <p:nvSpPr>
          <p:cNvPr id="15" name="">
            <a:extLst xmlns:a="http://schemas.openxmlformats.org/drawingml/2006/main">
              <a:ext uri="{FF2B5EF4-FFF2-40B4-BE49-F238E27FC236}">
                <a16:creationId xmlns:a16="http://schemas.microsoft.com/office/drawing/2014/main" id="{72726C4F-7A70-4935-9494-39F71722B108}"/>
              </a:ext>
            </a:extLst>
          </p:cNvPr>
          <p:cNvSpPr>
            <a:spLocks xmlns:a="http://schemas.openxmlformats.org/drawingml/2006/main" noGrp="1"/>
          </p:cNvSpPr>
          <p:nvPr/>
        </p:nvSpPr>
        <p:spPr>
          <a:xfrm xmlns:a="http://schemas.openxmlformats.org/drawingml/2006/main">
            <a:off x="7200900" y="3028950"/>
            <a:ext cx="171450" cy="171450"/>
          </a:xfrm>
          <a:prstGeom xmlns:a="http://schemas.openxmlformats.org/drawingml/2006/main" prst="rect">
            <a:avLst/>
          </a:prstGeom>
          <a:solidFill xmlns:a="http://schemas.openxmlformats.org/drawingml/2006/main">
            <a:srgbClr val="66C43A"/>
          </a:solidFill>
          <a:ln xmlns:a="http://schemas.openxmlformats.org/drawingml/2006/main" w="0">
            <a:noFill/>
            <a:prstDash val="solid"/>
          </a:ln>
        </p:spPr>
      </p:sp>
      <p:sp>
        <p:nvSpPr>
          <p:cNvPr id="16" name="">
            <a:extLst xmlns:a="http://schemas.openxmlformats.org/drawingml/2006/main">
              <a:ext uri="{FF2B5EF4-FFF2-40B4-BE49-F238E27FC236}">
                <a16:creationId xmlns:a16="http://schemas.microsoft.com/office/drawing/2014/main" id="{6B51D62C-EC1F-42F6-A0D4-B3F46CF489CD}"/>
              </a:ext>
            </a:extLst>
          </p:cNvPr>
          <p:cNvSpPr>
            <a:spLocks xmlns:a="http://schemas.openxmlformats.org/drawingml/2006/main" noGrp="1"/>
          </p:cNvSpPr>
          <p:nvPr/>
        </p:nvSpPr>
        <p:spPr>
          <a:xfrm xmlns:a="http://schemas.openxmlformats.org/drawingml/2006/main">
            <a:off x="7524750" y="3000375"/>
            <a:ext cx="3143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500" b="1">
                <a:solidFill>
                  <a:srgbClr val="0B243D"/>
                </a:solidFill>
              </a:defRPr>
            </a:pPr>
            <a:r>
              <a:rPr sz="1500" b="1">
                <a:solidFill>
                  <a:srgbClr val="0B243D"/>
                </a:solidFill>
              </a:rPr>
              <a:t>Only trained authorized personnel may disturb asbestos or lead</a:t>
            </a:r>
          </a:p>
        </p:txBody>
      </p:sp>
      <p:sp>
        <p:nvSpPr>
          <p:cNvPr id="17" name="">
            <a:extLst xmlns:a="http://schemas.openxmlformats.org/drawingml/2006/main">
              <a:ext uri="{FF2B5EF4-FFF2-40B4-BE49-F238E27FC236}">
                <a16:creationId xmlns:a16="http://schemas.microsoft.com/office/drawing/2014/main" id="{41356A63-9F4E-4713-A7C8-088B81661716}"/>
              </a:ext>
            </a:extLst>
          </p:cNvPr>
          <p:cNvSpPr>
            <a:spLocks xmlns:a="http://schemas.openxmlformats.org/drawingml/2006/main" noGrp="1"/>
          </p:cNvSpPr>
          <p:nvPr/>
        </p:nvSpPr>
        <p:spPr>
          <a:xfrm xmlns:a="http://schemas.openxmlformats.org/drawingml/2006/main">
            <a:off x="7200900" y="3467100"/>
            <a:ext cx="171450" cy="171450"/>
          </a:xfrm>
          <a:prstGeom xmlns:a="http://schemas.openxmlformats.org/drawingml/2006/main" prst="rect">
            <a:avLst/>
          </a:prstGeom>
          <a:solidFill xmlns:a="http://schemas.openxmlformats.org/drawingml/2006/main">
            <a:srgbClr val="66C43A"/>
          </a:solidFill>
          <a:ln xmlns:a="http://schemas.openxmlformats.org/drawingml/2006/main" w="0">
            <a:noFill/>
            <a:prstDash val="solid"/>
          </a:ln>
        </p:spPr>
      </p:sp>
      <p:sp>
        <p:nvSpPr>
          <p:cNvPr id="18" name="">
            <a:extLst xmlns:a="http://schemas.openxmlformats.org/drawingml/2006/main">
              <a:ext uri="{FF2B5EF4-FFF2-40B4-BE49-F238E27FC236}">
                <a16:creationId xmlns:a16="http://schemas.microsoft.com/office/drawing/2014/main" id="{30EC0EAA-C2B2-48BF-91D0-9B5BF5FC5CAF}"/>
              </a:ext>
            </a:extLst>
          </p:cNvPr>
          <p:cNvSpPr>
            <a:spLocks xmlns:a="http://schemas.openxmlformats.org/drawingml/2006/main" noGrp="1"/>
          </p:cNvSpPr>
          <p:nvPr/>
        </p:nvSpPr>
        <p:spPr>
          <a:xfrm xmlns:a="http://schemas.openxmlformats.org/drawingml/2006/main">
            <a:off x="7524750" y="3438525"/>
            <a:ext cx="3143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500" b="1">
                <a:solidFill>
                  <a:srgbClr val="0B243D"/>
                </a:solidFill>
              </a:defRPr>
            </a:pPr>
            <a:r>
              <a:rPr sz="1500" b="1">
                <a:solidFill>
                  <a:srgbClr val="0B243D"/>
                </a:solidFill>
              </a:rPr>
              <a:t>Follow the task-specific silica exposure control plan</a:t>
            </a:r>
          </a:p>
        </p:txBody>
      </p:sp>
      <p:sp>
        <p:nvSpPr>
          <p:cNvPr id="19" name="">
            <a:extLst xmlns:a="http://schemas.openxmlformats.org/drawingml/2006/main">
              <a:ext uri="{FF2B5EF4-FFF2-40B4-BE49-F238E27FC236}">
                <a16:creationId xmlns:a16="http://schemas.microsoft.com/office/drawing/2014/main" id="{641D380D-4924-40CE-A98B-3C5F7324CF8C}"/>
              </a:ext>
            </a:extLst>
          </p:cNvPr>
          <p:cNvSpPr>
            <a:spLocks xmlns:a="http://schemas.openxmlformats.org/drawingml/2006/main" noGrp="1"/>
          </p:cNvSpPr>
          <p:nvPr/>
        </p:nvSpPr>
        <p:spPr>
          <a:xfrm xmlns:a="http://schemas.openxmlformats.org/drawingml/2006/main">
            <a:off x="7200900" y="3905250"/>
            <a:ext cx="171450" cy="171450"/>
          </a:xfrm>
          <a:prstGeom xmlns:a="http://schemas.openxmlformats.org/drawingml/2006/main" prst="rect">
            <a:avLst/>
          </a:prstGeom>
          <a:solidFill xmlns:a="http://schemas.openxmlformats.org/drawingml/2006/main">
            <a:srgbClr val="66C43A"/>
          </a:solidFill>
          <a:ln xmlns:a="http://schemas.openxmlformats.org/drawingml/2006/main" w="0">
            <a:noFill/>
            <a:prstDash val="solid"/>
          </a:ln>
        </p:spPr>
      </p:sp>
      <p:sp>
        <p:nvSpPr>
          <p:cNvPr id="20" name="">
            <a:extLst xmlns:a="http://schemas.openxmlformats.org/drawingml/2006/main">
              <a:ext uri="{FF2B5EF4-FFF2-40B4-BE49-F238E27FC236}">
                <a16:creationId xmlns:a16="http://schemas.microsoft.com/office/drawing/2014/main" id="{BAA46436-9066-4C75-B80B-A4BF80916989}"/>
              </a:ext>
            </a:extLst>
          </p:cNvPr>
          <p:cNvSpPr>
            <a:spLocks xmlns:a="http://schemas.openxmlformats.org/drawingml/2006/main" noGrp="1"/>
          </p:cNvSpPr>
          <p:nvPr/>
        </p:nvSpPr>
        <p:spPr>
          <a:xfrm xmlns:a="http://schemas.openxmlformats.org/drawingml/2006/main">
            <a:off x="7524750" y="3876675"/>
            <a:ext cx="3143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500" b="1">
                <a:solidFill>
                  <a:srgbClr val="0B243D"/>
                </a:solidFill>
              </a:defRPr>
            </a:pPr>
            <a:r>
              <a:rPr sz="1500" b="1">
                <a:solidFill>
                  <a:srgbClr val="0B243D"/>
                </a:solidFill>
              </a:rPr>
              <a:t>Use wet methods, HEPA vacuums, dust collection, and PPE as required</a:t>
            </a:r>
          </a:p>
        </p:txBody>
      </p:sp>
      <p:sp>
        <p:nvSpPr>
          <p:cNvPr id="21" name="">
            <a:extLst xmlns:a="http://schemas.openxmlformats.org/drawingml/2006/main">
              <a:ext uri="{FF2B5EF4-FFF2-40B4-BE49-F238E27FC236}">
                <a16:creationId xmlns:a16="http://schemas.microsoft.com/office/drawing/2014/main" id="{557ECEEF-7E89-4F89-950F-32541FBF9814}"/>
              </a:ext>
            </a:extLst>
          </p:cNvPr>
          <p:cNvSpPr>
            <a:spLocks xmlns:a="http://schemas.openxmlformats.org/drawingml/2006/main" noGrp="1"/>
          </p:cNvSpPr>
          <p:nvPr/>
        </p:nvSpPr>
        <p:spPr>
          <a:xfrm xmlns:a="http://schemas.openxmlformats.org/drawingml/2006/main">
            <a:off x="7200900" y="5219700"/>
            <a:ext cx="1714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975" b="1">
                <a:solidFill>
                  <a:srgbClr val="5E6B7A"/>
                </a:solidFill>
              </a:defRPr>
            </a:pPr>
            <a:r>
              <a:rPr sz="975" b="1">
                <a:solidFill>
                  <a:srgbClr val="5E6B7A"/>
                </a:solidFill>
              </a:rPr>
              <a:t>Scene 22</a:t>
            </a:r>
          </a:p>
        </p:txBody>
      </p:sp>
      <p:sp>
        <p:nvSpPr>
          <p:cNvPr id="22" name="">
            <a:extLst xmlns:a="http://schemas.openxmlformats.org/drawingml/2006/main">
              <a:ext uri="{FF2B5EF4-FFF2-40B4-BE49-F238E27FC236}">
                <a16:creationId xmlns:a16="http://schemas.microsoft.com/office/drawing/2014/main" id="{1919FE51-7CCB-4D3F-997B-00F469330106}"/>
              </a:ext>
            </a:extLst>
          </p:cNvPr>
          <p:cNvSpPr>
            <a:spLocks xmlns:a="http://schemas.openxmlformats.org/drawingml/2006/main" noGrp="1"/>
          </p:cNvSpPr>
          <p:nvPr/>
        </p:nvSpPr>
        <p:spPr>
          <a:xfrm xmlns:a="http://schemas.openxmlformats.org/drawingml/2006/main">
            <a:off x="0" y="6515100"/>
            <a:ext cx="12192000" cy="342900"/>
          </a:xfrm>
          <a:prstGeom xmlns:a="http://schemas.openxmlformats.org/drawingml/2006/main" prst="rect">
            <a:avLst/>
          </a:prstGeom>
          <a:solidFill xmlns:a="http://schemas.openxmlformats.org/drawingml/2006/main">
            <a:srgbClr val="0B243D"/>
          </a:solidFill>
          <a:ln xmlns:a="http://schemas.openxmlformats.org/drawingml/2006/main" w="0">
            <a:noFill/>
            <a:prstDash val="solid"/>
          </a:ln>
        </p:spPr>
      </p:sp>
      <p:sp>
        <p:nvSpPr>
          <p:cNvPr id="23" name="">
            <a:extLst xmlns:a="http://schemas.openxmlformats.org/drawingml/2006/main">
              <a:ext uri="{FF2B5EF4-FFF2-40B4-BE49-F238E27FC236}">
                <a16:creationId xmlns:a16="http://schemas.microsoft.com/office/drawing/2014/main" id="{B00B1BED-13A8-45E9-8A36-66516CD212E2}"/>
              </a:ext>
            </a:extLst>
          </p:cNvPr>
          <p:cNvSpPr>
            <a:spLocks xmlns:a="http://schemas.openxmlformats.org/drawingml/2006/main" noGrp="1"/>
          </p:cNvSpPr>
          <p:nvPr/>
        </p:nvSpPr>
        <p:spPr>
          <a:xfrm xmlns:a="http://schemas.openxmlformats.org/drawingml/2006/main">
            <a:off x="533400" y="6600825"/>
            <a:ext cx="3429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975" b="1">
                <a:solidFill>
                  <a:srgbClr val="FFFFFF"/>
                </a:solidFill>
              </a:defRPr>
            </a:pPr>
            <a:r>
              <a:rPr sz="975" b="1">
                <a:solidFill>
                  <a:srgbClr val="FFFFFF"/>
                </a:solidFill>
              </a:rPr>
              <a:t>PAL Environmental Services</a:t>
            </a:r>
          </a:p>
        </p:txBody>
      </p:sp>
      <p:sp>
        <p:nvSpPr>
          <p:cNvPr id="24" name="">
            <a:extLst xmlns:a="http://schemas.openxmlformats.org/drawingml/2006/main">
              <a:ext uri="{FF2B5EF4-FFF2-40B4-BE49-F238E27FC236}">
                <a16:creationId xmlns:a16="http://schemas.microsoft.com/office/drawing/2014/main" id="{5FBCF459-AE3A-4047-994C-BF558F505725}"/>
              </a:ext>
            </a:extLst>
          </p:cNvPr>
          <p:cNvSpPr>
            <a:spLocks xmlns:a="http://schemas.openxmlformats.org/drawingml/2006/main" noGrp="1"/>
          </p:cNvSpPr>
          <p:nvPr/>
        </p:nvSpPr>
        <p:spPr>
          <a:xfrm xmlns:a="http://schemas.openxmlformats.org/drawingml/2006/main">
            <a:off x="9620250" y="6600825"/>
            <a:ext cx="2095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900">
                <a:solidFill>
                  <a:srgbClr val="DDEAF5"/>
                </a:solidFill>
              </a:defRPr>
            </a:pPr>
            <a:r>
              <a:rPr sz="900">
                <a:solidFill>
                  <a:srgbClr val="DDEAF5"/>
                </a:solidFill>
              </a:rPr>
              <a:t>Employee Orientation  |  22</a:t>
            </a:r>
          </a:p>
        </p:txBody>
      </p:sp>
    </p:spTree>
    <p:extLst>
      <p:ext uri="{BB962C8B-B14F-4D97-AF65-F5344CB8AC3E}">
        <p14:creationId xmlns:p14="http://schemas.microsoft.com/office/powerpoint/2010/main" val="1363306470"/>
      </p:ext>
    </p:extLst>
  </p:cSld>
</p:sld>
</file>

<file path=ppt/slides/slide2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A3F5F30E-4DFE-48D6-ABA3-021F967E0285}"/>
              </a:ext>
            </a:extLst>
          </p:cNvPr>
          <p:cNvSpPr>
            <a:spLocks xmlns:a="http://schemas.openxmlformats.org/drawingml/2006/main" noGrp="1"/>
          </p:cNvSpPr>
          <p:nvPr/>
        </p:nvSpPr>
        <p:spPr>
          <a:xfrm xmlns:a="http://schemas.openxmlformats.org/drawingml/2006/main">
            <a:off x="0" y="0"/>
            <a:ext cx="12192000" cy="266700"/>
          </a:xfrm>
          <a:prstGeom xmlns:a="http://schemas.openxmlformats.org/drawingml/2006/main" prst="rect">
            <a:avLst/>
          </a:prstGeom>
          <a:solidFill xmlns:a="http://schemas.openxmlformats.org/drawingml/2006/main">
            <a:srgbClr val="0B243D"/>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22F7F47E-EFC5-4A97-89F0-8EC42F8F42BA}"/>
              </a:ext>
            </a:extLst>
          </p:cNvPr>
          <p:cNvSpPr>
            <a:spLocks xmlns:a="http://schemas.openxmlformats.org/drawingml/2006/main" noGrp="1"/>
          </p:cNvSpPr>
          <p:nvPr/>
        </p:nvSpPr>
        <p:spPr>
          <a:xfrm xmlns:a="http://schemas.openxmlformats.org/drawingml/2006/main">
            <a:off x="0" y="266700"/>
            <a:ext cx="171450" cy="6248400"/>
          </a:xfrm>
          <a:prstGeom xmlns:a="http://schemas.openxmlformats.org/drawingml/2006/main" prst="rect">
            <a:avLst/>
          </a:prstGeom>
          <a:solidFill xmlns:a="http://schemas.openxmlformats.org/drawingml/2006/main">
            <a:srgbClr val="66C43A"/>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A203EF3D-00D1-4486-BD19-B414EB6CF684}"/>
              </a:ext>
            </a:extLst>
          </p:cNvPr>
          <p:cNvSpPr>
            <a:spLocks xmlns:a="http://schemas.openxmlformats.org/drawingml/2006/main" noGrp="1"/>
          </p:cNvSpPr>
          <p:nvPr/>
        </p:nvSpPr>
        <p:spPr>
          <a:xfrm xmlns:a="http://schemas.openxmlformats.org/drawingml/2006/main">
            <a:off x="533400" y="666750"/>
            <a:ext cx="44767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050" b="1">
                <a:solidFill>
                  <a:srgbClr val="5E6B7A"/>
                </a:solidFill>
              </a:defRPr>
            </a:pPr>
            <a:r>
              <a:rPr sz="1050" b="1">
                <a:solidFill>
                  <a:srgbClr val="5E6B7A"/>
                </a:solidFill>
              </a:rPr>
              <a:t>ENVIRONMENTAL PROTECTION</a:t>
            </a:r>
          </a:p>
        </p:txBody>
      </p:sp>
      <p:sp>
        <p:nvSpPr>
          <p:cNvPr id="4" name="">
            <a:extLst xmlns:a="http://schemas.openxmlformats.org/drawingml/2006/main">
              <a:ext uri="{FF2B5EF4-FFF2-40B4-BE49-F238E27FC236}">
                <a16:creationId xmlns:a16="http://schemas.microsoft.com/office/drawing/2014/main" id="{C1EC9FA1-5D27-4FB8-8F5D-3B6384BA8091}"/>
              </a:ext>
            </a:extLst>
          </p:cNvPr>
          <p:cNvSpPr>
            <a:spLocks xmlns:a="http://schemas.openxmlformats.org/drawingml/2006/main" noGrp="1"/>
          </p:cNvSpPr>
          <p:nvPr/>
        </p:nvSpPr>
        <p:spPr>
          <a:xfrm xmlns:a="http://schemas.openxmlformats.org/drawingml/2006/main">
            <a:off x="533400" y="1047750"/>
            <a:ext cx="5524500" cy="1428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3150" b="1">
                <a:solidFill>
                  <a:srgbClr val="0B243D"/>
                </a:solidFill>
              </a:defRPr>
            </a:pPr>
            <a:r>
              <a:rPr sz="3150" b="1">
                <a:solidFill>
                  <a:srgbClr val="0B243D"/>
                </a:solidFill>
              </a:rPr>
              <a:t>Regulated waste does not go in the regular dumpster.</a:t>
            </a:r>
          </a:p>
        </p:txBody>
      </p:sp>
      <p:sp>
        <p:nvSpPr>
          <p:cNvPr id="5" name="">
            <a:extLst xmlns:a="http://schemas.openxmlformats.org/drawingml/2006/main">
              <a:ext uri="{FF2B5EF4-FFF2-40B4-BE49-F238E27FC236}">
                <a16:creationId xmlns:a16="http://schemas.microsoft.com/office/drawing/2014/main" id="{2CFCFE57-7A1B-4598-95DF-CAE56FF1EE8B}"/>
              </a:ext>
            </a:extLst>
          </p:cNvPr>
          <p:cNvSpPr>
            <a:spLocks xmlns:a="http://schemas.openxmlformats.org/drawingml/2006/main" noGrp="1"/>
          </p:cNvSpPr>
          <p:nvPr/>
        </p:nvSpPr>
        <p:spPr>
          <a:xfrm xmlns:a="http://schemas.openxmlformats.org/drawingml/2006/main">
            <a:off x="609600" y="2990850"/>
            <a:ext cx="114300" cy="114300"/>
          </a:xfrm>
          <a:prstGeom xmlns:a="http://schemas.openxmlformats.org/drawingml/2006/main" prst="rect">
            <a:avLst/>
          </a:prstGeom>
          <a:solidFill xmlns:a="http://schemas.openxmlformats.org/drawingml/2006/main">
            <a:srgbClr val="66C43A"/>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698E9D26-D21A-4AAD-AEB0-E6C16BFC6D16}"/>
              </a:ext>
            </a:extLst>
          </p:cNvPr>
          <p:cNvSpPr>
            <a:spLocks xmlns:a="http://schemas.openxmlformats.org/drawingml/2006/main" noGrp="1"/>
          </p:cNvSpPr>
          <p:nvPr/>
        </p:nvSpPr>
        <p:spPr>
          <a:xfrm xmlns:a="http://schemas.openxmlformats.org/drawingml/2006/main">
            <a:off x="914400" y="2914650"/>
            <a:ext cx="53340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800" b="1">
                <a:solidFill>
                  <a:srgbClr val="12233A"/>
                </a:solidFill>
              </a:defRPr>
            </a:pPr>
            <a:r>
              <a:rPr sz="1800" b="1">
                <a:solidFill>
                  <a:srgbClr val="12233A"/>
                </a:solidFill>
              </a:rPr>
              <a:t>Use labeled waste streams and closed containers</a:t>
            </a:r>
          </a:p>
        </p:txBody>
      </p:sp>
      <p:sp>
        <p:nvSpPr>
          <p:cNvPr id="7" name="">
            <a:extLst xmlns:a="http://schemas.openxmlformats.org/drawingml/2006/main">
              <a:ext uri="{FF2B5EF4-FFF2-40B4-BE49-F238E27FC236}">
                <a16:creationId xmlns:a16="http://schemas.microsoft.com/office/drawing/2014/main" id="{8922D1A8-CD2F-41AC-B0A4-9EF4A801326C}"/>
              </a:ext>
            </a:extLst>
          </p:cNvPr>
          <p:cNvSpPr>
            <a:spLocks xmlns:a="http://schemas.openxmlformats.org/drawingml/2006/main" noGrp="1"/>
          </p:cNvSpPr>
          <p:nvPr/>
        </p:nvSpPr>
        <p:spPr>
          <a:xfrm xmlns:a="http://schemas.openxmlformats.org/drawingml/2006/main">
            <a:off x="609600" y="3600450"/>
            <a:ext cx="114300" cy="114300"/>
          </a:xfrm>
          <a:prstGeom xmlns:a="http://schemas.openxmlformats.org/drawingml/2006/main" prst="rect">
            <a:avLst/>
          </a:prstGeom>
          <a:solidFill xmlns:a="http://schemas.openxmlformats.org/drawingml/2006/main">
            <a:srgbClr val="66C43A"/>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22178D48-7880-401D-A5AD-1E2BCC2B3361}"/>
              </a:ext>
            </a:extLst>
          </p:cNvPr>
          <p:cNvSpPr>
            <a:spLocks xmlns:a="http://schemas.openxmlformats.org/drawingml/2006/main" noGrp="1"/>
          </p:cNvSpPr>
          <p:nvPr/>
        </p:nvSpPr>
        <p:spPr>
          <a:xfrm xmlns:a="http://schemas.openxmlformats.org/drawingml/2006/main">
            <a:off x="914400" y="3524250"/>
            <a:ext cx="53340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800" b="0">
                <a:solidFill>
                  <a:srgbClr val="12233A"/>
                </a:solidFill>
              </a:defRPr>
            </a:pPr>
            <a:r>
              <a:rPr sz="1800" b="0">
                <a:solidFill>
                  <a:srgbClr val="12233A"/>
                </a:solidFill>
              </a:rPr>
              <a:t>Keep spill kits where waste is generated</a:t>
            </a:r>
          </a:p>
        </p:txBody>
      </p:sp>
      <p:sp>
        <p:nvSpPr>
          <p:cNvPr id="9" name="">
            <a:extLst xmlns:a="http://schemas.openxmlformats.org/drawingml/2006/main">
              <a:ext uri="{FF2B5EF4-FFF2-40B4-BE49-F238E27FC236}">
                <a16:creationId xmlns:a16="http://schemas.microsoft.com/office/drawing/2014/main" id="{8DD318BC-AD74-481E-805C-2D90E1A9606C}"/>
              </a:ext>
            </a:extLst>
          </p:cNvPr>
          <p:cNvSpPr>
            <a:spLocks xmlns:a="http://schemas.openxmlformats.org/drawingml/2006/main" noGrp="1"/>
          </p:cNvSpPr>
          <p:nvPr/>
        </p:nvSpPr>
        <p:spPr>
          <a:xfrm xmlns:a="http://schemas.openxmlformats.org/drawingml/2006/main">
            <a:off x="609600" y="4210050"/>
            <a:ext cx="114300" cy="114300"/>
          </a:xfrm>
          <a:prstGeom xmlns:a="http://schemas.openxmlformats.org/drawingml/2006/main" prst="rect">
            <a:avLst/>
          </a:prstGeom>
          <a:solidFill xmlns:a="http://schemas.openxmlformats.org/drawingml/2006/main">
            <a:srgbClr val="66C43A"/>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C8D1ECE2-E81B-4A9C-9445-F76C47A3202E}"/>
              </a:ext>
            </a:extLst>
          </p:cNvPr>
          <p:cNvSpPr>
            <a:spLocks xmlns:a="http://schemas.openxmlformats.org/drawingml/2006/main" noGrp="1"/>
          </p:cNvSpPr>
          <p:nvPr/>
        </p:nvSpPr>
        <p:spPr>
          <a:xfrm xmlns:a="http://schemas.openxmlformats.org/drawingml/2006/main">
            <a:off x="914400" y="4133850"/>
            <a:ext cx="53340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800" b="0">
                <a:solidFill>
                  <a:srgbClr val="12233A"/>
                </a:solidFill>
              </a:defRPr>
            </a:pPr>
            <a:r>
              <a:rPr sz="1800" b="0">
                <a:solidFill>
                  <a:srgbClr val="12233A"/>
                </a:solidFill>
              </a:rPr>
              <a:t>Ask supervision before disposal when uncertain</a:t>
            </a:r>
          </a:p>
        </p:txBody>
      </p:sp>
      <p:sp>
        <p:nvSpPr>
          <p:cNvPr id="11" name="">
            <a:extLst xmlns:a="http://schemas.openxmlformats.org/drawingml/2006/main">
              <a:ext uri="{FF2B5EF4-FFF2-40B4-BE49-F238E27FC236}">
                <a16:creationId xmlns:a16="http://schemas.microsoft.com/office/drawing/2014/main" id="{D831C107-BF07-4DC1-8F1A-562D43FA4CA2}"/>
              </a:ext>
            </a:extLst>
          </p:cNvPr>
          <p:cNvSpPr>
            <a:spLocks xmlns:a="http://schemas.openxmlformats.org/drawingml/2006/main" noGrp="1"/>
          </p:cNvSpPr>
          <p:nvPr/>
        </p:nvSpPr>
        <p:spPr>
          <a:xfrm xmlns:a="http://schemas.openxmlformats.org/drawingml/2006/main">
            <a:off x="6858000" y="704850"/>
            <a:ext cx="4495800" cy="4953000"/>
          </a:xfrm>
          <a:prstGeom xmlns:a="http://schemas.openxmlformats.org/drawingml/2006/main" prst="rect">
            <a:avLst/>
          </a:prstGeom>
          <a:solidFill xmlns:a="http://schemas.openxmlformats.org/drawingml/2006/main">
            <a:srgbClr val="F3F6F8"/>
          </a:solidFill>
          <a:ln xmlns:a="http://schemas.openxmlformats.org/drawingml/2006/main" w="9525">
            <a:solidFill>
              <a:srgbClr val="D8E1EA"/>
            </a:solidFill>
            <a:prstDash val="solid"/>
          </a:ln>
        </p:spPr>
      </p:sp>
      <p:sp>
        <p:nvSpPr>
          <p:cNvPr id="12" name="">
            <a:extLst xmlns:a="http://schemas.openxmlformats.org/drawingml/2006/main">
              <a:ext uri="{FF2B5EF4-FFF2-40B4-BE49-F238E27FC236}">
                <a16:creationId xmlns:a16="http://schemas.microsoft.com/office/drawing/2014/main" id="{64C534D9-F434-4A7F-8E08-A275C757B361}"/>
              </a:ext>
            </a:extLst>
          </p:cNvPr>
          <p:cNvSpPr>
            <a:spLocks xmlns:a="http://schemas.openxmlformats.org/drawingml/2006/main" noGrp="1"/>
          </p:cNvSpPr>
          <p:nvPr/>
        </p:nvSpPr>
        <p:spPr>
          <a:xfrm xmlns:a="http://schemas.openxmlformats.org/drawingml/2006/main">
            <a:off x="6858000" y="704850"/>
            <a:ext cx="4495800" cy="114300"/>
          </a:xfrm>
          <a:prstGeom xmlns:a="http://schemas.openxmlformats.org/drawingml/2006/main" prst="rect">
            <a:avLst/>
          </a:prstGeom>
          <a:solidFill xmlns:a="http://schemas.openxmlformats.org/drawingml/2006/main">
            <a:srgbClr val="66C43A"/>
          </a:solidFill>
          <a:ln xmlns:a="http://schemas.openxmlformats.org/drawingml/2006/main" w="0">
            <a:noFill/>
            <a:prstDash val="solid"/>
          </a:ln>
        </p:spPr>
      </p:sp>
      <p:sp>
        <p:nvSpPr>
          <p:cNvPr id="13" name="">
            <a:extLst xmlns:a="http://schemas.openxmlformats.org/drawingml/2006/main">
              <a:ext uri="{FF2B5EF4-FFF2-40B4-BE49-F238E27FC236}">
                <a16:creationId xmlns:a16="http://schemas.microsoft.com/office/drawing/2014/main" id="{5A94DAB1-E647-4942-BEA4-B16562D49C4E}"/>
              </a:ext>
            </a:extLst>
          </p:cNvPr>
          <p:cNvSpPr>
            <a:spLocks xmlns:a="http://schemas.openxmlformats.org/drawingml/2006/main" noGrp="1"/>
          </p:cNvSpPr>
          <p:nvPr/>
        </p:nvSpPr>
        <p:spPr>
          <a:xfrm xmlns:a="http://schemas.openxmlformats.org/drawingml/2006/main">
            <a:off x="7200900" y="1123950"/>
            <a:ext cx="1714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050" b="1">
                <a:solidFill>
                  <a:srgbClr val="5E6B7A"/>
                </a:solidFill>
              </a:defRPr>
            </a:pPr>
            <a:r>
              <a:rPr sz="1050" b="1">
                <a:solidFill>
                  <a:srgbClr val="5E6B7A"/>
                </a:solidFill>
              </a:rPr>
              <a:t>VIDEO VISUAL</a:t>
            </a:r>
          </a:p>
        </p:txBody>
      </p:sp>
      <p:sp>
        <p:nvSpPr>
          <p:cNvPr id="14" name="">
            <a:extLst xmlns:a="http://schemas.openxmlformats.org/drawingml/2006/main">
              <a:ext uri="{FF2B5EF4-FFF2-40B4-BE49-F238E27FC236}">
                <a16:creationId xmlns:a16="http://schemas.microsoft.com/office/drawing/2014/main" id="{A45A5684-A5F7-4376-B354-AD14EFC86F66}"/>
              </a:ext>
            </a:extLst>
          </p:cNvPr>
          <p:cNvSpPr>
            <a:spLocks xmlns:a="http://schemas.openxmlformats.org/drawingml/2006/main" noGrp="1"/>
          </p:cNvSpPr>
          <p:nvPr/>
        </p:nvSpPr>
        <p:spPr>
          <a:xfrm xmlns:a="http://schemas.openxmlformats.org/drawingml/2006/main">
            <a:off x="7200900" y="1543050"/>
            <a:ext cx="3810000" cy="1047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800" b="1">
                <a:solidFill>
                  <a:srgbClr val="12233A"/>
                </a:solidFill>
              </a:defRPr>
            </a:pPr>
            <a:r>
              <a:rPr sz="1800" b="1">
                <a:solidFill>
                  <a:srgbClr val="12233A"/>
                </a:solidFill>
              </a:rPr>
              <a:t>Labeled waste containers, spill kit, and supervisor directing disposal.</a:t>
            </a:r>
          </a:p>
        </p:txBody>
      </p:sp>
      <p:sp>
        <p:nvSpPr>
          <p:cNvPr id="15" name="">
            <a:extLst xmlns:a="http://schemas.openxmlformats.org/drawingml/2006/main">
              <a:ext uri="{FF2B5EF4-FFF2-40B4-BE49-F238E27FC236}">
                <a16:creationId xmlns:a16="http://schemas.microsoft.com/office/drawing/2014/main" id="{68BE15CB-EBF2-4394-A5E4-005AB9674310}"/>
              </a:ext>
            </a:extLst>
          </p:cNvPr>
          <p:cNvSpPr>
            <a:spLocks xmlns:a="http://schemas.openxmlformats.org/drawingml/2006/main" noGrp="1"/>
          </p:cNvSpPr>
          <p:nvPr/>
        </p:nvSpPr>
        <p:spPr>
          <a:xfrm xmlns:a="http://schemas.openxmlformats.org/drawingml/2006/main">
            <a:off x="7200900" y="3028950"/>
            <a:ext cx="171450" cy="171450"/>
          </a:xfrm>
          <a:prstGeom xmlns:a="http://schemas.openxmlformats.org/drawingml/2006/main" prst="rect">
            <a:avLst/>
          </a:prstGeom>
          <a:solidFill xmlns:a="http://schemas.openxmlformats.org/drawingml/2006/main">
            <a:srgbClr val="66C43A"/>
          </a:solidFill>
          <a:ln xmlns:a="http://schemas.openxmlformats.org/drawingml/2006/main" w="0">
            <a:noFill/>
            <a:prstDash val="solid"/>
          </a:ln>
        </p:spPr>
      </p:sp>
      <p:sp>
        <p:nvSpPr>
          <p:cNvPr id="16" name="">
            <a:extLst xmlns:a="http://schemas.openxmlformats.org/drawingml/2006/main">
              <a:ext uri="{FF2B5EF4-FFF2-40B4-BE49-F238E27FC236}">
                <a16:creationId xmlns:a16="http://schemas.microsoft.com/office/drawing/2014/main" id="{A944EE5A-8F61-40DF-A35A-22E478059DDC}"/>
              </a:ext>
            </a:extLst>
          </p:cNvPr>
          <p:cNvSpPr>
            <a:spLocks xmlns:a="http://schemas.openxmlformats.org/drawingml/2006/main" noGrp="1"/>
          </p:cNvSpPr>
          <p:nvPr/>
        </p:nvSpPr>
        <p:spPr>
          <a:xfrm xmlns:a="http://schemas.openxmlformats.org/drawingml/2006/main">
            <a:off x="7524750" y="3000375"/>
            <a:ext cx="3143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500" b="1">
                <a:solidFill>
                  <a:srgbClr val="0B243D"/>
                </a:solidFill>
              </a:defRPr>
            </a:pPr>
            <a:r>
              <a:rPr sz="1500" b="1">
                <a:solidFill>
                  <a:srgbClr val="0B243D"/>
                </a:solidFill>
              </a:rPr>
              <a:t>Use labeled waste streams and closed containers</a:t>
            </a:r>
          </a:p>
        </p:txBody>
      </p:sp>
      <p:sp>
        <p:nvSpPr>
          <p:cNvPr id="17" name="">
            <a:extLst xmlns:a="http://schemas.openxmlformats.org/drawingml/2006/main">
              <a:ext uri="{FF2B5EF4-FFF2-40B4-BE49-F238E27FC236}">
                <a16:creationId xmlns:a16="http://schemas.microsoft.com/office/drawing/2014/main" id="{A0069C66-ABD1-4C71-AC64-C77955552E32}"/>
              </a:ext>
            </a:extLst>
          </p:cNvPr>
          <p:cNvSpPr>
            <a:spLocks xmlns:a="http://schemas.openxmlformats.org/drawingml/2006/main" noGrp="1"/>
          </p:cNvSpPr>
          <p:nvPr/>
        </p:nvSpPr>
        <p:spPr>
          <a:xfrm xmlns:a="http://schemas.openxmlformats.org/drawingml/2006/main">
            <a:off x="7200900" y="3467100"/>
            <a:ext cx="171450" cy="171450"/>
          </a:xfrm>
          <a:prstGeom xmlns:a="http://schemas.openxmlformats.org/drawingml/2006/main" prst="rect">
            <a:avLst/>
          </a:prstGeom>
          <a:solidFill xmlns:a="http://schemas.openxmlformats.org/drawingml/2006/main">
            <a:srgbClr val="66C43A"/>
          </a:solidFill>
          <a:ln xmlns:a="http://schemas.openxmlformats.org/drawingml/2006/main" w="0">
            <a:noFill/>
            <a:prstDash val="solid"/>
          </a:ln>
        </p:spPr>
      </p:sp>
      <p:sp>
        <p:nvSpPr>
          <p:cNvPr id="18" name="">
            <a:extLst xmlns:a="http://schemas.openxmlformats.org/drawingml/2006/main">
              <a:ext uri="{FF2B5EF4-FFF2-40B4-BE49-F238E27FC236}">
                <a16:creationId xmlns:a16="http://schemas.microsoft.com/office/drawing/2014/main" id="{5CE4585D-5856-45AF-91CF-CA1EBF286B91}"/>
              </a:ext>
            </a:extLst>
          </p:cNvPr>
          <p:cNvSpPr>
            <a:spLocks xmlns:a="http://schemas.openxmlformats.org/drawingml/2006/main" noGrp="1"/>
          </p:cNvSpPr>
          <p:nvPr/>
        </p:nvSpPr>
        <p:spPr>
          <a:xfrm xmlns:a="http://schemas.openxmlformats.org/drawingml/2006/main">
            <a:off x="7524750" y="3438525"/>
            <a:ext cx="3143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500" b="1">
                <a:solidFill>
                  <a:srgbClr val="0B243D"/>
                </a:solidFill>
              </a:defRPr>
            </a:pPr>
            <a:r>
              <a:rPr sz="1500" b="1">
                <a:solidFill>
                  <a:srgbClr val="0B243D"/>
                </a:solidFill>
              </a:rPr>
              <a:t>Keep spill kits where waste is generated</a:t>
            </a:r>
          </a:p>
        </p:txBody>
      </p:sp>
      <p:sp>
        <p:nvSpPr>
          <p:cNvPr id="19" name="">
            <a:extLst xmlns:a="http://schemas.openxmlformats.org/drawingml/2006/main">
              <a:ext uri="{FF2B5EF4-FFF2-40B4-BE49-F238E27FC236}">
                <a16:creationId xmlns:a16="http://schemas.microsoft.com/office/drawing/2014/main" id="{61DAC1B3-AC8D-4604-8E7A-EF59642562C2}"/>
              </a:ext>
            </a:extLst>
          </p:cNvPr>
          <p:cNvSpPr>
            <a:spLocks xmlns:a="http://schemas.openxmlformats.org/drawingml/2006/main" noGrp="1"/>
          </p:cNvSpPr>
          <p:nvPr/>
        </p:nvSpPr>
        <p:spPr>
          <a:xfrm xmlns:a="http://schemas.openxmlformats.org/drawingml/2006/main">
            <a:off x="7200900" y="3905250"/>
            <a:ext cx="171450" cy="171450"/>
          </a:xfrm>
          <a:prstGeom xmlns:a="http://schemas.openxmlformats.org/drawingml/2006/main" prst="rect">
            <a:avLst/>
          </a:prstGeom>
          <a:solidFill xmlns:a="http://schemas.openxmlformats.org/drawingml/2006/main">
            <a:srgbClr val="66C43A"/>
          </a:solidFill>
          <a:ln xmlns:a="http://schemas.openxmlformats.org/drawingml/2006/main" w="0">
            <a:noFill/>
            <a:prstDash val="solid"/>
          </a:ln>
        </p:spPr>
      </p:sp>
      <p:sp>
        <p:nvSpPr>
          <p:cNvPr id="20" name="">
            <a:extLst xmlns:a="http://schemas.openxmlformats.org/drawingml/2006/main">
              <a:ext uri="{FF2B5EF4-FFF2-40B4-BE49-F238E27FC236}">
                <a16:creationId xmlns:a16="http://schemas.microsoft.com/office/drawing/2014/main" id="{F1148BEE-9ECA-4C36-9AEB-29A23E367E53}"/>
              </a:ext>
            </a:extLst>
          </p:cNvPr>
          <p:cNvSpPr>
            <a:spLocks xmlns:a="http://schemas.openxmlformats.org/drawingml/2006/main" noGrp="1"/>
          </p:cNvSpPr>
          <p:nvPr/>
        </p:nvSpPr>
        <p:spPr>
          <a:xfrm xmlns:a="http://schemas.openxmlformats.org/drawingml/2006/main">
            <a:off x="7524750" y="3876675"/>
            <a:ext cx="3143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500" b="1">
                <a:solidFill>
                  <a:srgbClr val="0B243D"/>
                </a:solidFill>
              </a:defRPr>
            </a:pPr>
            <a:r>
              <a:rPr sz="1500" b="1">
                <a:solidFill>
                  <a:srgbClr val="0B243D"/>
                </a:solidFill>
              </a:rPr>
              <a:t>Ask supervision before disposal when uncertain</a:t>
            </a:r>
          </a:p>
        </p:txBody>
      </p:sp>
      <p:sp>
        <p:nvSpPr>
          <p:cNvPr id="21" name="">
            <a:extLst xmlns:a="http://schemas.openxmlformats.org/drawingml/2006/main">
              <a:ext uri="{FF2B5EF4-FFF2-40B4-BE49-F238E27FC236}">
                <a16:creationId xmlns:a16="http://schemas.microsoft.com/office/drawing/2014/main" id="{75F30EA1-AFB2-4E64-B528-C22690E2BC06}"/>
              </a:ext>
            </a:extLst>
          </p:cNvPr>
          <p:cNvSpPr>
            <a:spLocks xmlns:a="http://schemas.openxmlformats.org/drawingml/2006/main" noGrp="1"/>
          </p:cNvSpPr>
          <p:nvPr/>
        </p:nvSpPr>
        <p:spPr>
          <a:xfrm xmlns:a="http://schemas.openxmlformats.org/drawingml/2006/main">
            <a:off x="7200900" y="5219700"/>
            <a:ext cx="1714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975" b="1">
                <a:solidFill>
                  <a:srgbClr val="5E6B7A"/>
                </a:solidFill>
              </a:defRPr>
            </a:pPr>
            <a:r>
              <a:rPr sz="975" b="1">
                <a:solidFill>
                  <a:srgbClr val="5E6B7A"/>
                </a:solidFill>
              </a:rPr>
              <a:t>Scene 23</a:t>
            </a:r>
          </a:p>
        </p:txBody>
      </p:sp>
      <p:sp>
        <p:nvSpPr>
          <p:cNvPr id="22" name="">
            <a:extLst xmlns:a="http://schemas.openxmlformats.org/drawingml/2006/main">
              <a:ext uri="{FF2B5EF4-FFF2-40B4-BE49-F238E27FC236}">
                <a16:creationId xmlns:a16="http://schemas.microsoft.com/office/drawing/2014/main" id="{DABDCD7D-9D63-4D5B-B4A6-E45A37F9FF37}"/>
              </a:ext>
            </a:extLst>
          </p:cNvPr>
          <p:cNvSpPr>
            <a:spLocks xmlns:a="http://schemas.openxmlformats.org/drawingml/2006/main" noGrp="1"/>
          </p:cNvSpPr>
          <p:nvPr/>
        </p:nvSpPr>
        <p:spPr>
          <a:xfrm xmlns:a="http://schemas.openxmlformats.org/drawingml/2006/main">
            <a:off x="0" y="6515100"/>
            <a:ext cx="12192000" cy="342900"/>
          </a:xfrm>
          <a:prstGeom xmlns:a="http://schemas.openxmlformats.org/drawingml/2006/main" prst="rect">
            <a:avLst/>
          </a:prstGeom>
          <a:solidFill xmlns:a="http://schemas.openxmlformats.org/drawingml/2006/main">
            <a:srgbClr val="0B243D"/>
          </a:solidFill>
          <a:ln xmlns:a="http://schemas.openxmlformats.org/drawingml/2006/main" w="0">
            <a:noFill/>
            <a:prstDash val="solid"/>
          </a:ln>
        </p:spPr>
      </p:sp>
      <p:sp>
        <p:nvSpPr>
          <p:cNvPr id="23" name="">
            <a:extLst xmlns:a="http://schemas.openxmlformats.org/drawingml/2006/main">
              <a:ext uri="{FF2B5EF4-FFF2-40B4-BE49-F238E27FC236}">
                <a16:creationId xmlns:a16="http://schemas.microsoft.com/office/drawing/2014/main" id="{73075A4E-FE79-4C78-B411-B4DA28764D4C}"/>
              </a:ext>
            </a:extLst>
          </p:cNvPr>
          <p:cNvSpPr>
            <a:spLocks xmlns:a="http://schemas.openxmlformats.org/drawingml/2006/main" noGrp="1"/>
          </p:cNvSpPr>
          <p:nvPr/>
        </p:nvSpPr>
        <p:spPr>
          <a:xfrm xmlns:a="http://schemas.openxmlformats.org/drawingml/2006/main">
            <a:off x="533400" y="6600825"/>
            <a:ext cx="3429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975" b="1">
                <a:solidFill>
                  <a:srgbClr val="FFFFFF"/>
                </a:solidFill>
              </a:defRPr>
            </a:pPr>
            <a:r>
              <a:rPr sz="975" b="1">
                <a:solidFill>
                  <a:srgbClr val="FFFFFF"/>
                </a:solidFill>
              </a:rPr>
              <a:t>PAL Environmental Services</a:t>
            </a:r>
          </a:p>
        </p:txBody>
      </p:sp>
      <p:sp>
        <p:nvSpPr>
          <p:cNvPr id="24" name="">
            <a:extLst xmlns:a="http://schemas.openxmlformats.org/drawingml/2006/main">
              <a:ext uri="{FF2B5EF4-FFF2-40B4-BE49-F238E27FC236}">
                <a16:creationId xmlns:a16="http://schemas.microsoft.com/office/drawing/2014/main" id="{608C3B07-405F-4D4E-BA92-31AC15B87AEC}"/>
              </a:ext>
            </a:extLst>
          </p:cNvPr>
          <p:cNvSpPr>
            <a:spLocks xmlns:a="http://schemas.openxmlformats.org/drawingml/2006/main" noGrp="1"/>
          </p:cNvSpPr>
          <p:nvPr/>
        </p:nvSpPr>
        <p:spPr>
          <a:xfrm xmlns:a="http://schemas.openxmlformats.org/drawingml/2006/main">
            <a:off x="9620250" y="6600825"/>
            <a:ext cx="2095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900">
                <a:solidFill>
                  <a:srgbClr val="DDEAF5"/>
                </a:solidFill>
              </a:defRPr>
            </a:pPr>
            <a:r>
              <a:rPr sz="900">
                <a:solidFill>
                  <a:srgbClr val="DDEAF5"/>
                </a:solidFill>
              </a:rPr>
              <a:t>Employee Orientation  |  23</a:t>
            </a:r>
          </a:p>
        </p:txBody>
      </p:sp>
    </p:spTree>
    <p:extLst>
      <p:ext uri="{BB962C8B-B14F-4D97-AF65-F5344CB8AC3E}">
        <p14:creationId xmlns:p14="http://schemas.microsoft.com/office/powerpoint/2010/main" val="1827723781"/>
      </p:ext>
    </p:extLst>
  </p:cSld>
</p:sld>
</file>

<file path=ppt/slides/slide2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BAD29CDC-9157-4EDB-A174-C8FB760F6D93}"/>
              </a:ext>
            </a:extLst>
          </p:cNvPr>
          <p:cNvSpPr>
            <a:spLocks xmlns:a="http://schemas.openxmlformats.org/drawingml/2006/main" noGrp="1"/>
          </p:cNvSpPr>
          <p:nvPr/>
        </p:nvSpPr>
        <p:spPr>
          <a:xfrm xmlns:a="http://schemas.openxmlformats.org/drawingml/2006/main">
            <a:off x="0" y="0"/>
            <a:ext cx="12192000" cy="266700"/>
          </a:xfrm>
          <a:prstGeom xmlns:a="http://schemas.openxmlformats.org/drawingml/2006/main" prst="rect">
            <a:avLst/>
          </a:prstGeom>
          <a:solidFill xmlns:a="http://schemas.openxmlformats.org/drawingml/2006/main">
            <a:srgbClr val="0B243D"/>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26CD5706-5D79-4A51-A8CA-210C2132CF51}"/>
              </a:ext>
            </a:extLst>
          </p:cNvPr>
          <p:cNvSpPr>
            <a:spLocks xmlns:a="http://schemas.openxmlformats.org/drawingml/2006/main" noGrp="1"/>
          </p:cNvSpPr>
          <p:nvPr/>
        </p:nvSpPr>
        <p:spPr>
          <a:xfrm xmlns:a="http://schemas.openxmlformats.org/drawingml/2006/main">
            <a:off x="0" y="266700"/>
            <a:ext cx="171450" cy="6248400"/>
          </a:xfrm>
          <a:prstGeom xmlns:a="http://schemas.openxmlformats.org/drawingml/2006/main" prst="rect">
            <a:avLst/>
          </a:prstGeom>
          <a:solidFill xmlns:a="http://schemas.openxmlformats.org/drawingml/2006/main">
            <a:srgbClr val="66C43A"/>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8899C900-132B-4B31-BC0F-8A1D7F689A9C}"/>
              </a:ext>
            </a:extLst>
          </p:cNvPr>
          <p:cNvSpPr>
            <a:spLocks xmlns:a="http://schemas.openxmlformats.org/drawingml/2006/main" noGrp="1"/>
          </p:cNvSpPr>
          <p:nvPr/>
        </p:nvSpPr>
        <p:spPr>
          <a:xfrm xmlns:a="http://schemas.openxmlformats.org/drawingml/2006/main">
            <a:off x="533400" y="666750"/>
            <a:ext cx="44767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050" b="1">
                <a:solidFill>
                  <a:srgbClr val="5E6B7A"/>
                </a:solidFill>
              </a:defRPr>
            </a:pPr>
            <a:r>
              <a:rPr sz="1050" b="1">
                <a:solidFill>
                  <a:srgbClr val="5E6B7A"/>
                </a:solidFill>
              </a:rPr>
              <a:t>EMERGENCY ACTION PLAN</a:t>
            </a:r>
          </a:p>
        </p:txBody>
      </p:sp>
      <p:sp>
        <p:nvSpPr>
          <p:cNvPr id="4" name="">
            <a:extLst xmlns:a="http://schemas.openxmlformats.org/drawingml/2006/main">
              <a:ext uri="{FF2B5EF4-FFF2-40B4-BE49-F238E27FC236}">
                <a16:creationId xmlns:a16="http://schemas.microsoft.com/office/drawing/2014/main" id="{AA60D1D7-D445-45AB-AD75-D6B42BAB3B24}"/>
              </a:ext>
            </a:extLst>
          </p:cNvPr>
          <p:cNvSpPr>
            <a:spLocks xmlns:a="http://schemas.openxmlformats.org/drawingml/2006/main" noGrp="1"/>
          </p:cNvSpPr>
          <p:nvPr/>
        </p:nvSpPr>
        <p:spPr>
          <a:xfrm xmlns:a="http://schemas.openxmlformats.org/drawingml/2006/main">
            <a:off x="533400" y="1047750"/>
            <a:ext cx="5524500" cy="1428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3150" b="1">
                <a:solidFill>
                  <a:srgbClr val="0B243D"/>
                </a:solidFill>
              </a:defRPr>
            </a:pPr>
            <a:r>
              <a:rPr sz="3150" b="1">
                <a:solidFill>
                  <a:srgbClr val="0B243D"/>
                </a:solidFill>
              </a:rPr>
              <a:t>Know the plan before work begins.</a:t>
            </a:r>
          </a:p>
        </p:txBody>
      </p:sp>
      <p:sp>
        <p:nvSpPr>
          <p:cNvPr id="5" name="">
            <a:extLst xmlns:a="http://schemas.openxmlformats.org/drawingml/2006/main">
              <a:ext uri="{FF2B5EF4-FFF2-40B4-BE49-F238E27FC236}">
                <a16:creationId xmlns:a16="http://schemas.microsoft.com/office/drawing/2014/main" id="{EB901905-314D-484C-9A5B-AA4E72B656C8}"/>
              </a:ext>
            </a:extLst>
          </p:cNvPr>
          <p:cNvSpPr>
            <a:spLocks xmlns:a="http://schemas.openxmlformats.org/drawingml/2006/main" noGrp="1"/>
          </p:cNvSpPr>
          <p:nvPr/>
        </p:nvSpPr>
        <p:spPr>
          <a:xfrm xmlns:a="http://schemas.openxmlformats.org/drawingml/2006/main">
            <a:off x="609600" y="2990850"/>
            <a:ext cx="114300" cy="114300"/>
          </a:xfrm>
          <a:prstGeom xmlns:a="http://schemas.openxmlformats.org/drawingml/2006/main" prst="rect">
            <a:avLst/>
          </a:prstGeom>
          <a:solidFill xmlns:a="http://schemas.openxmlformats.org/drawingml/2006/main">
            <a:srgbClr val="66C43A"/>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ED9A0346-C3A0-4771-ABF2-3FF91BFF8322}"/>
              </a:ext>
            </a:extLst>
          </p:cNvPr>
          <p:cNvSpPr>
            <a:spLocks xmlns:a="http://schemas.openxmlformats.org/drawingml/2006/main" noGrp="1"/>
          </p:cNvSpPr>
          <p:nvPr/>
        </p:nvSpPr>
        <p:spPr>
          <a:xfrm xmlns:a="http://schemas.openxmlformats.org/drawingml/2006/main">
            <a:off x="914400" y="2914650"/>
            <a:ext cx="53340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800" b="1">
                <a:solidFill>
                  <a:srgbClr val="12233A"/>
                </a:solidFill>
              </a:defRPr>
            </a:pPr>
            <a:r>
              <a:rPr sz="1800" b="1">
                <a:solidFill>
                  <a:srgbClr val="12233A"/>
                </a:solidFill>
              </a:rPr>
              <a:t>Know alarms, emergency contacts, route, and muster point</a:t>
            </a:r>
          </a:p>
        </p:txBody>
      </p:sp>
      <p:sp>
        <p:nvSpPr>
          <p:cNvPr id="7" name="">
            <a:extLst xmlns:a="http://schemas.openxmlformats.org/drawingml/2006/main">
              <a:ext uri="{FF2B5EF4-FFF2-40B4-BE49-F238E27FC236}">
                <a16:creationId xmlns:a16="http://schemas.microsoft.com/office/drawing/2014/main" id="{27C64ACF-291F-4F36-BE25-25D98FF0817C}"/>
              </a:ext>
            </a:extLst>
          </p:cNvPr>
          <p:cNvSpPr>
            <a:spLocks xmlns:a="http://schemas.openxmlformats.org/drawingml/2006/main" noGrp="1"/>
          </p:cNvSpPr>
          <p:nvPr/>
        </p:nvSpPr>
        <p:spPr>
          <a:xfrm xmlns:a="http://schemas.openxmlformats.org/drawingml/2006/main">
            <a:off x="609600" y="3600450"/>
            <a:ext cx="114300" cy="114300"/>
          </a:xfrm>
          <a:prstGeom xmlns:a="http://schemas.openxmlformats.org/drawingml/2006/main" prst="rect">
            <a:avLst/>
          </a:prstGeom>
          <a:solidFill xmlns:a="http://schemas.openxmlformats.org/drawingml/2006/main">
            <a:srgbClr val="66C43A"/>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4A57A968-9F97-4BEA-A8C4-26432A93587A}"/>
              </a:ext>
            </a:extLst>
          </p:cNvPr>
          <p:cNvSpPr>
            <a:spLocks xmlns:a="http://schemas.openxmlformats.org/drawingml/2006/main" noGrp="1"/>
          </p:cNvSpPr>
          <p:nvPr/>
        </p:nvSpPr>
        <p:spPr>
          <a:xfrm xmlns:a="http://schemas.openxmlformats.org/drawingml/2006/main">
            <a:off x="914400" y="3524250"/>
            <a:ext cx="53340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800" b="0">
                <a:solidFill>
                  <a:srgbClr val="12233A"/>
                </a:solidFill>
              </a:defRPr>
            </a:pPr>
            <a:r>
              <a:rPr sz="1800" b="0">
                <a:solidFill>
                  <a:srgbClr val="12233A"/>
                </a:solidFill>
              </a:rPr>
              <a:t>Walk, do not run</a:t>
            </a:r>
          </a:p>
        </p:txBody>
      </p:sp>
      <p:sp>
        <p:nvSpPr>
          <p:cNvPr id="9" name="">
            <a:extLst xmlns:a="http://schemas.openxmlformats.org/drawingml/2006/main">
              <a:ext uri="{FF2B5EF4-FFF2-40B4-BE49-F238E27FC236}">
                <a16:creationId xmlns:a16="http://schemas.microsoft.com/office/drawing/2014/main" id="{5EBF17C0-09B2-4B98-8B73-7996919E4133}"/>
              </a:ext>
            </a:extLst>
          </p:cNvPr>
          <p:cNvSpPr>
            <a:spLocks xmlns:a="http://schemas.openxmlformats.org/drawingml/2006/main" noGrp="1"/>
          </p:cNvSpPr>
          <p:nvPr/>
        </p:nvSpPr>
        <p:spPr>
          <a:xfrm xmlns:a="http://schemas.openxmlformats.org/drawingml/2006/main">
            <a:off x="609600" y="4210050"/>
            <a:ext cx="114300" cy="114300"/>
          </a:xfrm>
          <a:prstGeom xmlns:a="http://schemas.openxmlformats.org/drawingml/2006/main" prst="rect">
            <a:avLst/>
          </a:prstGeom>
          <a:solidFill xmlns:a="http://schemas.openxmlformats.org/drawingml/2006/main">
            <a:srgbClr val="66C43A"/>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555A9311-EB3D-4974-B93D-CBCE8BD2B0BD}"/>
              </a:ext>
            </a:extLst>
          </p:cNvPr>
          <p:cNvSpPr>
            <a:spLocks xmlns:a="http://schemas.openxmlformats.org/drawingml/2006/main" noGrp="1"/>
          </p:cNvSpPr>
          <p:nvPr/>
        </p:nvSpPr>
        <p:spPr>
          <a:xfrm xmlns:a="http://schemas.openxmlformats.org/drawingml/2006/main">
            <a:off x="914400" y="4133850"/>
            <a:ext cx="53340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800" b="0">
                <a:solidFill>
                  <a:srgbClr val="12233A"/>
                </a:solidFill>
              </a:defRPr>
            </a:pPr>
            <a:r>
              <a:rPr sz="1800" b="0">
                <a:solidFill>
                  <a:srgbClr val="12233A"/>
                </a:solidFill>
              </a:rPr>
              <a:t>Remain at the muster point until released</a:t>
            </a:r>
          </a:p>
        </p:txBody>
      </p:sp>
      <p:sp>
        <p:nvSpPr>
          <p:cNvPr id="11" name="">
            <a:extLst xmlns:a="http://schemas.openxmlformats.org/drawingml/2006/main">
              <a:ext uri="{FF2B5EF4-FFF2-40B4-BE49-F238E27FC236}">
                <a16:creationId xmlns:a16="http://schemas.microsoft.com/office/drawing/2014/main" id="{4DCB4186-25B8-43B7-8729-AFA933E70184}"/>
              </a:ext>
            </a:extLst>
          </p:cNvPr>
          <p:cNvSpPr>
            <a:spLocks xmlns:a="http://schemas.openxmlformats.org/drawingml/2006/main" noGrp="1"/>
          </p:cNvSpPr>
          <p:nvPr/>
        </p:nvSpPr>
        <p:spPr>
          <a:xfrm xmlns:a="http://schemas.openxmlformats.org/drawingml/2006/main">
            <a:off x="6858000" y="704850"/>
            <a:ext cx="4495800" cy="4953000"/>
          </a:xfrm>
          <a:prstGeom xmlns:a="http://schemas.openxmlformats.org/drawingml/2006/main" prst="rect">
            <a:avLst/>
          </a:prstGeom>
          <a:solidFill xmlns:a="http://schemas.openxmlformats.org/drawingml/2006/main">
            <a:srgbClr val="F3F6F8"/>
          </a:solidFill>
          <a:ln xmlns:a="http://schemas.openxmlformats.org/drawingml/2006/main" w="9525">
            <a:solidFill>
              <a:srgbClr val="D8E1EA"/>
            </a:solidFill>
            <a:prstDash val="solid"/>
          </a:ln>
        </p:spPr>
      </p:sp>
      <p:sp>
        <p:nvSpPr>
          <p:cNvPr id="12" name="">
            <a:extLst xmlns:a="http://schemas.openxmlformats.org/drawingml/2006/main">
              <a:ext uri="{FF2B5EF4-FFF2-40B4-BE49-F238E27FC236}">
                <a16:creationId xmlns:a16="http://schemas.microsoft.com/office/drawing/2014/main" id="{F2FE6480-3CB3-456F-9A82-C84B7C311A20}"/>
              </a:ext>
            </a:extLst>
          </p:cNvPr>
          <p:cNvSpPr>
            <a:spLocks xmlns:a="http://schemas.openxmlformats.org/drawingml/2006/main" noGrp="1"/>
          </p:cNvSpPr>
          <p:nvPr/>
        </p:nvSpPr>
        <p:spPr>
          <a:xfrm xmlns:a="http://schemas.openxmlformats.org/drawingml/2006/main">
            <a:off x="6858000" y="704850"/>
            <a:ext cx="4495800" cy="114300"/>
          </a:xfrm>
          <a:prstGeom xmlns:a="http://schemas.openxmlformats.org/drawingml/2006/main" prst="rect">
            <a:avLst/>
          </a:prstGeom>
          <a:solidFill xmlns:a="http://schemas.openxmlformats.org/drawingml/2006/main">
            <a:srgbClr val="66C43A"/>
          </a:solidFill>
          <a:ln xmlns:a="http://schemas.openxmlformats.org/drawingml/2006/main" w="0">
            <a:noFill/>
            <a:prstDash val="solid"/>
          </a:ln>
        </p:spPr>
      </p:sp>
      <p:sp>
        <p:nvSpPr>
          <p:cNvPr id="13" name="">
            <a:extLst xmlns:a="http://schemas.openxmlformats.org/drawingml/2006/main">
              <a:ext uri="{FF2B5EF4-FFF2-40B4-BE49-F238E27FC236}">
                <a16:creationId xmlns:a16="http://schemas.microsoft.com/office/drawing/2014/main" id="{F25E72A8-1C07-41E5-9651-405FF63BF497}"/>
              </a:ext>
            </a:extLst>
          </p:cNvPr>
          <p:cNvSpPr>
            <a:spLocks xmlns:a="http://schemas.openxmlformats.org/drawingml/2006/main" noGrp="1"/>
          </p:cNvSpPr>
          <p:nvPr/>
        </p:nvSpPr>
        <p:spPr>
          <a:xfrm xmlns:a="http://schemas.openxmlformats.org/drawingml/2006/main">
            <a:off x="7200900" y="1123950"/>
            <a:ext cx="1714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050" b="1">
                <a:solidFill>
                  <a:srgbClr val="5E6B7A"/>
                </a:solidFill>
              </a:defRPr>
            </a:pPr>
            <a:r>
              <a:rPr sz="1050" b="1">
                <a:solidFill>
                  <a:srgbClr val="5E6B7A"/>
                </a:solidFill>
              </a:rPr>
              <a:t>VIDEO VISUAL</a:t>
            </a:r>
          </a:p>
        </p:txBody>
      </p:sp>
      <p:sp>
        <p:nvSpPr>
          <p:cNvPr id="14" name="">
            <a:extLst xmlns:a="http://schemas.openxmlformats.org/drawingml/2006/main">
              <a:ext uri="{FF2B5EF4-FFF2-40B4-BE49-F238E27FC236}">
                <a16:creationId xmlns:a16="http://schemas.microsoft.com/office/drawing/2014/main" id="{BC09586D-04A0-4B08-A6DB-DFA34169E8DE}"/>
              </a:ext>
            </a:extLst>
          </p:cNvPr>
          <p:cNvSpPr>
            <a:spLocks xmlns:a="http://schemas.openxmlformats.org/drawingml/2006/main" noGrp="1"/>
          </p:cNvSpPr>
          <p:nvPr/>
        </p:nvSpPr>
        <p:spPr>
          <a:xfrm xmlns:a="http://schemas.openxmlformats.org/drawingml/2006/main">
            <a:off x="7200900" y="1543050"/>
            <a:ext cx="3810000" cy="1047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800" b="1">
                <a:solidFill>
                  <a:srgbClr val="12233A"/>
                </a:solidFill>
              </a:defRPr>
            </a:pPr>
            <a:r>
              <a:rPr sz="1800" b="1">
                <a:solidFill>
                  <a:srgbClr val="12233A"/>
                </a:solidFill>
              </a:rPr>
              <a:t>Workers calmly walking to a muster point while supervisor takes headcount.</a:t>
            </a:r>
          </a:p>
        </p:txBody>
      </p:sp>
      <p:sp>
        <p:nvSpPr>
          <p:cNvPr id="15" name="">
            <a:extLst xmlns:a="http://schemas.openxmlformats.org/drawingml/2006/main">
              <a:ext uri="{FF2B5EF4-FFF2-40B4-BE49-F238E27FC236}">
                <a16:creationId xmlns:a16="http://schemas.microsoft.com/office/drawing/2014/main" id="{1BF63324-5933-4F28-A21A-656384DA668F}"/>
              </a:ext>
            </a:extLst>
          </p:cNvPr>
          <p:cNvSpPr>
            <a:spLocks xmlns:a="http://schemas.openxmlformats.org/drawingml/2006/main" noGrp="1"/>
          </p:cNvSpPr>
          <p:nvPr/>
        </p:nvSpPr>
        <p:spPr>
          <a:xfrm xmlns:a="http://schemas.openxmlformats.org/drawingml/2006/main">
            <a:off x="7200900" y="3028950"/>
            <a:ext cx="171450" cy="171450"/>
          </a:xfrm>
          <a:prstGeom xmlns:a="http://schemas.openxmlformats.org/drawingml/2006/main" prst="rect">
            <a:avLst/>
          </a:prstGeom>
          <a:solidFill xmlns:a="http://schemas.openxmlformats.org/drawingml/2006/main">
            <a:srgbClr val="66C43A"/>
          </a:solidFill>
          <a:ln xmlns:a="http://schemas.openxmlformats.org/drawingml/2006/main" w="0">
            <a:noFill/>
            <a:prstDash val="solid"/>
          </a:ln>
        </p:spPr>
      </p:sp>
      <p:sp>
        <p:nvSpPr>
          <p:cNvPr id="16" name="">
            <a:extLst xmlns:a="http://schemas.openxmlformats.org/drawingml/2006/main">
              <a:ext uri="{FF2B5EF4-FFF2-40B4-BE49-F238E27FC236}">
                <a16:creationId xmlns:a16="http://schemas.microsoft.com/office/drawing/2014/main" id="{5C086B68-B705-4167-A2CD-B00E3C638370}"/>
              </a:ext>
            </a:extLst>
          </p:cNvPr>
          <p:cNvSpPr>
            <a:spLocks xmlns:a="http://schemas.openxmlformats.org/drawingml/2006/main" noGrp="1"/>
          </p:cNvSpPr>
          <p:nvPr/>
        </p:nvSpPr>
        <p:spPr>
          <a:xfrm xmlns:a="http://schemas.openxmlformats.org/drawingml/2006/main">
            <a:off x="7524750" y="3000375"/>
            <a:ext cx="3143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500" b="1">
                <a:solidFill>
                  <a:srgbClr val="0B243D"/>
                </a:solidFill>
              </a:defRPr>
            </a:pPr>
            <a:r>
              <a:rPr sz="1500" b="1">
                <a:solidFill>
                  <a:srgbClr val="0B243D"/>
                </a:solidFill>
              </a:rPr>
              <a:t>Know alarms, emergency contacts, route, and muster point</a:t>
            </a:r>
          </a:p>
        </p:txBody>
      </p:sp>
      <p:sp>
        <p:nvSpPr>
          <p:cNvPr id="17" name="">
            <a:extLst xmlns:a="http://schemas.openxmlformats.org/drawingml/2006/main">
              <a:ext uri="{FF2B5EF4-FFF2-40B4-BE49-F238E27FC236}">
                <a16:creationId xmlns:a16="http://schemas.microsoft.com/office/drawing/2014/main" id="{341E377F-4912-4723-90ED-EBF91B6F41D7}"/>
              </a:ext>
            </a:extLst>
          </p:cNvPr>
          <p:cNvSpPr>
            <a:spLocks xmlns:a="http://schemas.openxmlformats.org/drawingml/2006/main" noGrp="1"/>
          </p:cNvSpPr>
          <p:nvPr/>
        </p:nvSpPr>
        <p:spPr>
          <a:xfrm xmlns:a="http://schemas.openxmlformats.org/drawingml/2006/main">
            <a:off x="7200900" y="3467100"/>
            <a:ext cx="171450" cy="171450"/>
          </a:xfrm>
          <a:prstGeom xmlns:a="http://schemas.openxmlformats.org/drawingml/2006/main" prst="rect">
            <a:avLst/>
          </a:prstGeom>
          <a:solidFill xmlns:a="http://schemas.openxmlformats.org/drawingml/2006/main">
            <a:srgbClr val="66C43A"/>
          </a:solidFill>
          <a:ln xmlns:a="http://schemas.openxmlformats.org/drawingml/2006/main" w="0">
            <a:noFill/>
            <a:prstDash val="solid"/>
          </a:ln>
        </p:spPr>
      </p:sp>
      <p:sp>
        <p:nvSpPr>
          <p:cNvPr id="18" name="">
            <a:extLst xmlns:a="http://schemas.openxmlformats.org/drawingml/2006/main">
              <a:ext uri="{FF2B5EF4-FFF2-40B4-BE49-F238E27FC236}">
                <a16:creationId xmlns:a16="http://schemas.microsoft.com/office/drawing/2014/main" id="{33923054-CBF8-4EB8-863E-D1FF83672DA0}"/>
              </a:ext>
            </a:extLst>
          </p:cNvPr>
          <p:cNvSpPr>
            <a:spLocks xmlns:a="http://schemas.openxmlformats.org/drawingml/2006/main" noGrp="1"/>
          </p:cNvSpPr>
          <p:nvPr/>
        </p:nvSpPr>
        <p:spPr>
          <a:xfrm xmlns:a="http://schemas.openxmlformats.org/drawingml/2006/main">
            <a:off x="7524750" y="3438525"/>
            <a:ext cx="3143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500" b="1">
                <a:solidFill>
                  <a:srgbClr val="0B243D"/>
                </a:solidFill>
              </a:defRPr>
            </a:pPr>
            <a:r>
              <a:rPr sz="1500" b="1">
                <a:solidFill>
                  <a:srgbClr val="0B243D"/>
                </a:solidFill>
              </a:rPr>
              <a:t>Walk, do not run</a:t>
            </a:r>
          </a:p>
        </p:txBody>
      </p:sp>
      <p:sp>
        <p:nvSpPr>
          <p:cNvPr id="19" name="">
            <a:extLst xmlns:a="http://schemas.openxmlformats.org/drawingml/2006/main">
              <a:ext uri="{FF2B5EF4-FFF2-40B4-BE49-F238E27FC236}">
                <a16:creationId xmlns:a16="http://schemas.microsoft.com/office/drawing/2014/main" id="{D8F481DD-9E08-4BAA-BBBE-E66DBAFE8B91}"/>
              </a:ext>
            </a:extLst>
          </p:cNvPr>
          <p:cNvSpPr>
            <a:spLocks xmlns:a="http://schemas.openxmlformats.org/drawingml/2006/main" noGrp="1"/>
          </p:cNvSpPr>
          <p:nvPr/>
        </p:nvSpPr>
        <p:spPr>
          <a:xfrm xmlns:a="http://schemas.openxmlformats.org/drawingml/2006/main">
            <a:off x="7200900" y="3905250"/>
            <a:ext cx="171450" cy="171450"/>
          </a:xfrm>
          <a:prstGeom xmlns:a="http://schemas.openxmlformats.org/drawingml/2006/main" prst="rect">
            <a:avLst/>
          </a:prstGeom>
          <a:solidFill xmlns:a="http://schemas.openxmlformats.org/drawingml/2006/main">
            <a:srgbClr val="66C43A"/>
          </a:solidFill>
          <a:ln xmlns:a="http://schemas.openxmlformats.org/drawingml/2006/main" w="0">
            <a:noFill/>
            <a:prstDash val="solid"/>
          </a:ln>
        </p:spPr>
      </p:sp>
      <p:sp>
        <p:nvSpPr>
          <p:cNvPr id="20" name="">
            <a:extLst xmlns:a="http://schemas.openxmlformats.org/drawingml/2006/main">
              <a:ext uri="{FF2B5EF4-FFF2-40B4-BE49-F238E27FC236}">
                <a16:creationId xmlns:a16="http://schemas.microsoft.com/office/drawing/2014/main" id="{04088326-7D8D-4634-9E1B-D60AFF5C57EA}"/>
              </a:ext>
            </a:extLst>
          </p:cNvPr>
          <p:cNvSpPr>
            <a:spLocks xmlns:a="http://schemas.openxmlformats.org/drawingml/2006/main" noGrp="1"/>
          </p:cNvSpPr>
          <p:nvPr/>
        </p:nvSpPr>
        <p:spPr>
          <a:xfrm xmlns:a="http://schemas.openxmlformats.org/drawingml/2006/main">
            <a:off x="7524750" y="3876675"/>
            <a:ext cx="3143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500" b="1">
                <a:solidFill>
                  <a:srgbClr val="0B243D"/>
                </a:solidFill>
              </a:defRPr>
            </a:pPr>
            <a:r>
              <a:rPr sz="1500" b="1">
                <a:solidFill>
                  <a:srgbClr val="0B243D"/>
                </a:solidFill>
              </a:rPr>
              <a:t>Remain at the muster point until released</a:t>
            </a:r>
          </a:p>
        </p:txBody>
      </p:sp>
      <p:sp>
        <p:nvSpPr>
          <p:cNvPr id="21" name="">
            <a:extLst xmlns:a="http://schemas.openxmlformats.org/drawingml/2006/main">
              <a:ext uri="{FF2B5EF4-FFF2-40B4-BE49-F238E27FC236}">
                <a16:creationId xmlns:a16="http://schemas.microsoft.com/office/drawing/2014/main" id="{47962A5A-F123-4FF2-9D51-B6CE9AB5072D}"/>
              </a:ext>
            </a:extLst>
          </p:cNvPr>
          <p:cNvSpPr>
            <a:spLocks xmlns:a="http://schemas.openxmlformats.org/drawingml/2006/main" noGrp="1"/>
          </p:cNvSpPr>
          <p:nvPr/>
        </p:nvSpPr>
        <p:spPr>
          <a:xfrm xmlns:a="http://schemas.openxmlformats.org/drawingml/2006/main">
            <a:off x="7200900" y="5219700"/>
            <a:ext cx="1714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975" b="1">
                <a:solidFill>
                  <a:srgbClr val="5E6B7A"/>
                </a:solidFill>
              </a:defRPr>
            </a:pPr>
            <a:r>
              <a:rPr sz="975" b="1">
                <a:solidFill>
                  <a:srgbClr val="5E6B7A"/>
                </a:solidFill>
              </a:rPr>
              <a:t>Scene 24</a:t>
            </a:r>
          </a:p>
        </p:txBody>
      </p:sp>
      <p:sp>
        <p:nvSpPr>
          <p:cNvPr id="22" name="">
            <a:extLst xmlns:a="http://schemas.openxmlformats.org/drawingml/2006/main">
              <a:ext uri="{FF2B5EF4-FFF2-40B4-BE49-F238E27FC236}">
                <a16:creationId xmlns:a16="http://schemas.microsoft.com/office/drawing/2014/main" id="{7654347B-EBE1-4D49-8EDF-AA653C09DA92}"/>
              </a:ext>
            </a:extLst>
          </p:cNvPr>
          <p:cNvSpPr>
            <a:spLocks xmlns:a="http://schemas.openxmlformats.org/drawingml/2006/main" noGrp="1"/>
          </p:cNvSpPr>
          <p:nvPr/>
        </p:nvSpPr>
        <p:spPr>
          <a:xfrm xmlns:a="http://schemas.openxmlformats.org/drawingml/2006/main">
            <a:off x="0" y="6515100"/>
            <a:ext cx="12192000" cy="342900"/>
          </a:xfrm>
          <a:prstGeom xmlns:a="http://schemas.openxmlformats.org/drawingml/2006/main" prst="rect">
            <a:avLst/>
          </a:prstGeom>
          <a:solidFill xmlns:a="http://schemas.openxmlformats.org/drawingml/2006/main">
            <a:srgbClr val="0B243D"/>
          </a:solidFill>
          <a:ln xmlns:a="http://schemas.openxmlformats.org/drawingml/2006/main" w="0">
            <a:noFill/>
            <a:prstDash val="solid"/>
          </a:ln>
        </p:spPr>
      </p:sp>
      <p:sp>
        <p:nvSpPr>
          <p:cNvPr id="23" name="">
            <a:extLst xmlns:a="http://schemas.openxmlformats.org/drawingml/2006/main">
              <a:ext uri="{FF2B5EF4-FFF2-40B4-BE49-F238E27FC236}">
                <a16:creationId xmlns:a16="http://schemas.microsoft.com/office/drawing/2014/main" id="{A2637C4D-18AC-4358-8B47-DEA0AF91BD18}"/>
              </a:ext>
            </a:extLst>
          </p:cNvPr>
          <p:cNvSpPr>
            <a:spLocks xmlns:a="http://schemas.openxmlformats.org/drawingml/2006/main" noGrp="1"/>
          </p:cNvSpPr>
          <p:nvPr/>
        </p:nvSpPr>
        <p:spPr>
          <a:xfrm xmlns:a="http://schemas.openxmlformats.org/drawingml/2006/main">
            <a:off x="533400" y="6600825"/>
            <a:ext cx="3429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975" b="1">
                <a:solidFill>
                  <a:srgbClr val="FFFFFF"/>
                </a:solidFill>
              </a:defRPr>
            </a:pPr>
            <a:r>
              <a:rPr sz="975" b="1">
                <a:solidFill>
                  <a:srgbClr val="FFFFFF"/>
                </a:solidFill>
              </a:rPr>
              <a:t>PAL Environmental Services</a:t>
            </a:r>
          </a:p>
        </p:txBody>
      </p:sp>
      <p:sp>
        <p:nvSpPr>
          <p:cNvPr id="24" name="">
            <a:extLst xmlns:a="http://schemas.openxmlformats.org/drawingml/2006/main">
              <a:ext uri="{FF2B5EF4-FFF2-40B4-BE49-F238E27FC236}">
                <a16:creationId xmlns:a16="http://schemas.microsoft.com/office/drawing/2014/main" id="{8419DF0D-8917-489E-97A1-8B621E353822}"/>
              </a:ext>
            </a:extLst>
          </p:cNvPr>
          <p:cNvSpPr>
            <a:spLocks xmlns:a="http://schemas.openxmlformats.org/drawingml/2006/main" noGrp="1"/>
          </p:cNvSpPr>
          <p:nvPr/>
        </p:nvSpPr>
        <p:spPr>
          <a:xfrm xmlns:a="http://schemas.openxmlformats.org/drawingml/2006/main">
            <a:off x="9620250" y="6600825"/>
            <a:ext cx="2095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900">
                <a:solidFill>
                  <a:srgbClr val="DDEAF5"/>
                </a:solidFill>
              </a:defRPr>
            </a:pPr>
            <a:r>
              <a:rPr sz="900">
                <a:solidFill>
                  <a:srgbClr val="DDEAF5"/>
                </a:solidFill>
              </a:rPr>
              <a:t>Employee Orientation  |  24</a:t>
            </a:r>
          </a:p>
        </p:txBody>
      </p:sp>
    </p:spTree>
    <p:extLst>
      <p:ext uri="{BB962C8B-B14F-4D97-AF65-F5344CB8AC3E}">
        <p14:creationId xmlns:p14="http://schemas.microsoft.com/office/powerpoint/2010/main" val="493246017"/>
      </p:ext>
    </p:extLst>
  </p:cSld>
</p:sld>
</file>

<file path=ppt/slides/slide2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1390EA5D-6965-43F6-84DF-42F54A869422}"/>
              </a:ext>
            </a:extLst>
          </p:cNvPr>
          <p:cNvSpPr>
            <a:spLocks xmlns:a="http://schemas.openxmlformats.org/drawingml/2006/main" noGrp="1"/>
          </p:cNvSpPr>
          <p:nvPr/>
        </p:nvSpPr>
        <p:spPr>
          <a:xfrm xmlns:a="http://schemas.openxmlformats.org/drawingml/2006/main">
            <a:off x="0" y="0"/>
            <a:ext cx="12192000" cy="266700"/>
          </a:xfrm>
          <a:prstGeom xmlns:a="http://schemas.openxmlformats.org/drawingml/2006/main" prst="rect">
            <a:avLst/>
          </a:prstGeom>
          <a:solidFill xmlns:a="http://schemas.openxmlformats.org/drawingml/2006/main">
            <a:srgbClr val="0B243D"/>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47F80817-14A7-48ED-97F6-1327555BFC2C}"/>
              </a:ext>
            </a:extLst>
          </p:cNvPr>
          <p:cNvSpPr>
            <a:spLocks xmlns:a="http://schemas.openxmlformats.org/drawingml/2006/main" noGrp="1"/>
          </p:cNvSpPr>
          <p:nvPr/>
        </p:nvSpPr>
        <p:spPr>
          <a:xfrm xmlns:a="http://schemas.openxmlformats.org/drawingml/2006/main">
            <a:off x="0" y="266700"/>
            <a:ext cx="171450" cy="6248400"/>
          </a:xfrm>
          <a:prstGeom xmlns:a="http://schemas.openxmlformats.org/drawingml/2006/main" prst="rect">
            <a:avLst/>
          </a:prstGeom>
          <a:solidFill xmlns:a="http://schemas.openxmlformats.org/drawingml/2006/main">
            <a:srgbClr val="66C43A"/>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8AFE55CA-F957-49B3-BC37-A117F4669BE4}"/>
              </a:ext>
            </a:extLst>
          </p:cNvPr>
          <p:cNvSpPr>
            <a:spLocks xmlns:a="http://schemas.openxmlformats.org/drawingml/2006/main" noGrp="1"/>
          </p:cNvSpPr>
          <p:nvPr/>
        </p:nvSpPr>
        <p:spPr>
          <a:xfrm xmlns:a="http://schemas.openxmlformats.org/drawingml/2006/main">
            <a:off x="533400" y="666750"/>
            <a:ext cx="44767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050" b="1">
                <a:solidFill>
                  <a:srgbClr val="5E6B7A"/>
                </a:solidFill>
              </a:defRPr>
            </a:pPr>
            <a:r>
              <a:rPr sz="1050" b="1">
                <a:solidFill>
                  <a:srgbClr val="5E6B7A"/>
                </a:solidFill>
              </a:rPr>
              <a:t>REPORTING</a:t>
            </a:r>
          </a:p>
        </p:txBody>
      </p:sp>
      <p:sp>
        <p:nvSpPr>
          <p:cNvPr id="4" name="">
            <a:extLst xmlns:a="http://schemas.openxmlformats.org/drawingml/2006/main">
              <a:ext uri="{FF2B5EF4-FFF2-40B4-BE49-F238E27FC236}">
                <a16:creationId xmlns:a16="http://schemas.microsoft.com/office/drawing/2014/main" id="{682F0354-9633-4AD3-9E6E-71ECA23C0288}"/>
              </a:ext>
            </a:extLst>
          </p:cNvPr>
          <p:cNvSpPr>
            <a:spLocks xmlns:a="http://schemas.openxmlformats.org/drawingml/2006/main" noGrp="1"/>
          </p:cNvSpPr>
          <p:nvPr/>
        </p:nvSpPr>
        <p:spPr>
          <a:xfrm xmlns:a="http://schemas.openxmlformats.org/drawingml/2006/main">
            <a:off x="533400" y="1047750"/>
            <a:ext cx="5524500" cy="1428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3150" b="1">
                <a:solidFill>
                  <a:srgbClr val="0B243D"/>
                </a:solidFill>
              </a:defRPr>
            </a:pPr>
            <a:r>
              <a:rPr sz="3150" b="1">
                <a:solidFill>
                  <a:srgbClr val="0B243D"/>
                </a:solidFill>
              </a:rPr>
              <a:t>Report incidents and near misses immediately.</a:t>
            </a:r>
          </a:p>
        </p:txBody>
      </p:sp>
      <p:sp>
        <p:nvSpPr>
          <p:cNvPr id="5" name="">
            <a:extLst xmlns:a="http://schemas.openxmlformats.org/drawingml/2006/main">
              <a:ext uri="{FF2B5EF4-FFF2-40B4-BE49-F238E27FC236}">
                <a16:creationId xmlns:a16="http://schemas.microsoft.com/office/drawing/2014/main" id="{B8C3890B-72D5-4656-999A-4B8DEAC5B078}"/>
              </a:ext>
            </a:extLst>
          </p:cNvPr>
          <p:cNvSpPr>
            <a:spLocks xmlns:a="http://schemas.openxmlformats.org/drawingml/2006/main" noGrp="1"/>
          </p:cNvSpPr>
          <p:nvPr/>
        </p:nvSpPr>
        <p:spPr>
          <a:xfrm xmlns:a="http://schemas.openxmlformats.org/drawingml/2006/main">
            <a:off x="609600" y="2990850"/>
            <a:ext cx="114300" cy="114300"/>
          </a:xfrm>
          <a:prstGeom xmlns:a="http://schemas.openxmlformats.org/drawingml/2006/main" prst="rect">
            <a:avLst/>
          </a:prstGeom>
          <a:solidFill xmlns:a="http://schemas.openxmlformats.org/drawingml/2006/main">
            <a:srgbClr val="66C43A"/>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308C76BE-18DD-4643-B149-621278C292A7}"/>
              </a:ext>
            </a:extLst>
          </p:cNvPr>
          <p:cNvSpPr>
            <a:spLocks xmlns:a="http://schemas.openxmlformats.org/drawingml/2006/main" noGrp="1"/>
          </p:cNvSpPr>
          <p:nvPr/>
        </p:nvSpPr>
        <p:spPr>
          <a:xfrm xmlns:a="http://schemas.openxmlformats.org/drawingml/2006/main">
            <a:off x="914400" y="2914650"/>
            <a:ext cx="53340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800" b="1">
                <a:solidFill>
                  <a:srgbClr val="12233A"/>
                </a:solidFill>
              </a:defRPr>
            </a:pPr>
            <a:r>
              <a:rPr sz="1800" b="1">
                <a:solidFill>
                  <a:srgbClr val="12233A"/>
                </a:solidFill>
              </a:rPr>
              <a:t>Injuries, illnesses, property damage, releases, and near misses</a:t>
            </a:r>
          </a:p>
        </p:txBody>
      </p:sp>
      <p:sp>
        <p:nvSpPr>
          <p:cNvPr id="7" name="">
            <a:extLst xmlns:a="http://schemas.openxmlformats.org/drawingml/2006/main">
              <a:ext uri="{FF2B5EF4-FFF2-40B4-BE49-F238E27FC236}">
                <a16:creationId xmlns:a16="http://schemas.microsoft.com/office/drawing/2014/main" id="{71E4EFFC-D5AF-47FA-87FD-DB3066828C32}"/>
              </a:ext>
            </a:extLst>
          </p:cNvPr>
          <p:cNvSpPr>
            <a:spLocks xmlns:a="http://schemas.openxmlformats.org/drawingml/2006/main" noGrp="1"/>
          </p:cNvSpPr>
          <p:nvPr/>
        </p:nvSpPr>
        <p:spPr>
          <a:xfrm xmlns:a="http://schemas.openxmlformats.org/drawingml/2006/main">
            <a:off x="609600" y="3600450"/>
            <a:ext cx="114300" cy="114300"/>
          </a:xfrm>
          <a:prstGeom xmlns:a="http://schemas.openxmlformats.org/drawingml/2006/main" prst="rect">
            <a:avLst/>
          </a:prstGeom>
          <a:solidFill xmlns:a="http://schemas.openxmlformats.org/drawingml/2006/main">
            <a:srgbClr val="66C43A"/>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67F662E2-C46D-4E10-A9C4-905C1256C751}"/>
              </a:ext>
            </a:extLst>
          </p:cNvPr>
          <p:cNvSpPr>
            <a:spLocks xmlns:a="http://schemas.openxmlformats.org/drawingml/2006/main" noGrp="1"/>
          </p:cNvSpPr>
          <p:nvPr/>
        </p:nvSpPr>
        <p:spPr>
          <a:xfrm xmlns:a="http://schemas.openxmlformats.org/drawingml/2006/main">
            <a:off x="914400" y="3524250"/>
            <a:ext cx="53340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800" b="0">
                <a:solidFill>
                  <a:srgbClr val="12233A"/>
                </a:solidFill>
              </a:defRPr>
            </a:pPr>
            <a:r>
              <a:rPr sz="1800" b="0">
                <a:solidFill>
                  <a:srgbClr val="12233A"/>
                </a:solidFill>
              </a:rPr>
              <a:t>Report even when it appears minor</a:t>
            </a:r>
          </a:p>
        </p:txBody>
      </p:sp>
      <p:sp>
        <p:nvSpPr>
          <p:cNvPr id="9" name="">
            <a:extLst xmlns:a="http://schemas.openxmlformats.org/drawingml/2006/main">
              <a:ext uri="{FF2B5EF4-FFF2-40B4-BE49-F238E27FC236}">
                <a16:creationId xmlns:a16="http://schemas.microsoft.com/office/drawing/2014/main" id="{8541C66E-6FBC-4F03-9998-7D2718B0F4F7}"/>
              </a:ext>
            </a:extLst>
          </p:cNvPr>
          <p:cNvSpPr>
            <a:spLocks xmlns:a="http://schemas.openxmlformats.org/drawingml/2006/main" noGrp="1"/>
          </p:cNvSpPr>
          <p:nvPr/>
        </p:nvSpPr>
        <p:spPr>
          <a:xfrm xmlns:a="http://schemas.openxmlformats.org/drawingml/2006/main">
            <a:off x="609600" y="4210050"/>
            <a:ext cx="114300" cy="114300"/>
          </a:xfrm>
          <a:prstGeom xmlns:a="http://schemas.openxmlformats.org/drawingml/2006/main" prst="rect">
            <a:avLst/>
          </a:prstGeom>
          <a:solidFill xmlns:a="http://schemas.openxmlformats.org/drawingml/2006/main">
            <a:srgbClr val="66C43A"/>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0EFD70BB-8E6F-408F-9603-3B063BF2776E}"/>
              </a:ext>
            </a:extLst>
          </p:cNvPr>
          <p:cNvSpPr>
            <a:spLocks xmlns:a="http://schemas.openxmlformats.org/drawingml/2006/main" noGrp="1"/>
          </p:cNvSpPr>
          <p:nvPr/>
        </p:nvSpPr>
        <p:spPr>
          <a:xfrm xmlns:a="http://schemas.openxmlformats.org/drawingml/2006/main">
            <a:off x="914400" y="4133850"/>
            <a:ext cx="53340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800" b="0">
                <a:solidFill>
                  <a:srgbClr val="12233A"/>
                </a:solidFill>
              </a:defRPr>
            </a:pPr>
            <a:r>
              <a:rPr sz="1800" b="0">
                <a:solidFill>
                  <a:srgbClr val="12233A"/>
                </a:solidFill>
              </a:rPr>
              <a:t>Same-day review corrects hazards and prevents repeat events</a:t>
            </a:r>
          </a:p>
        </p:txBody>
      </p:sp>
      <p:sp>
        <p:nvSpPr>
          <p:cNvPr id="11" name="">
            <a:extLst xmlns:a="http://schemas.openxmlformats.org/drawingml/2006/main">
              <a:ext uri="{FF2B5EF4-FFF2-40B4-BE49-F238E27FC236}">
                <a16:creationId xmlns:a16="http://schemas.microsoft.com/office/drawing/2014/main" id="{8DEFBEA8-91C2-455A-A074-024696ECAEF6}"/>
              </a:ext>
            </a:extLst>
          </p:cNvPr>
          <p:cNvSpPr>
            <a:spLocks xmlns:a="http://schemas.openxmlformats.org/drawingml/2006/main" noGrp="1"/>
          </p:cNvSpPr>
          <p:nvPr/>
        </p:nvSpPr>
        <p:spPr>
          <a:xfrm xmlns:a="http://schemas.openxmlformats.org/drawingml/2006/main">
            <a:off x="6858000" y="704850"/>
            <a:ext cx="4495800" cy="4953000"/>
          </a:xfrm>
          <a:prstGeom xmlns:a="http://schemas.openxmlformats.org/drawingml/2006/main" prst="rect">
            <a:avLst/>
          </a:prstGeom>
          <a:solidFill xmlns:a="http://schemas.openxmlformats.org/drawingml/2006/main">
            <a:srgbClr val="F3F6F8"/>
          </a:solidFill>
          <a:ln xmlns:a="http://schemas.openxmlformats.org/drawingml/2006/main" w="9525">
            <a:solidFill>
              <a:srgbClr val="D8E1EA"/>
            </a:solidFill>
            <a:prstDash val="solid"/>
          </a:ln>
        </p:spPr>
      </p:sp>
      <p:sp>
        <p:nvSpPr>
          <p:cNvPr id="12" name="">
            <a:extLst xmlns:a="http://schemas.openxmlformats.org/drawingml/2006/main">
              <a:ext uri="{FF2B5EF4-FFF2-40B4-BE49-F238E27FC236}">
                <a16:creationId xmlns:a16="http://schemas.microsoft.com/office/drawing/2014/main" id="{DF001F43-EE10-4342-8381-CF8D3D9B4DF8}"/>
              </a:ext>
            </a:extLst>
          </p:cNvPr>
          <p:cNvSpPr>
            <a:spLocks xmlns:a="http://schemas.openxmlformats.org/drawingml/2006/main" noGrp="1"/>
          </p:cNvSpPr>
          <p:nvPr/>
        </p:nvSpPr>
        <p:spPr>
          <a:xfrm xmlns:a="http://schemas.openxmlformats.org/drawingml/2006/main">
            <a:off x="6858000" y="704850"/>
            <a:ext cx="4495800" cy="114300"/>
          </a:xfrm>
          <a:prstGeom xmlns:a="http://schemas.openxmlformats.org/drawingml/2006/main" prst="rect">
            <a:avLst/>
          </a:prstGeom>
          <a:solidFill xmlns:a="http://schemas.openxmlformats.org/drawingml/2006/main">
            <a:srgbClr val="66C43A"/>
          </a:solidFill>
          <a:ln xmlns:a="http://schemas.openxmlformats.org/drawingml/2006/main" w="0">
            <a:noFill/>
            <a:prstDash val="solid"/>
          </a:ln>
        </p:spPr>
      </p:sp>
      <p:sp>
        <p:nvSpPr>
          <p:cNvPr id="13" name="">
            <a:extLst xmlns:a="http://schemas.openxmlformats.org/drawingml/2006/main">
              <a:ext uri="{FF2B5EF4-FFF2-40B4-BE49-F238E27FC236}">
                <a16:creationId xmlns:a16="http://schemas.microsoft.com/office/drawing/2014/main" id="{BE404DF9-5E77-4BD7-A26A-8B0B2DCFA852}"/>
              </a:ext>
            </a:extLst>
          </p:cNvPr>
          <p:cNvSpPr>
            <a:spLocks xmlns:a="http://schemas.openxmlformats.org/drawingml/2006/main" noGrp="1"/>
          </p:cNvSpPr>
          <p:nvPr/>
        </p:nvSpPr>
        <p:spPr>
          <a:xfrm xmlns:a="http://schemas.openxmlformats.org/drawingml/2006/main">
            <a:off x="7200900" y="1123950"/>
            <a:ext cx="1714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050" b="1">
                <a:solidFill>
                  <a:srgbClr val="5E6B7A"/>
                </a:solidFill>
              </a:defRPr>
            </a:pPr>
            <a:r>
              <a:rPr sz="1050" b="1">
                <a:solidFill>
                  <a:srgbClr val="5E6B7A"/>
                </a:solidFill>
              </a:rPr>
              <a:t>VIDEO VISUAL</a:t>
            </a:r>
          </a:p>
        </p:txBody>
      </p:sp>
      <p:sp>
        <p:nvSpPr>
          <p:cNvPr id="14" name="">
            <a:extLst xmlns:a="http://schemas.openxmlformats.org/drawingml/2006/main">
              <a:ext uri="{FF2B5EF4-FFF2-40B4-BE49-F238E27FC236}">
                <a16:creationId xmlns:a16="http://schemas.microsoft.com/office/drawing/2014/main" id="{846C4714-8B26-4D4E-A8ED-97B4A2853805}"/>
              </a:ext>
            </a:extLst>
          </p:cNvPr>
          <p:cNvSpPr>
            <a:spLocks xmlns:a="http://schemas.openxmlformats.org/drawingml/2006/main" noGrp="1"/>
          </p:cNvSpPr>
          <p:nvPr/>
        </p:nvSpPr>
        <p:spPr>
          <a:xfrm xmlns:a="http://schemas.openxmlformats.org/drawingml/2006/main">
            <a:off x="7200900" y="1543050"/>
            <a:ext cx="3810000" cy="1047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800" b="1">
                <a:solidFill>
                  <a:srgbClr val="12233A"/>
                </a:solidFill>
              </a:defRPr>
            </a:pPr>
            <a:r>
              <a:rPr sz="1800" b="1">
                <a:solidFill>
                  <a:srgbClr val="12233A"/>
                </a:solidFill>
              </a:rPr>
              <a:t>Worker calmly reporting a near miss to supervisor.</a:t>
            </a:r>
          </a:p>
        </p:txBody>
      </p:sp>
      <p:sp>
        <p:nvSpPr>
          <p:cNvPr id="15" name="">
            <a:extLst xmlns:a="http://schemas.openxmlformats.org/drawingml/2006/main">
              <a:ext uri="{FF2B5EF4-FFF2-40B4-BE49-F238E27FC236}">
                <a16:creationId xmlns:a16="http://schemas.microsoft.com/office/drawing/2014/main" id="{1FB87710-7F40-4F1C-9417-16DD59EB6CF8}"/>
              </a:ext>
            </a:extLst>
          </p:cNvPr>
          <p:cNvSpPr>
            <a:spLocks xmlns:a="http://schemas.openxmlformats.org/drawingml/2006/main" noGrp="1"/>
          </p:cNvSpPr>
          <p:nvPr/>
        </p:nvSpPr>
        <p:spPr>
          <a:xfrm xmlns:a="http://schemas.openxmlformats.org/drawingml/2006/main">
            <a:off x="7200900" y="3028950"/>
            <a:ext cx="171450" cy="171450"/>
          </a:xfrm>
          <a:prstGeom xmlns:a="http://schemas.openxmlformats.org/drawingml/2006/main" prst="rect">
            <a:avLst/>
          </a:prstGeom>
          <a:solidFill xmlns:a="http://schemas.openxmlformats.org/drawingml/2006/main">
            <a:srgbClr val="66C43A"/>
          </a:solidFill>
          <a:ln xmlns:a="http://schemas.openxmlformats.org/drawingml/2006/main" w="0">
            <a:noFill/>
            <a:prstDash val="solid"/>
          </a:ln>
        </p:spPr>
      </p:sp>
      <p:sp>
        <p:nvSpPr>
          <p:cNvPr id="16" name="">
            <a:extLst xmlns:a="http://schemas.openxmlformats.org/drawingml/2006/main">
              <a:ext uri="{FF2B5EF4-FFF2-40B4-BE49-F238E27FC236}">
                <a16:creationId xmlns:a16="http://schemas.microsoft.com/office/drawing/2014/main" id="{533A68AE-B776-4273-8F79-CEB20D33A622}"/>
              </a:ext>
            </a:extLst>
          </p:cNvPr>
          <p:cNvSpPr>
            <a:spLocks xmlns:a="http://schemas.openxmlformats.org/drawingml/2006/main" noGrp="1"/>
          </p:cNvSpPr>
          <p:nvPr/>
        </p:nvSpPr>
        <p:spPr>
          <a:xfrm xmlns:a="http://schemas.openxmlformats.org/drawingml/2006/main">
            <a:off x="7524750" y="3000375"/>
            <a:ext cx="3143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500" b="1">
                <a:solidFill>
                  <a:srgbClr val="0B243D"/>
                </a:solidFill>
              </a:defRPr>
            </a:pPr>
            <a:r>
              <a:rPr sz="1500" b="1">
                <a:solidFill>
                  <a:srgbClr val="0B243D"/>
                </a:solidFill>
              </a:rPr>
              <a:t>Injuries, illnesses, property damage, releases, and near misses</a:t>
            </a:r>
          </a:p>
        </p:txBody>
      </p:sp>
      <p:sp>
        <p:nvSpPr>
          <p:cNvPr id="17" name="">
            <a:extLst xmlns:a="http://schemas.openxmlformats.org/drawingml/2006/main">
              <a:ext uri="{FF2B5EF4-FFF2-40B4-BE49-F238E27FC236}">
                <a16:creationId xmlns:a16="http://schemas.microsoft.com/office/drawing/2014/main" id="{029CF2F4-014F-4B38-8831-372613D30978}"/>
              </a:ext>
            </a:extLst>
          </p:cNvPr>
          <p:cNvSpPr>
            <a:spLocks xmlns:a="http://schemas.openxmlformats.org/drawingml/2006/main" noGrp="1"/>
          </p:cNvSpPr>
          <p:nvPr/>
        </p:nvSpPr>
        <p:spPr>
          <a:xfrm xmlns:a="http://schemas.openxmlformats.org/drawingml/2006/main">
            <a:off x="7200900" y="3467100"/>
            <a:ext cx="171450" cy="171450"/>
          </a:xfrm>
          <a:prstGeom xmlns:a="http://schemas.openxmlformats.org/drawingml/2006/main" prst="rect">
            <a:avLst/>
          </a:prstGeom>
          <a:solidFill xmlns:a="http://schemas.openxmlformats.org/drawingml/2006/main">
            <a:srgbClr val="66C43A"/>
          </a:solidFill>
          <a:ln xmlns:a="http://schemas.openxmlformats.org/drawingml/2006/main" w="0">
            <a:noFill/>
            <a:prstDash val="solid"/>
          </a:ln>
        </p:spPr>
      </p:sp>
      <p:sp>
        <p:nvSpPr>
          <p:cNvPr id="18" name="">
            <a:extLst xmlns:a="http://schemas.openxmlformats.org/drawingml/2006/main">
              <a:ext uri="{FF2B5EF4-FFF2-40B4-BE49-F238E27FC236}">
                <a16:creationId xmlns:a16="http://schemas.microsoft.com/office/drawing/2014/main" id="{64FF91E9-AEA8-4BE8-85FB-5BE8A844823A}"/>
              </a:ext>
            </a:extLst>
          </p:cNvPr>
          <p:cNvSpPr>
            <a:spLocks xmlns:a="http://schemas.openxmlformats.org/drawingml/2006/main" noGrp="1"/>
          </p:cNvSpPr>
          <p:nvPr/>
        </p:nvSpPr>
        <p:spPr>
          <a:xfrm xmlns:a="http://schemas.openxmlformats.org/drawingml/2006/main">
            <a:off x="7524750" y="3438525"/>
            <a:ext cx="3143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500" b="1">
                <a:solidFill>
                  <a:srgbClr val="0B243D"/>
                </a:solidFill>
              </a:defRPr>
            </a:pPr>
            <a:r>
              <a:rPr sz="1500" b="1">
                <a:solidFill>
                  <a:srgbClr val="0B243D"/>
                </a:solidFill>
              </a:rPr>
              <a:t>Report even when it appears minor</a:t>
            </a:r>
          </a:p>
        </p:txBody>
      </p:sp>
      <p:sp>
        <p:nvSpPr>
          <p:cNvPr id="19" name="">
            <a:extLst xmlns:a="http://schemas.openxmlformats.org/drawingml/2006/main">
              <a:ext uri="{FF2B5EF4-FFF2-40B4-BE49-F238E27FC236}">
                <a16:creationId xmlns:a16="http://schemas.microsoft.com/office/drawing/2014/main" id="{B957F20E-1967-4271-88B0-5D9A665EE140}"/>
              </a:ext>
            </a:extLst>
          </p:cNvPr>
          <p:cNvSpPr>
            <a:spLocks xmlns:a="http://schemas.openxmlformats.org/drawingml/2006/main" noGrp="1"/>
          </p:cNvSpPr>
          <p:nvPr/>
        </p:nvSpPr>
        <p:spPr>
          <a:xfrm xmlns:a="http://schemas.openxmlformats.org/drawingml/2006/main">
            <a:off x="7200900" y="3905250"/>
            <a:ext cx="171450" cy="171450"/>
          </a:xfrm>
          <a:prstGeom xmlns:a="http://schemas.openxmlformats.org/drawingml/2006/main" prst="rect">
            <a:avLst/>
          </a:prstGeom>
          <a:solidFill xmlns:a="http://schemas.openxmlformats.org/drawingml/2006/main">
            <a:srgbClr val="66C43A"/>
          </a:solidFill>
          <a:ln xmlns:a="http://schemas.openxmlformats.org/drawingml/2006/main" w="0">
            <a:noFill/>
            <a:prstDash val="solid"/>
          </a:ln>
        </p:spPr>
      </p:sp>
      <p:sp>
        <p:nvSpPr>
          <p:cNvPr id="20" name="">
            <a:extLst xmlns:a="http://schemas.openxmlformats.org/drawingml/2006/main">
              <a:ext uri="{FF2B5EF4-FFF2-40B4-BE49-F238E27FC236}">
                <a16:creationId xmlns:a16="http://schemas.microsoft.com/office/drawing/2014/main" id="{000BCFCF-90F6-4C65-B935-1685336443B7}"/>
              </a:ext>
            </a:extLst>
          </p:cNvPr>
          <p:cNvSpPr>
            <a:spLocks xmlns:a="http://schemas.openxmlformats.org/drawingml/2006/main" noGrp="1"/>
          </p:cNvSpPr>
          <p:nvPr/>
        </p:nvSpPr>
        <p:spPr>
          <a:xfrm xmlns:a="http://schemas.openxmlformats.org/drawingml/2006/main">
            <a:off x="7524750" y="3876675"/>
            <a:ext cx="3143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500" b="1">
                <a:solidFill>
                  <a:srgbClr val="0B243D"/>
                </a:solidFill>
              </a:defRPr>
            </a:pPr>
            <a:r>
              <a:rPr sz="1500" b="1">
                <a:solidFill>
                  <a:srgbClr val="0B243D"/>
                </a:solidFill>
              </a:rPr>
              <a:t>Same-day review corrects hazards and prevents repeat events</a:t>
            </a:r>
          </a:p>
        </p:txBody>
      </p:sp>
      <p:sp>
        <p:nvSpPr>
          <p:cNvPr id="21" name="">
            <a:extLst xmlns:a="http://schemas.openxmlformats.org/drawingml/2006/main">
              <a:ext uri="{FF2B5EF4-FFF2-40B4-BE49-F238E27FC236}">
                <a16:creationId xmlns:a16="http://schemas.microsoft.com/office/drawing/2014/main" id="{FE0FC7A3-8B8C-452A-9A3E-8FD9B10571BD}"/>
              </a:ext>
            </a:extLst>
          </p:cNvPr>
          <p:cNvSpPr>
            <a:spLocks xmlns:a="http://schemas.openxmlformats.org/drawingml/2006/main" noGrp="1"/>
          </p:cNvSpPr>
          <p:nvPr/>
        </p:nvSpPr>
        <p:spPr>
          <a:xfrm xmlns:a="http://schemas.openxmlformats.org/drawingml/2006/main">
            <a:off x="7200900" y="5219700"/>
            <a:ext cx="1714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975" b="1">
                <a:solidFill>
                  <a:srgbClr val="5E6B7A"/>
                </a:solidFill>
              </a:defRPr>
            </a:pPr>
            <a:r>
              <a:rPr sz="975" b="1">
                <a:solidFill>
                  <a:srgbClr val="5E6B7A"/>
                </a:solidFill>
              </a:rPr>
              <a:t>Scene 25</a:t>
            </a:r>
          </a:p>
        </p:txBody>
      </p:sp>
      <p:sp>
        <p:nvSpPr>
          <p:cNvPr id="22" name="">
            <a:extLst xmlns:a="http://schemas.openxmlformats.org/drawingml/2006/main">
              <a:ext uri="{FF2B5EF4-FFF2-40B4-BE49-F238E27FC236}">
                <a16:creationId xmlns:a16="http://schemas.microsoft.com/office/drawing/2014/main" id="{8E14C6CD-3D22-4AC9-ABCC-415291091C05}"/>
              </a:ext>
            </a:extLst>
          </p:cNvPr>
          <p:cNvSpPr>
            <a:spLocks xmlns:a="http://schemas.openxmlformats.org/drawingml/2006/main" noGrp="1"/>
          </p:cNvSpPr>
          <p:nvPr/>
        </p:nvSpPr>
        <p:spPr>
          <a:xfrm xmlns:a="http://schemas.openxmlformats.org/drawingml/2006/main">
            <a:off x="0" y="6515100"/>
            <a:ext cx="12192000" cy="342900"/>
          </a:xfrm>
          <a:prstGeom xmlns:a="http://schemas.openxmlformats.org/drawingml/2006/main" prst="rect">
            <a:avLst/>
          </a:prstGeom>
          <a:solidFill xmlns:a="http://schemas.openxmlformats.org/drawingml/2006/main">
            <a:srgbClr val="0B243D"/>
          </a:solidFill>
          <a:ln xmlns:a="http://schemas.openxmlformats.org/drawingml/2006/main" w="0">
            <a:noFill/>
            <a:prstDash val="solid"/>
          </a:ln>
        </p:spPr>
      </p:sp>
      <p:sp>
        <p:nvSpPr>
          <p:cNvPr id="23" name="">
            <a:extLst xmlns:a="http://schemas.openxmlformats.org/drawingml/2006/main">
              <a:ext uri="{FF2B5EF4-FFF2-40B4-BE49-F238E27FC236}">
                <a16:creationId xmlns:a16="http://schemas.microsoft.com/office/drawing/2014/main" id="{4682B2BC-AE8B-4845-ABA8-84B83A3977E0}"/>
              </a:ext>
            </a:extLst>
          </p:cNvPr>
          <p:cNvSpPr>
            <a:spLocks xmlns:a="http://schemas.openxmlformats.org/drawingml/2006/main" noGrp="1"/>
          </p:cNvSpPr>
          <p:nvPr/>
        </p:nvSpPr>
        <p:spPr>
          <a:xfrm xmlns:a="http://schemas.openxmlformats.org/drawingml/2006/main">
            <a:off x="533400" y="6600825"/>
            <a:ext cx="3429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975" b="1">
                <a:solidFill>
                  <a:srgbClr val="FFFFFF"/>
                </a:solidFill>
              </a:defRPr>
            </a:pPr>
            <a:r>
              <a:rPr sz="975" b="1">
                <a:solidFill>
                  <a:srgbClr val="FFFFFF"/>
                </a:solidFill>
              </a:rPr>
              <a:t>PAL Environmental Services</a:t>
            </a:r>
          </a:p>
        </p:txBody>
      </p:sp>
      <p:sp>
        <p:nvSpPr>
          <p:cNvPr id="24" name="">
            <a:extLst xmlns:a="http://schemas.openxmlformats.org/drawingml/2006/main">
              <a:ext uri="{FF2B5EF4-FFF2-40B4-BE49-F238E27FC236}">
                <a16:creationId xmlns:a16="http://schemas.microsoft.com/office/drawing/2014/main" id="{38EF8518-115B-4EF3-84D9-1FD94102E4F7}"/>
              </a:ext>
            </a:extLst>
          </p:cNvPr>
          <p:cNvSpPr>
            <a:spLocks xmlns:a="http://schemas.openxmlformats.org/drawingml/2006/main" noGrp="1"/>
          </p:cNvSpPr>
          <p:nvPr/>
        </p:nvSpPr>
        <p:spPr>
          <a:xfrm xmlns:a="http://schemas.openxmlformats.org/drawingml/2006/main">
            <a:off x="9620250" y="6600825"/>
            <a:ext cx="2095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900">
                <a:solidFill>
                  <a:srgbClr val="DDEAF5"/>
                </a:solidFill>
              </a:defRPr>
            </a:pPr>
            <a:r>
              <a:rPr sz="900">
                <a:solidFill>
                  <a:srgbClr val="DDEAF5"/>
                </a:solidFill>
              </a:rPr>
              <a:t>Employee Orientation  |  25</a:t>
            </a:r>
          </a:p>
        </p:txBody>
      </p:sp>
    </p:spTree>
    <p:extLst>
      <p:ext uri="{BB962C8B-B14F-4D97-AF65-F5344CB8AC3E}">
        <p14:creationId xmlns:p14="http://schemas.microsoft.com/office/powerpoint/2010/main" val="1665383204"/>
      </p:ext>
    </p:extLst>
  </p:cSld>
</p:sld>
</file>

<file path=ppt/slides/slide2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3E77994B-0EBD-4E45-8AB2-3548AC1C3084}"/>
              </a:ext>
            </a:extLst>
          </p:cNvPr>
          <p:cNvSpPr>
            <a:spLocks xmlns:a="http://schemas.openxmlformats.org/drawingml/2006/main" noGrp="1"/>
          </p:cNvSpPr>
          <p:nvPr/>
        </p:nvSpPr>
        <p:spPr>
          <a:xfrm xmlns:a="http://schemas.openxmlformats.org/drawingml/2006/main">
            <a:off x="0" y="0"/>
            <a:ext cx="12192000" cy="266700"/>
          </a:xfrm>
          <a:prstGeom xmlns:a="http://schemas.openxmlformats.org/drawingml/2006/main" prst="rect">
            <a:avLst/>
          </a:prstGeom>
          <a:solidFill xmlns:a="http://schemas.openxmlformats.org/drawingml/2006/main">
            <a:srgbClr val="0B243D"/>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51D37976-58C3-4420-8D79-7003C5FAE41A}"/>
              </a:ext>
            </a:extLst>
          </p:cNvPr>
          <p:cNvSpPr>
            <a:spLocks xmlns:a="http://schemas.openxmlformats.org/drawingml/2006/main" noGrp="1"/>
          </p:cNvSpPr>
          <p:nvPr/>
        </p:nvSpPr>
        <p:spPr>
          <a:xfrm xmlns:a="http://schemas.openxmlformats.org/drawingml/2006/main">
            <a:off x="0" y="266700"/>
            <a:ext cx="171450" cy="6248400"/>
          </a:xfrm>
          <a:prstGeom xmlns:a="http://schemas.openxmlformats.org/drawingml/2006/main" prst="rect">
            <a:avLst/>
          </a:prstGeom>
          <a:solidFill xmlns:a="http://schemas.openxmlformats.org/drawingml/2006/main">
            <a:srgbClr val="B7791F"/>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EDF5C8D1-7B0C-4C41-9E2B-79A108048199}"/>
              </a:ext>
            </a:extLst>
          </p:cNvPr>
          <p:cNvSpPr>
            <a:spLocks xmlns:a="http://schemas.openxmlformats.org/drawingml/2006/main" noGrp="1"/>
          </p:cNvSpPr>
          <p:nvPr/>
        </p:nvSpPr>
        <p:spPr>
          <a:xfrm xmlns:a="http://schemas.openxmlformats.org/drawingml/2006/main">
            <a:off x="533400" y="666750"/>
            <a:ext cx="44767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050" b="1">
                <a:solidFill>
                  <a:srgbClr val="5E6B7A"/>
                </a:solidFill>
              </a:defRPr>
            </a:pPr>
            <a:r>
              <a:rPr sz="1050" b="1">
                <a:solidFill>
                  <a:srgbClr val="5E6B7A"/>
                </a:solidFill>
              </a:rPr>
              <a:t>STOP WORK AUTHORITY</a:t>
            </a:r>
          </a:p>
        </p:txBody>
      </p:sp>
      <p:sp>
        <p:nvSpPr>
          <p:cNvPr id="4" name="">
            <a:extLst xmlns:a="http://schemas.openxmlformats.org/drawingml/2006/main">
              <a:ext uri="{FF2B5EF4-FFF2-40B4-BE49-F238E27FC236}">
                <a16:creationId xmlns:a16="http://schemas.microsoft.com/office/drawing/2014/main" id="{077DFA88-6975-4408-A0F7-77B952ADBE99}"/>
              </a:ext>
            </a:extLst>
          </p:cNvPr>
          <p:cNvSpPr>
            <a:spLocks xmlns:a="http://schemas.openxmlformats.org/drawingml/2006/main" noGrp="1"/>
          </p:cNvSpPr>
          <p:nvPr/>
        </p:nvSpPr>
        <p:spPr>
          <a:xfrm xmlns:a="http://schemas.openxmlformats.org/drawingml/2006/main">
            <a:off x="533400" y="1047750"/>
            <a:ext cx="5524500" cy="1428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3150" b="1">
                <a:solidFill>
                  <a:srgbClr val="0B243D"/>
                </a:solidFill>
              </a:defRPr>
            </a:pPr>
            <a:r>
              <a:rPr sz="3150" b="1">
                <a:solidFill>
                  <a:srgbClr val="0B243D"/>
                </a:solidFill>
              </a:rPr>
              <a:t>No one has the right to put you in an unsafe situation.</a:t>
            </a:r>
          </a:p>
        </p:txBody>
      </p:sp>
      <p:sp>
        <p:nvSpPr>
          <p:cNvPr id="5" name="">
            <a:extLst xmlns:a="http://schemas.openxmlformats.org/drawingml/2006/main">
              <a:ext uri="{FF2B5EF4-FFF2-40B4-BE49-F238E27FC236}">
                <a16:creationId xmlns:a16="http://schemas.microsoft.com/office/drawing/2014/main" id="{3BEA8120-5119-432E-95F8-29C61FF8AEE7}"/>
              </a:ext>
            </a:extLst>
          </p:cNvPr>
          <p:cNvSpPr>
            <a:spLocks xmlns:a="http://schemas.openxmlformats.org/drawingml/2006/main" noGrp="1"/>
          </p:cNvSpPr>
          <p:nvPr/>
        </p:nvSpPr>
        <p:spPr>
          <a:xfrm xmlns:a="http://schemas.openxmlformats.org/drawingml/2006/main">
            <a:off x="609600" y="2990850"/>
            <a:ext cx="114300" cy="114300"/>
          </a:xfrm>
          <a:prstGeom xmlns:a="http://schemas.openxmlformats.org/drawingml/2006/main" prst="rect">
            <a:avLst/>
          </a:prstGeom>
          <a:solidFill xmlns:a="http://schemas.openxmlformats.org/drawingml/2006/main">
            <a:srgbClr val="B7791F"/>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E525DC8B-86E5-473E-9CA7-CEA41F51D168}"/>
              </a:ext>
            </a:extLst>
          </p:cNvPr>
          <p:cNvSpPr>
            <a:spLocks xmlns:a="http://schemas.openxmlformats.org/drawingml/2006/main" noGrp="1"/>
          </p:cNvSpPr>
          <p:nvPr/>
        </p:nvSpPr>
        <p:spPr>
          <a:xfrm xmlns:a="http://schemas.openxmlformats.org/drawingml/2006/main">
            <a:off x="914400" y="2914650"/>
            <a:ext cx="53340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800" b="1">
                <a:solidFill>
                  <a:srgbClr val="12233A"/>
                </a:solidFill>
              </a:defRPr>
            </a:pPr>
            <a:r>
              <a:rPr sz="1800" b="1">
                <a:solidFill>
                  <a:srgbClr val="12233A"/>
                </a:solidFill>
              </a:rPr>
              <a:t>Stop the work</a:t>
            </a:r>
          </a:p>
        </p:txBody>
      </p:sp>
      <p:sp>
        <p:nvSpPr>
          <p:cNvPr id="7" name="">
            <a:extLst xmlns:a="http://schemas.openxmlformats.org/drawingml/2006/main">
              <a:ext uri="{FF2B5EF4-FFF2-40B4-BE49-F238E27FC236}">
                <a16:creationId xmlns:a16="http://schemas.microsoft.com/office/drawing/2014/main" id="{AFBB2D80-A347-49F3-9F2D-006804EB3102}"/>
              </a:ext>
            </a:extLst>
          </p:cNvPr>
          <p:cNvSpPr>
            <a:spLocks xmlns:a="http://schemas.openxmlformats.org/drawingml/2006/main" noGrp="1"/>
          </p:cNvSpPr>
          <p:nvPr/>
        </p:nvSpPr>
        <p:spPr>
          <a:xfrm xmlns:a="http://schemas.openxmlformats.org/drawingml/2006/main">
            <a:off x="609600" y="3600450"/>
            <a:ext cx="114300" cy="114300"/>
          </a:xfrm>
          <a:prstGeom xmlns:a="http://schemas.openxmlformats.org/drawingml/2006/main" prst="rect">
            <a:avLst/>
          </a:prstGeom>
          <a:solidFill xmlns:a="http://schemas.openxmlformats.org/drawingml/2006/main">
            <a:srgbClr val="B7791F"/>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07A196DA-C9D0-4CBD-91FE-5C4FB7C010CC}"/>
              </a:ext>
            </a:extLst>
          </p:cNvPr>
          <p:cNvSpPr>
            <a:spLocks xmlns:a="http://schemas.openxmlformats.org/drawingml/2006/main" noGrp="1"/>
          </p:cNvSpPr>
          <p:nvPr/>
        </p:nvSpPr>
        <p:spPr>
          <a:xfrm xmlns:a="http://schemas.openxmlformats.org/drawingml/2006/main">
            <a:off x="914400" y="3524250"/>
            <a:ext cx="53340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800" b="0">
                <a:solidFill>
                  <a:srgbClr val="12233A"/>
                </a:solidFill>
              </a:defRPr>
            </a:pPr>
            <a:r>
              <a:rPr sz="1800" b="0">
                <a:solidFill>
                  <a:srgbClr val="12233A"/>
                </a:solidFill>
              </a:rPr>
              <a:t>Move to a safe location</a:t>
            </a:r>
          </a:p>
        </p:txBody>
      </p:sp>
      <p:sp>
        <p:nvSpPr>
          <p:cNvPr id="9" name="">
            <a:extLst xmlns:a="http://schemas.openxmlformats.org/drawingml/2006/main">
              <a:ext uri="{FF2B5EF4-FFF2-40B4-BE49-F238E27FC236}">
                <a16:creationId xmlns:a16="http://schemas.microsoft.com/office/drawing/2014/main" id="{F5F0B52E-EAF6-436A-9878-5D022BB2A240}"/>
              </a:ext>
            </a:extLst>
          </p:cNvPr>
          <p:cNvSpPr>
            <a:spLocks xmlns:a="http://schemas.openxmlformats.org/drawingml/2006/main" noGrp="1"/>
          </p:cNvSpPr>
          <p:nvPr/>
        </p:nvSpPr>
        <p:spPr>
          <a:xfrm xmlns:a="http://schemas.openxmlformats.org/drawingml/2006/main">
            <a:off x="609600" y="4210050"/>
            <a:ext cx="114300" cy="114300"/>
          </a:xfrm>
          <a:prstGeom xmlns:a="http://schemas.openxmlformats.org/drawingml/2006/main" prst="rect">
            <a:avLst/>
          </a:prstGeom>
          <a:solidFill xmlns:a="http://schemas.openxmlformats.org/drawingml/2006/main">
            <a:srgbClr val="B7791F"/>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4DFBBADF-3EFA-4FDF-B15B-CD9B325EA9AD}"/>
              </a:ext>
            </a:extLst>
          </p:cNvPr>
          <p:cNvSpPr>
            <a:spLocks xmlns:a="http://schemas.openxmlformats.org/drawingml/2006/main" noGrp="1"/>
          </p:cNvSpPr>
          <p:nvPr/>
        </p:nvSpPr>
        <p:spPr>
          <a:xfrm xmlns:a="http://schemas.openxmlformats.org/drawingml/2006/main">
            <a:off x="914400" y="4133850"/>
            <a:ext cx="53340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800" b="0">
                <a:solidFill>
                  <a:srgbClr val="12233A"/>
                </a:solidFill>
              </a:defRPr>
            </a:pPr>
            <a:r>
              <a:rPr sz="1800" b="0">
                <a:solidFill>
                  <a:srgbClr val="12233A"/>
                </a:solidFill>
              </a:rPr>
              <a:t>Notify supervision</a:t>
            </a:r>
          </a:p>
        </p:txBody>
      </p:sp>
      <p:sp>
        <p:nvSpPr>
          <p:cNvPr id="11" name="">
            <a:extLst xmlns:a="http://schemas.openxmlformats.org/drawingml/2006/main">
              <a:ext uri="{FF2B5EF4-FFF2-40B4-BE49-F238E27FC236}">
                <a16:creationId xmlns:a16="http://schemas.microsoft.com/office/drawing/2014/main" id="{DB617F8F-490A-478A-A1B5-1B1A42E4A0AC}"/>
              </a:ext>
            </a:extLst>
          </p:cNvPr>
          <p:cNvSpPr>
            <a:spLocks xmlns:a="http://schemas.openxmlformats.org/drawingml/2006/main" noGrp="1"/>
          </p:cNvSpPr>
          <p:nvPr/>
        </p:nvSpPr>
        <p:spPr>
          <a:xfrm xmlns:a="http://schemas.openxmlformats.org/drawingml/2006/main">
            <a:off x="6858000" y="704850"/>
            <a:ext cx="4495800" cy="4953000"/>
          </a:xfrm>
          <a:prstGeom xmlns:a="http://schemas.openxmlformats.org/drawingml/2006/main" prst="rect">
            <a:avLst/>
          </a:prstGeom>
          <a:solidFill xmlns:a="http://schemas.openxmlformats.org/drawingml/2006/main">
            <a:srgbClr val="F3F6F8"/>
          </a:solidFill>
          <a:ln xmlns:a="http://schemas.openxmlformats.org/drawingml/2006/main" w="9525">
            <a:solidFill>
              <a:srgbClr val="D8E1EA"/>
            </a:solidFill>
            <a:prstDash val="solid"/>
          </a:ln>
        </p:spPr>
      </p:sp>
      <p:sp>
        <p:nvSpPr>
          <p:cNvPr id="12" name="">
            <a:extLst xmlns:a="http://schemas.openxmlformats.org/drawingml/2006/main">
              <a:ext uri="{FF2B5EF4-FFF2-40B4-BE49-F238E27FC236}">
                <a16:creationId xmlns:a16="http://schemas.microsoft.com/office/drawing/2014/main" id="{21336DFF-B822-4B4D-9AD4-98983D917743}"/>
              </a:ext>
            </a:extLst>
          </p:cNvPr>
          <p:cNvSpPr>
            <a:spLocks xmlns:a="http://schemas.openxmlformats.org/drawingml/2006/main" noGrp="1"/>
          </p:cNvSpPr>
          <p:nvPr/>
        </p:nvSpPr>
        <p:spPr>
          <a:xfrm xmlns:a="http://schemas.openxmlformats.org/drawingml/2006/main">
            <a:off x="6858000" y="704850"/>
            <a:ext cx="4495800" cy="114300"/>
          </a:xfrm>
          <a:prstGeom xmlns:a="http://schemas.openxmlformats.org/drawingml/2006/main" prst="rect">
            <a:avLst/>
          </a:prstGeom>
          <a:solidFill xmlns:a="http://schemas.openxmlformats.org/drawingml/2006/main">
            <a:srgbClr val="B7791F"/>
          </a:solidFill>
          <a:ln xmlns:a="http://schemas.openxmlformats.org/drawingml/2006/main" w="0">
            <a:noFill/>
            <a:prstDash val="solid"/>
          </a:ln>
        </p:spPr>
      </p:sp>
      <p:sp>
        <p:nvSpPr>
          <p:cNvPr id="13" name="">
            <a:extLst xmlns:a="http://schemas.openxmlformats.org/drawingml/2006/main">
              <a:ext uri="{FF2B5EF4-FFF2-40B4-BE49-F238E27FC236}">
                <a16:creationId xmlns:a16="http://schemas.microsoft.com/office/drawing/2014/main" id="{97577F3F-B81E-4A6A-B4FA-38495F219F1C}"/>
              </a:ext>
            </a:extLst>
          </p:cNvPr>
          <p:cNvSpPr>
            <a:spLocks xmlns:a="http://schemas.openxmlformats.org/drawingml/2006/main" noGrp="1"/>
          </p:cNvSpPr>
          <p:nvPr/>
        </p:nvSpPr>
        <p:spPr>
          <a:xfrm xmlns:a="http://schemas.openxmlformats.org/drawingml/2006/main">
            <a:off x="7200900" y="1123950"/>
            <a:ext cx="1714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050" b="1">
                <a:solidFill>
                  <a:srgbClr val="5E6B7A"/>
                </a:solidFill>
              </a:defRPr>
            </a:pPr>
            <a:r>
              <a:rPr sz="1050" b="1">
                <a:solidFill>
                  <a:srgbClr val="5E6B7A"/>
                </a:solidFill>
              </a:rPr>
              <a:t>VIDEO VISUAL</a:t>
            </a:r>
          </a:p>
        </p:txBody>
      </p:sp>
      <p:sp>
        <p:nvSpPr>
          <p:cNvPr id="14" name="">
            <a:extLst xmlns:a="http://schemas.openxmlformats.org/drawingml/2006/main">
              <a:ext uri="{FF2B5EF4-FFF2-40B4-BE49-F238E27FC236}">
                <a16:creationId xmlns:a16="http://schemas.microsoft.com/office/drawing/2014/main" id="{FC5BABAF-B368-4056-B267-488AA69B592C}"/>
              </a:ext>
            </a:extLst>
          </p:cNvPr>
          <p:cNvSpPr>
            <a:spLocks xmlns:a="http://schemas.openxmlformats.org/drawingml/2006/main" noGrp="1"/>
          </p:cNvSpPr>
          <p:nvPr/>
        </p:nvSpPr>
        <p:spPr>
          <a:xfrm xmlns:a="http://schemas.openxmlformats.org/drawingml/2006/main">
            <a:off x="7200900" y="1543050"/>
            <a:ext cx="3810000" cy="1047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800" b="1">
                <a:solidFill>
                  <a:srgbClr val="12233A"/>
                </a:solidFill>
              </a:defRPr>
            </a:pPr>
            <a:r>
              <a:rPr sz="1800" b="1">
                <a:solidFill>
                  <a:srgbClr val="12233A"/>
                </a:solidFill>
              </a:rPr>
              <a:t>Worker stopping a task and speaking with foreman before continuing.</a:t>
            </a:r>
          </a:p>
        </p:txBody>
      </p:sp>
      <p:sp>
        <p:nvSpPr>
          <p:cNvPr id="15" name="">
            <a:extLst xmlns:a="http://schemas.openxmlformats.org/drawingml/2006/main">
              <a:ext uri="{FF2B5EF4-FFF2-40B4-BE49-F238E27FC236}">
                <a16:creationId xmlns:a16="http://schemas.microsoft.com/office/drawing/2014/main" id="{303439A0-3E1C-434A-870D-40B69A481557}"/>
              </a:ext>
            </a:extLst>
          </p:cNvPr>
          <p:cNvSpPr>
            <a:spLocks xmlns:a="http://schemas.openxmlformats.org/drawingml/2006/main" noGrp="1"/>
          </p:cNvSpPr>
          <p:nvPr/>
        </p:nvSpPr>
        <p:spPr>
          <a:xfrm xmlns:a="http://schemas.openxmlformats.org/drawingml/2006/main">
            <a:off x="7200900" y="3028950"/>
            <a:ext cx="171450" cy="171450"/>
          </a:xfrm>
          <a:prstGeom xmlns:a="http://schemas.openxmlformats.org/drawingml/2006/main" prst="rect">
            <a:avLst/>
          </a:prstGeom>
          <a:solidFill xmlns:a="http://schemas.openxmlformats.org/drawingml/2006/main">
            <a:srgbClr val="B7791F"/>
          </a:solidFill>
          <a:ln xmlns:a="http://schemas.openxmlformats.org/drawingml/2006/main" w="0">
            <a:noFill/>
            <a:prstDash val="solid"/>
          </a:ln>
        </p:spPr>
      </p:sp>
      <p:sp>
        <p:nvSpPr>
          <p:cNvPr id="16" name="">
            <a:extLst xmlns:a="http://schemas.openxmlformats.org/drawingml/2006/main">
              <a:ext uri="{FF2B5EF4-FFF2-40B4-BE49-F238E27FC236}">
                <a16:creationId xmlns:a16="http://schemas.microsoft.com/office/drawing/2014/main" id="{E9F1F220-646F-4C61-87A5-75AAEE83ADAE}"/>
              </a:ext>
            </a:extLst>
          </p:cNvPr>
          <p:cNvSpPr>
            <a:spLocks xmlns:a="http://schemas.openxmlformats.org/drawingml/2006/main" noGrp="1"/>
          </p:cNvSpPr>
          <p:nvPr/>
        </p:nvSpPr>
        <p:spPr>
          <a:xfrm xmlns:a="http://schemas.openxmlformats.org/drawingml/2006/main">
            <a:off x="7524750" y="3000375"/>
            <a:ext cx="3143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500" b="1">
                <a:solidFill>
                  <a:srgbClr val="0B243D"/>
                </a:solidFill>
              </a:defRPr>
            </a:pPr>
            <a:r>
              <a:rPr sz="1500" b="1">
                <a:solidFill>
                  <a:srgbClr val="0B243D"/>
                </a:solidFill>
              </a:rPr>
              <a:t>Stop the work</a:t>
            </a:r>
          </a:p>
        </p:txBody>
      </p:sp>
      <p:sp>
        <p:nvSpPr>
          <p:cNvPr id="17" name="">
            <a:extLst xmlns:a="http://schemas.openxmlformats.org/drawingml/2006/main">
              <a:ext uri="{FF2B5EF4-FFF2-40B4-BE49-F238E27FC236}">
                <a16:creationId xmlns:a16="http://schemas.microsoft.com/office/drawing/2014/main" id="{9B64AAB3-0AA5-49E2-BD16-CF46B139B25A}"/>
              </a:ext>
            </a:extLst>
          </p:cNvPr>
          <p:cNvSpPr>
            <a:spLocks xmlns:a="http://schemas.openxmlformats.org/drawingml/2006/main" noGrp="1"/>
          </p:cNvSpPr>
          <p:nvPr/>
        </p:nvSpPr>
        <p:spPr>
          <a:xfrm xmlns:a="http://schemas.openxmlformats.org/drawingml/2006/main">
            <a:off x="7200900" y="3467100"/>
            <a:ext cx="171450" cy="171450"/>
          </a:xfrm>
          <a:prstGeom xmlns:a="http://schemas.openxmlformats.org/drawingml/2006/main" prst="rect">
            <a:avLst/>
          </a:prstGeom>
          <a:solidFill xmlns:a="http://schemas.openxmlformats.org/drawingml/2006/main">
            <a:srgbClr val="B7791F"/>
          </a:solidFill>
          <a:ln xmlns:a="http://schemas.openxmlformats.org/drawingml/2006/main" w="0">
            <a:noFill/>
            <a:prstDash val="solid"/>
          </a:ln>
        </p:spPr>
      </p:sp>
      <p:sp>
        <p:nvSpPr>
          <p:cNvPr id="18" name="">
            <a:extLst xmlns:a="http://schemas.openxmlformats.org/drawingml/2006/main">
              <a:ext uri="{FF2B5EF4-FFF2-40B4-BE49-F238E27FC236}">
                <a16:creationId xmlns:a16="http://schemas.microsoft.com/office/drawing/2014/main" id="{1E6B9E81-9B68-4F04-A1C5-DDB80E8C27EE}"/>
              </a:ext>
            </a:extLst>
          </p:cNvPr>
          <p:cNvSpPr>
            <a:spLocks xmlns:a="http://schemas.openxmlformats.org/drawingml/2006/main" noGrp="1"/>
          </p:cNvSpPr>
          <p:nvPr/>
        </p:nvSpPr>
        <p:spPr>
          <a:xfrm xmlns:a="http://schemas.openxmlformats.org/drawingml/2006/main">
            <a:off x="7524750" y="3438525"/>
            <a:ext cx="3143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500" b="1">
                <a:solidFill>
                  <a:srgbClr val="0B243D"/>
                </a:solidFill>
              </a:defRPr>
            </a:pPr>
            <a:r>
              <a:rPr sz="1500" b="1">
                <a:solidFill>
                  <a:srgbClr val="0B243D"/>
                </a:solidFill>
              </a:rPr>
              <a:t>Move to a safe location</a:t>
            </a:r>
          </a:p>
        </p:txBody>
      </p:sp>
      <p:sp>
        <p:nvSpPr>
          <p:cNvPr id="19" name="">
            <a:extLst xmlns:a="http://schemas.openxmlformats.org/drawingml/2006/main">
              <a:ext uri="{FF2B5EF4-FFF2-40B4-BE49-F238E27FC236}">
                <a16:creationId xmlns:a16="http://schemas.microsoft.com/office/drawing/2014/main" id="{0FF67E2D-12A1-4E61-A7E5-FCA2DECAE887}"/>
              </a:ext>
            </a:extLst>
          </p:cNvPr>
          <p:cNvSpPr>
            <a:spLocks xmlns:a="http://schemas.openxmlformats.org/drawingml/2006/main" noGrp="1"/>
          </p:cNvSpPr>
          <p:nvPr/>
        </p:nvSpPr>
        <p:spPr>
          <a:xfrm xmlns:a="http://schemas.openxmlformats.org/drawingml/2006/main">
            <a:off x="7200900" y="3905250"/>
            <a:ext cx="171450" cy="171450"/>
          </a:xfrm>
          <a:prstGeom xmlns:a="http://schemas.openxmlformats.org/drawingml/2006/main" prst="rect">
            <a:avLst/>
          </a:prstGeom>
          <a:solidFill xmlns:a="http://schemas.openxmlformats.org/drawingml/2006/main">
            <a:srgbClr val="B7791F"/>
          </a:solidFill>
          <a:ln xmlns:a="http://schemas.openxmlformats.org/drawingml/2006/main" w="0">
            <a:noFill/>
            <a:prstDash val="solid"/>
          </a:ln>
        </p:spPr>
      </p:sp>
      <p:sp>
        <p:nvSpPr>
          <p:cNvPr id="20" name="">
            <a:extLst xmlns:a="http://schemas.openxmlformats.org/drawingml/2006/main">
              <a:ext uri="{FF2B5EF4-FFF2-40B4-BE49-F238E27FC236}">
                <a16:creationId xmlns:a16="http://schemas.microsoft.com/office/drawing/2014/main" id="{3094D4C1-373A-4664-B8C9-639EDA7709E2}"/>
              </a:ext>
            </a:extLst>
          </p:cNvPr>
          <p:cNvSpPr>
            <a:spLocks xmlns:a="http://schemas.openxmlformats.org/drawingml/2006/main" noGrp="1"/>
          </p:cNvSpPr>
          <p:nvPr/>
        </p:nvSpPr>
        <p:spPr>
          <a:xfrm xmlns:a="http://schemas.openxmlformats.org/drawingml/2006/main">
            <a:off x="7524750" y="3876675"/>
            <a:ext cx="3143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500" b="1">
                <a:solidFill>
                  <a:srgbClr val="0B243D"/>
                </a:solidFill>
              </a:defRPr>
            </a:pPr>
            <a:r>
              <a:rPr sz="1500" b="1">
                <a:solidFill>
                  <a:srgbClr val="0B243D"/>
                </a:solidFill>
              </a:rPr>
              <a:t>Notify supervision</a:t>
            </a:r>
          </a:p>
        </p:txBody>
      </p:sp>
      <p:sp>
        <p:nvSpPr>
          <p:cNvPr id="21" name="">
            <a:extLst xmlns:a="http://schemas.openxmlformats.org/drawingml/2006/main">
              <a:ext uri="{FF2B5EF4-FFF2-40B4-BE49-F238E27FC236}">
                <a16:creationId xmlns:a16="http://schemas.microsoft.com/office/drawing/2014/main" id="{C50A079D-9358-464E-B819-A13FF591678B}"/>
              </a:ext>
            </a:extLst>
          </p:cNvPr>
          <p:cNvSpPr>
            <a:spLocks xmlns:a="http://schemas.openxmlformats.org/drawingml/2006/main" noGrp="1"/>
          </p:cNvSpPr>
          <p:nvPr/>
        </p:nvSpPr>
        <p:spPr>
          <a:xfrm xmlns:a="http://schemas.openxmlformats.org/drawingml/2006/main">
            <a:off x="7200900" y="5219700"/>
            <a:ext cx="1714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975" b="1">
                <a:solidFill>
                  <a:srgbClr val="5E6B7A"/>
                </a:solidFill>
              </a:defRPr>
            </a:pPr>
            <a:r>
              <a:rPr sz="975" b="1">
                <a:solidFill>
                  <a:srgbClr val="5E6B7A"/>
                </a:solidFill>
              </a:rPr>
              <a:t>Scene 26</a:t>
            </a:r>
          </a:p>
        </p:txBody>
      </p:sp>
      <p:sp>
        <p:nvSpPr>
          <p:cNvPr id="22" name="">
            <a:extLst xmlns:a="http://schemas.openxmlformats.org/drawingml/2006/main">
              <a:ext uri="{FF2B5EF4-FFF2-40B4-BE49-F238E27FC236}">
                <a16:creationId xmlns:a16="http://schemas.microsoft.com/office/drawing/2014/main" id="{E5DB884E-021A-46ED-BD92-9D92C94D7944}"/>
              </a:ext>
            </a:extLst>
          </p:cNvPr>
          <p:cNvSpPr>
            <a:spLocks xmlns:a="http://schemas.openxmlformats.org/drawingml/2006/main" noGrp="1"/>
          </p:cNvSpPr>
          <p:nvPr/>
        </p:nvSpPr>
        <p:spPr>
          <a:xfrm xmlns:a="http://schemas.openxmlformats.org/drawingml/2006/main">
            <a:off x="0" y="6515100"/>
            <a:ext cx="12192000" cy="342900"/>
          </a:xfrm>
          <a:prstGeom xmlns:a="http://schemas.openxmlformats.org/drawingml/2006/main" prst="rect">
            <a:avLst/>
          </a:prstGeom>
          <a:solidFill xmlns:a="http://schemas.openxmlformats.org/drawingml/2006/main">
            <a:srgbClr val="0B243D"/>
          </a:solidFill>
          <a:ln xmlns:a="http://schemas.openxmlformats.org/drawingml/2006/main" w="0">
            <a:noFill/>
            <a:prstDash val="solid"/>
          </a:ln>
        </p:spPr>
      </p:sp>
      <p:sp>
        <p:nvSpPr>
          <p:cNvPr id="23" name="">
            <a:extLst xmlns:a="http://schemas.openxmlformats.org/drawingml/2006/main">
              <a:ext uri="{FF2B5EF4-FFF2-40B4-BE49-F238E27FC236}">
                <a16:creationId xmlns:a16="http://schemas.microsoft.com/office/drawing/2014/main" id="{115267E9-A988-4FE4-805C-4A62BB05810B}"/>
              </a:ext>
            </a:extLst>
          </p:cNvPr>
          <p:cNvSpPr>
            <a:spLocks xmlns:a="http://schemas.openxmlformats.org/drawingml/2006/main" noGrp="1"/>
          </p:cNvSpPr>
          <p:nvPr/>
        </p:nvSpPr>
        <p:spPr>
          <a:xfrm xmlns:a="http://schemas.openxmlformats.org/drawingml/2006/main">
            <a:off x="533400" y="6600825"/>
            <a:ext cx="3429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975" b="1">
                <a:solidFill>
                  <a:srgbClr val="FFFFFF"/>
                </a:solidFill>
              </a:defRPr>
            </a:pPr>
            <a:r>
              <a:rPr sz="975" b="1">
                <a:solidFill>
                  <a:srgbClr val="FFFFFF"/>
                </a:solidFill>
              </a:rPr>
              <a:t>PAL Environmental Services</a:t>
            </a:r>
          </a:p>
        </p:txBody>
      </p:sp>
      <p:sp>
        <p:nvSpPr>
          <p:cNvPr id="24" name="">
            <a:extLst xmlns:a="http://schemas.openxmlformats.org/drawingml/2006/main">
              <a:ext uri="{FF2B5EF4-FFF2-40B4-BE49-F238E27FC236}">
                <a16:creationId xmlns:a16="http://schemas.microsoft.com/office/drawing/2014/main" id="{623DED9C-0609-4659-8653-2B076E46F7C4}"/>
              </a:ext>
            </a:extLst>
          </p:cNvPr>
          <p:cNvSpPr>
            <a:spLocks xmlns:a="http://schemas.openxmlformats.org/drawingml/2006/main" noGrp="1"/>
          </p:cNvSpPr>
          <p:nvPr/>
        </p:nvSpPr>
        <p:spPr>
          <a:xfrm xmlns:a="http://schemas.openxmlformats.org/drawingml/2006/main">
            <a:off x="9620250" y="6600825"/>
            <a:ext cx="2095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900">
                <a:solidFill>
                  <a:srgbClr val="DDEAF5"/>
                </a:solidFill>
              </a:defRPr>
            </a:pPr>
            <a:r>
              <a:rPr sz="900">
                <a:solidFill>
                  <a:srgbClr val="DDEAF5"/>
                </a:solidFill>
              </a:rPr>
              <a:t>Employee Orientation  |  26</a:t>
            </a:r>
          </a:p>
        </p:txBody>
      </p:sp>
    </p:spTree>
    <p:extLst>
      <p:ext uri="{BB962C8B-B14F-4D97-AF65-F5344CB8AC3E}">
        <p14:creationId xmlns:p14="http://schemas.microsoft.com/office/powerpoint/2010/main" val="1515275336"/>
      </p:ext>
    </p:extLst>
  </p:cSld>
</p:sld>
</file>

<file path=ppt/slides/slide2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F94ED4E1-79C1-46B4-A033-FDF17F7B43EB}"/>
              </a:ext>
            </a:extLst>
          </p:cNvPr>
          <p:cNvSpPr>
            <a:spLocks xmlns:a="http://schemas.openxmlformats.org/drawingml/2006/main" noGrp="1"/>
          </p:cNvSpPr>
          <p:nvPr/>
        </p:nvSpPr>
        <p:spPr>
          <a:xfrm xmlns:a="http://schemas.openxmlformats.org/drawingml/2006/main">
            <a:off x="0" y="0"/>
            <a:ext cx="12192000" cy="266700"/>
          </a:xfrm>
          <a:prstGeom xmlns:a="http://schemas.openxmlformats.org/drawingml/2006/main" prst="rect">
            <a:avLst/>
          </a:prstGeom>
          <a:solidFill xmlns:a="http://schemas.openxmlformats.org/drawingml/2006/main">
            <a:srgbClr val="0B243D"/>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AC24F05F-C49C-4DA8-8E45-856E9F049467}"/>
              </a:ext>
            </a:extLst>
          </p:cNvPr>
          <p:cNvSpPr>
            <a:spLocks xmlns:a="http://schemas.openxmlformats.org/drawingml/2006/main" noGrp="1"/>
          </p:cNvSpPr>
          <p:nvPr/>
        </p:nvSpPr>
        <p:spPr>
          <a:xfrm xmlns:a="http://schemas.openxmlformats.org/drawingml/2006/main">
            <a:off x="0" y="266700"/>
            <a:ext cx="171450" cy="6248400"/>
          </a:xfrm>
          <a:prstGeom xmlns:a="http://schemas.openxmlformats.org/drawingml/2006/main" prst="rect">
            <a:avLst/>
          </a:prstGeom>
          <a:solidFill xmlns:a="http://schemas.openxmlformats.org/drawingml/2006/main">
            <a:srgbClr val="66C43A"/>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CDB2B619-5E1D-457F-AB61-7F12659A240B}"/>
              </a:ext>
            </a:extLst>
          </p:cNvPr>
          <p:cNvSpPr>
            <a:spLocks xmlns:a="http://schemas.openxmlformats.org/drawingml/2006/main" noGrp="1"/>
          </p:cNvSpPr>
          <p:nvPr/>
        </p:nvSpPr>
        <p:spPr>
          <a:xfrm xmlns:a="http://schemas.openxmlformats.org/drawingml/2006/main">
            <a:off x="533400" y="666750"/>
            <a:ext cx="44767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050" b="1">
                <a:solidFill>
                  <a:srgbClr val="5E6B7A"/>
                </a:solidFill>
              </a:defRPr>
            </a:pPr>
            <a:r>
              <a:rPr sz="1050" b="1">
                <a:solidFill>
                  <a:srgbClr val="5E6B7A"/>
                </a:solidFill>
              </a:rPr>
              <a:t>WORKPLACE RULES</a:t>
            </a:r>
          </a:p>
        </p:txBody>
      </p:sp>
      <p:sp>
        <p:nvSpPr>
          <p:cNvPr id="4" name="">
            <a:extLst xmlns:a="http://schemas.openxmlformats.org/drawingml/2006/main">
              <a:ext uri="{FF2B5EF4-FFF2-40B4-BE49-F238E27FC236}">
                <a16:creationId xmlns:a16="http://schemas.microsoft.com/office/drawing/2014/main" id="{D2682430-9FD7-4CD1-800C-67157B897C01}"/>
              </a:ext>
            </a:extLst>
          </p:cNvPr>
          <p:cNvSpPr>
            <a:spLocks xmlns:a="http://schemas.openxmlformats.org/drawingml/2006/main" noGrp="1"/>
          </p:cNvSpPr>
          <p:nvPr/>
        </p:nvSpPr>
        <p:spPr>
          <a:xfrm xmlns:a="http://schemas.openxmlformats.org/drawingml/2006/main">
            <a:off x="533400" y="1047750"/>
            <a:ext cx="5524500" cy="1428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3150" b="1">
                <a:solidFill>
                  <a:srgbClr val="0B243D"/>
                </a:solidFill>
              </a:defRPr>
            </a:pPr>
            <a:r>
              <a:rPr sz="3150" b="1">
                <a:solidFill>
                  <a:srgbClr val="0B243D"/>
                </a:solidFill>
              </a:rPr>
              <a:t>PAL maintains a drug-free and alcohol-free workplace.</a:t>
            </a:r>
          </a:p>
        </p:txBody>
      </p:sp>
      <p:sp>
        <p:nvSpPr>
          <p:cNvPr id="5" name="">
            <a:extLst xmlns:a="http://schemas.openxmlformats.org/drawingml/2006/main">
              <a:ext uri="{FF2B5EF4-FFF2-40B4-BE49-F238E27FC236}">
                <a16:creationId xmlns:a16="http://schemas.microsoft.com/office/drawing/2014/main" id="{0E42F6DA-8AAB-46B3-804F-C955E011CB5D}"/>
              </a:ext>
            </a:extLst>
          </p:cNvPr>
          <p:cNvSpPr>
            <a:spLocks xmlns:a="http://schemas.openxmlformats.org/drawingml/2006/main" noGrp="1"/>
          </p:cNvSpPr>
          <p:nvPr/>
        </p:nvSpPr>
        <p:spPr>
          <a:xfrm xmlns:a="http://schemas.openxmlformats.org/drawingml/2006/main">
            <a:off x="609600" y="2990850"/>
            <a:ext cx="114300" cy="114300"/>
          </a:xfrm>
          <a:prstGeom xmlns:a="http://schemas.openxmlformats.org/drawingml/2006/main" prst="rect">
            <a:avLst/>
          </a:prstGeom>
          <a:solidFill xmlns:a="http://schemas.openxmlformats.org/drawingml/2006/main">
            <a:srgbClr val="66C43A"/>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2E85C720-8730-4B80-B74B-B03057FF7A9D}"/>
              </a:ext>
            </a:extLst>
          </p:cNvPr>
          <p:cNvSpPr>
            <a:spLocks xmlns:a="http://schemas.openxmlformats.org/drawingml/2006/main" noGrp="1"/>
          </p:cNvSpPr>
          <p:nvPr/>
        </p:nvSpPr>
        <p:spPr>
          <a:xfrm xmlns:a="http://schemas.openxmlformats.org/drawingml/2006/main">
            <a:off x="914400" y="2914650"/>
            <a:ext cx="53340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800" b="1">
                <a:solidFill>
                  <a:srgbClr val="12233A"/>
                </a:solidFill>
              </a:defRPr>
            </a:pPr>
            <a:r>
              <a:rPr sz="1800" b="1">
                <a:solidFill>
                  <a:srgbClr val="12233A"/>
                </a:solidFill>
              </a:rPr>
              <a:t>No alcohol during the workday, including lunch</a:t>
            </a:r>
          </a:p>
        </p:txBody>
      </p:sp>
      <p:sp>
        <p:nvSpPr>
          <p:cNvPr id="7" name="">
            <a:extLst xmlns:a="http://schemas.openxmlformats.org/drawingml/2006/main">
              <a:ext uri="{FF2B5EF4-FFF2-40B4-BE49-F238E27FC236}">
                <a16:creationId xmlns:a16="http://schemas.microsoft.com/office/drawing/2014/main" id="{6896938F-A1F2-4D2A-BCBA-E1552E090D05}"/>
              </a:ext>
            </a:extLst>
          </p:cNvPr>
          <p:cNvSpPr>
            <a:spLocks xmlns:a="http://schemas.openxmlformats.org/drawingml/2006/main" noGrp="1"/>
          </p:cNvSpPr>
          <p:nvPr/>
        </p:nvSpPr>
        <p:spPr>
          <a:xfrm xmlns:a="http://schemas.openxmlformats.org/drawingml/2006/main">
            <a:off x="609600" y="3600450"/>
            <a:ext cx="114300" cy="114300"/>
          </a:xfrm>
          <a:prstGeom xmlns:a="http://schemas.openxmlformats.org/drawingml/2006/main" prst="rect">
            <a:avLst/>
          </a:prstGeom>
          <a:solidFill xmlns:a="http://schemas.openxmlformats.org/drawingml/2006/main">
            <a:srgbClr val="66C43A"/>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736F68B9-3179-4A9A-A2CA-4F88C9CABCC4}"/>
              </a:ext>
            </a:extLst>
          </p:cNvPr>
          <p:cNvSpPr>
            <a:spLocks xmlns:a="http://schemas.openxmlformats.org/drawingml/2006/main" noGrp="1"/>
          </p:cNvSpPr>
          <p:nvPr/>
        </p:nvSpPr>
        <p:spPr>
          <a:xfrm xmlns:a="http://schemas.openxmlformats.org/drawingml/2006/main">
            <a:off x="914400" y="3524250"/>
            <a:ext cx="53340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800" b="0">
                <a:solidFill>
                  <a:srgbClr val="12233A"/>
                </a:solidFill>
              </a:defRPr>
            </a:pPr>
            <a:r>
              <a:rPr sz="1800" b="0">
                <a:solidFill>
                  <a:srgbClr val="12233A"/>
                </a:solidFill>
              </a:rPr>
              <a:t>No illegal drugs, controlled substances, or reporting impaired</a:t>
            </a:r>
          </a:p>
        </p:txBody>
      </p:sp>
      <p:sp>
        <p:nvSpPr>
          <p:cNvPr id="9" name="">
            <a:extLst xmlns:a="http://schemas.openxmlformats.org/drawingml/2006/main">
              <a:ext uri="{FF2B5EF4-FFF2-40B4-BE49-F238E27FC236}">
                <a16:creationId xmlns:a16="http://schemas.microsoft.com/office/drawing/2014/main" id="{3529A213-BEF3-4E7D-AC2B-C33FA286CFAC}"/>
              </a:ext>
            </a:extLst>
          </p:cNvPr>
          <p:cNvSpPr>
            <a:spLocks xmlns:a="http://schemas.openxmlformats.org/drawingml/2006/main" noGrp="1"/>
          </p:cNvSpPr>
          <p:nvPr/>
        </p:nvSpPr>
        <p:spPr>
          <a:xfrm xmlns:a="http://schemas.openxmlformats.org/drawingml/2006/main">
            <a:off x="609600" y="4210050"/>
            <a:ext cx="114300" cy="114300"/>
          </a:xfrm>
          <a:prstGeom xmlns:a="http://schemas.openxmlformats.org/drawingml/2006/main" prst="rect">
            <a:avLst/>
          </a:prstGeom>
          <a:solidFill xmlns:a="http://schemas.openxmlformats.org/drawingml/2006/main">
            <a:srgbClr val="66C43A"/>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05660AB5-E52A-4A46-BDBC-E6AE0172B090}"/>
              </a:ext>
            </a:extLst>
          </p:cNvPr>
          <p:cNvSpPr>
            <a:spLocks xmlns:a="http://schemas.openxmlformats.org/drawingml/2006/main" noGrp="1"/>
          </p:cNvSpPr>
          <p:nvPr/>
        </p:nvSpPr>
        <p:spPr>
          <a:xfrm xmlns:a="http://schemas.openxmlformats.org/drawingml/2006/main">
            <a:off x="914400" y="4133850"/>
            <a:ext cx="53340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800" b="0">
                <a:solidFill>
                  <a:srgbClr val="12233A"/>
                </a:solidFill>
              </a:defRPr>
            </a:pPr>
            <a:r>
              <a:rPr sz="1800" b="0">
                <a:solidFill>
                  <a:srgbClr val="12233A"/>
                </a:solidFill>
              </a:rPr>
              <a:t>Testing may include pre-assignment, random, post-accident, or reasonable-suspicion testing</a:t>
            </a:r>
          </a:p>
        </p:txBody>
      </p:sp>
      <p:sp>
        <p:nvSpPr>
          <p:cNvPr id="11" name="">
            <a:extLst xmlns:a="http://schemas.openxmlformats.org/drawingml/2006/main">
              <a:ext uri="{FF2B5EF4-FFF2-40B4-BE49-F238E27FC236}">
                <a16:creationId xmlns:a16="http://schemas.microsoft.com/office/drawing/2014/main" id="{9B6DABAC-9BD1-4D34-B205-BBC024410325}"/>
              </a:ext>
            </a:extLst>
          </p:cNvPr>
          <p:cNvSpPr>
            <a:spLocks xmlns:a="http://schemas.openxmlformats.org/drawingml/2006/main" noGrp="1"/>
          </p:cNvSpPr>
          <p:nvPr/>
        </p:nvSpPr>
        <p:spPr>
          <a:xfrm xmlns:a="http://schemas.openxmlformats.org/drawingml/2006/main">
            <a:off x="6858000" y="704850"/>
            <a:ext cx="4495800" cy="4953000"/>
          </a:xfrm>
          <a:prstGeom xmlns:a="http://schemas.openxmlformats.org/drawingml/2006/main" prst="rect">
            <a:avLst/>
          </a:prstGeom>
          <a:solidFill xmlns:a="http://schemas.openxmlformats.org/drawingml/2006/main">
            <a:srgbClr val="F3F6F8"/>
          </a:solidFill>
          <a:ln xmlns:a="http://schemas.openxmlformats.org/drawingml/2006/main" w="9525">
            <a:solidFill>
              <a:srgbClr val="D8E1EA"/>
            </a:solidFill>
            <a:prstDash val="solid"/>
          </a:ln>
        </p:spPr>
      </p:sp>
      <p:sp>
        <p:nvSpPr>
          <p:cNvPr id="12" name="">
            <a:extLst xmlns:a="http://schemas.openxmlformats.org/drawingml/2006/main">
              <a:ext uri="{FF2B5EF4-FFF2-40B4-BE49-F238E27FC236}">
                <a16:creationId xmlns:a16="http://schemas.microsoft.com/office/drawing/2014/main" id="{94B938CC-BC50-40F5-8A57-C3583BDF0F92}"/>
              </a:ext>
            </a:extLst>
          </p:cNvPr>
          <p:cNvSpPr>
            <a:spLocks xmlns:a="http://schemas.openxmlformats.org/drawingml/2006/main" noGrp="1"/>
          </p:cNvSpPr>
          <p:nvPr/>
        </p:nvSpPr>
        <p:spPr>
          <a:xfrm xmlns:a="http://schemas.openxmlformats.org/drawingml/2006/main">
            <a:off x="6858000" y="704850"/>
            <a:ext cx="4495800" cy="114300"/>
          </a:xfrm>
          <a:prstGeom xmlns:a="http://schemas.openxmlformats.org/drawingml/2006/main" prst="rect">
            <a:avLst/>
          </a:prstGeom>
          <a:solidFill xmlns:a="http://schemas.openxmlformats.org/drawingml/2006/main">
            <a:srgbClr val="66C43A"/>
          </a:solidFill>
          <a:ln xmlns:a="http://schemas.openxmlformats.org/drawingml/2006/main" w="0">
            <a:noFill/>
            <a:prstDash val="solid"/>
          </a:ln>
        </p:spPr>
      </p:sp>
      <p:sp>
        <p:nvSpPr>
          <p:cNvPr id="13" name="">
            <a:extLst xmlns:a="http://schemas.openxmlformats.org/drawingml/2006/main">
              <a:ext uri="{FF2B5EF4-FFF2-40B4-BE49-F238E27FC236}">
                <a16:creationId xmlns:a16="http://schemas.microsoft.com/office/drawing/2014/main" id="{BE162B98-2A5B-4668-8A16-E529A857A870}"/>
              </a:ext>
            </a:extLst>
          </p:cNvPr>
          <p:cNvSpPr>
            <a:spLocks xmlns:a="http://schemas.openxmlformats.org/drawingml/2006/main" noGrp="1"/>
          </p:cNvSpPr>
          <p:nvPr/>
        </p:nvSpPr>
        <p:spPr>
          <a:xfrm xmlns:a="http://schemas.openxmlformats.org/drawingml/2006/main">
            <a:off x="7200900" y="1123950"/>
            <a:ext cx="1714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050" b="1">
                <a:solidFill>
                  <a:srgbClr val="5E6B7A"/>
                </a:solidFill>
              </a:defRPr>
            </a:pPr>
            <a:r>
              <a:rPr sz="1050" b="1">
                <a:solidFill>
                  <a:srgbClr val="5E6B7A"/>
                </a:solidFill>
              </a:rPr>
              <a:t>VIDEO VISUAL</a:t>
            </a:r>
          </a:p>
        </p:txBody>
      </p:sp>
      <p:sp>
        <p:nvSpPr>
          <p:cNvPr id="14" name="">
            <a:extLst xmlns:a="http://schemas.openxmlformats.org/drawingml/2006/main">
              <a:ext uri="{FF2B5EF4-FFF2-40B4-BE49-F238E27FC236}">
                <a16:creationId xmlns:a16="http://schemas.microsoft.com/office/drawing/2014/main" id="{C96B66CD-E2BE-4E6A-AE04-59E31FC64F43}"/>
              </a:ext>
            </a:extLst>
          </p:cNvPr>
          <p:cNvSpPr>
            <a:spLocks xmlns:a="http://schemas.openxmlformats.org/drawingml/2006/main" noGrp="1"/>
          </p:cNvSpPr>
          <p:nvPr/>
        </p:nvSpPr>
        <p:spPr>
          <a:xfrm xmlns:a="http://schemas.openxmlformats.org/drawingml/2006/main">
            <a:off x="7200900" y="1543050"/>
            <a:ext cx="3810000" cy="1047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800" b="1">
                <a:solidFill>
                  <a:srgbClr val="12233A"/>
                </a:solidFill>
              </a:defRPr>
            </a:pPr>
            <a:r>
              <a:rPr sz="1800" b="1">
                <a:solidFill>
                  <a:srgbClr val="12233A"/>
                </a:solidFill>
              </a:rPr>
              <a:t>Drug-free workplace notice and worker signing policy acknowledgement.</a:t>
            </a:r>
          </a:p>
        </p:txBody>
      </p:sp>
      <p:sp>
        <p:nvSpPr>
          <p:cNvPr id="15" name="">
            <a:extLst xmlns:a="http://schemas.openxmlformats.org/drawingml/2006/main">
              <a:ext uri="{FF2B5EF4-FFF2-40B4-BE49-F238E27FC236}">
                <a16:creationId xmlns:a16="http://schemas.microsoft.com/office/drawing/2014/main" id="{5D719B0E-F229-4EF6-92F1-4AFACF0448A0}"/>
              </a:ext>
            </a:extLst>
          </p:cNvPr>
          <p:cNvSpPr>
            <a:spLocks xmlns:a="http://schemas.openxmlformats.org/drawingml/2006/main" noGrp="1"/>
          </p:cNvSpPr>
          <p:nvPr/>
        </p:nvSpPr>
        <p:spPr>
          <a:xfrm xmlns:a="http://schemas.openxmlformats.org/drawingml/2006/main">
            <a:off x="7200900" y="3028950"/>
            <a:ext cx="171450" cy="171450"/>
          </a:xfrm>
          <a:prstGeom xmlns:a="http://schemas.openxmlformats.org/drawingml/2006/main" prst="rect">
            <a:avLst/>
          </a:prstGeom>
          <a:solidFill xmlns:a="http://schemas.openxmlformats.org/drawingml/2006/main">
            <a:srgbClr val="66C43A"/>
          </a:solidFill>
          <a:ln xmlns:a="http://schemas.openxmlformats.org/drawingml/2006/main" w="0">
            <a:noFill/>
            <a:prstDash val="solid"/>
          </a:ln>
        </p:spPr>
      </p:sp>
      <p:sp>
        <p:nvSpPr>
          <p:cNvPr id="16" name="">
            <a:extLst xmlns:a="http://schemas.openxmlformats.org/drawingml/2006/main">
              <a:ext uri="{FF2B5EF4-FFF2-40B4-BE49-F238E27FC236}">
                <a16:creationId xmlns:a16="http://schemas.microsoft.com/office/drawing/2014/main" id="{A8BFD5BB-72EF-40B2-88A5-A95C5F3115D6}"/>
              </a:ext>
            </a:extLst>
          </p:cNvPr>
          <p:cNvSpPr>
            <a:spLocks xmlns:a="http://schemas.openxmlformats.org/drawingml/2006/main" noGrp="1"/>
          </p:cNvSpPr>
          <p:nvPr/>
        </p:nvSpPr>
        <p:spPr>
          <a:xfrm xmlns:a="http://schemas.openxmlformats.org/drawingml/2006/main">
            <a:off x="7524750" y="3000375"/>
            <a:ext cx="3143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500" b="1">
                <a:solidFill>
                  <a:srgbClr val="0B243D"/>
                </a:solidFill>
              </a:defRPr>
            </a:pPr>
            <a:r>
              <a:rPr sz="1500" b="1">
                <a:solidFill>
                  <a:srgbClr val="0B243D"/>
                </a:solidFill>
              </a:rPr>
              <a:t>No alcohol during the workday, including lunch</a:t>
            </a:r>
          </a:p>
        </p:txBody>
      </p:sp>
      <p:sp>
        <p:nvSpPr>
          <p:cNvPr id="17" name="">
            <a:extLst xmlns:a="http://schemas.openxmlformats.org/drawingml/2006/main">
              <a:ext uri="{FF2B5EF4-FFF2-40B4-BE49-F238E27FC236}">
                <a16:creationId xmlns:a16="http://schemas.microsoft.com/office/drawing/2014/main" id="{4F6D6DFC-42F0-49D4-8991-92361F4B47FE}"/>
              </a:ext>
            </a:extLst>
          </p:cNvPr>
          <p:cNvSpPr>
            <a:spLocks xmlns:a="http://schemas.openxmlformats.org/drawingml/2006/main" noGrp="1"/>
          </p:cNvSpPr>
          <p:nvPr/>
        </p:nvSpPr>
        <p:spPr>
          <a:xfrm xmlns:a="http://schemas.openxmlformats.org/drawingml/2006/main">
            <a:off x="7200900" y="3467100"/>
            <a:ext cx="171450" cy="171450"/>
          </a:xfrm>
          <a:prstGeom xmlns:a="http://schemas.openxmlformats.org/drawingml/2006/main" prst="rect">
            <a:avLst/>
          </a:prstGeom>
          <a:solidFill xmlns:a="http://schemas.openxmlformats.org/drawingml/2006/main">
            <a:srgbClr val="66C43A"/>
          </a:solidFill>
          <a:ln xmlns:a="http://schemas.openxmlformats.org/drawingml/2006/main" w="0">
            <a:noFill/>
            <a:prstDash val="solid"/>
          </a:ln>
        </p:spPr>
      </p:sp>
      <p:sp>
        <p:nvSpPr>
          <p:cNvPr id="18" name="">
            <a:extLst xmlns:a="http://schemas.openxmlformats.org/drawingml/2006/main">
              <a:ext uri="{FF2B5EF4-FFF2-40B4-BE49-F238E27FC236}">
                <a16:creationId xmlns:a16="http://schemas.microsoft.com/office/drawing/2014/main" id="{06DE0491-57BB-4F31-8045-237E943E8422}"/>
              </a:ext>
            </a:extLst>
          </p:cNvPr>
          <p:cNvSpPr>
            <a:spLocks xmlns:a="http://schemas.openxmlformats.org/drawingml/2006/main" noGrp="1"/>
          </p:cNvSpPr>
          <p:nvPr/>
        </p:nvSpPr>
        <p:spPr>
          <a:xfrm xmlns:a="http://schemas.openxmlformats.org/drawingml/2006/main">
            <a:off x="7524750" y="3438525"/>
            <a:ext cx="3143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500" b="1">
                <a:solidFill>
                  <a:srgbClr val="0B243D"/>
                </a:solidFill>
              </a:defRPr>
            </a:pPr>
            <a:r>
              <a:rPr sz="1500" b="1">
                <a:solidFill>
                  <a:srgbClr val="0B243D"/>
                </a:solidFill>
              </a:rPr>
              <a:t>No illegal drugs, controlled substances, or reporting impaired</a:t>
            </a:r>
          </a:p>
        </p:txBody>
      </p:sp>
      <p:sp>
        <p:nvSpPr>
          <p:cNvPr id="19" name="">
            <a:extLst xmlns:a="http://schemas.openxmlformats.org/drawingml/2006/main">
              <a:ext uri="{FF2B5EF4-FFF2-40B4-BE49-F238E27FC236}">
                <a16:creationId xmlns:a16="http://schemas.microsoft.com/office/drawing/2014/main" id="{9E6FE48B-97AD-424C-9DAA-1F0E087BDA5D}"/>
              </a:ext>
            </a:extLst>
          </p:cNvPr>
          <p:cNvSpPr>
            <a:spLocks xmlns:a="http://schemas.openxmlformats.org/drawingml/2006/main" noGrp="1"/>
          </p:cNvSpPr>
          <p:nvPr/>
        </p:nvSpPr>
        <p:spPr>
          <a:xfrm xmlns:a="http://schemas.openxmlformats.org/drawingml/2006/main">
            <a:off x="7200900" y="3905250"/>
            <a:ext cx="171450" cy="171450"/>
          </a:xfrm>
          <a:prstGeom xmlns:a="http://schemas.openxmlformats.org/drawingml/2006/main" prst="rect">
            <a:avLst/>
          </a:prstGeom>
          <a:solidFill xmlns:a="http://schemas.openxmlformats.org/drawingml/2006/main">
            <a:srgbClr val="66C43A"/>
          </a:solidFill>
          <a:ln xmlns:a="http://schemas.openxmlformats.org/drawingml/2006/main" w="0">
            <a:noFill/>
            <a:prstDash val="solid"/>
          </a:ln>
        </p:spPr>
      </p:sp>
      <p:sp>
        <p:nvSpPr>
          <p:cNvPr id="20" name="">
            <a:extLst xmlns:a="http://schemas.openxmlformats.org/drawingml/2006/main">
              <a:ext uri="{FF2B5EF4-FFF2-40B4-BE49-F238E27FC236}">
                <a16:creationId xmlns:a16="http://schemas.microsoft.com/office/drawing/2014/main" id="{4FA08751-E527-47DF-AB5C-AF19CD691557}"/>
              </a:ext>
            </a:extLst>
          </p:cNvPr>
          <p:cNvSpPr>
            <a:spLocks xmlns:a="http://schemas.openxmlformats.org/drawingml/2006/main" noGrp="1"/>
          </p:cNvSpPr>
          <p:nvPr/>
        </p:nvSpPr>
        <p:spPr>
          <a:xfrm xmlns:a="http://schemas.openxmlformats.org/drawingml/2006/main">
            <a:off x="7524750" y="3876675"/>
            <a:ext cx="3143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500" b="1">
                <a:solidFill>
                  <a:srgbClr val="0B243D"/>
                </a:solidFill>
              </a:defRPr>
            </a:pPr>
            <a:r>
              <a:rPr sz="1500" b="1">
                <a:solidFill>
                  <a:srgbClr val="0B243D"/>
                </a:solidFill>
              </a:rPr>
              <a:t>Testing may include pre-assignment, random, post-accident, or reasonable-suspicion testing</a:t>
            </a:r>
          </a:p>
        </p:txBody>
      </p:sp>
      <p:sp>
        <p:nvSpPr>
          <p:cNvPr id="21" name="">
            <a:extLst xmlns:a="http://schemas.openxmlformats.org/drawingml/2006/main">
              <a:ext uri="{FF2B5EF4-FFF2-40B4-BE49-F238E27FC236}">
                <a16:creationId xmlns:a16="http://schemas.microsoft.com/office/drawing/2014/main" id="{B9F73768-2386-43BA-BF71-A71FF4183C2A}"/>
              </a:ext>
            </a:extLst>
          </p:cNvPr>
          <p:cNvSpPr>
            <a:spLocks xmlns:a="http://schemas.openxmlformats.org/drawingml/2006/main" noGrp="1"/>
          </p:cNvSpPr>
          <p:nvPr/>
        </p:nvSpPr>
        <p:spPr>
          <a:xfrm xmlns:a="http://schemas.openxmlformats.org/drawingml/2006/main">
            <a:off x="7200900" y="5219700"/>
            <a:ext cx="1714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975" b="1">
                <a:solidFill>
                  <a:srgbClr val="5E6B7A"/>
                </a:solidFill>
              </a:defRPr>
            </a:pPr>
            <a:r>
              <a:rPr sz="975" b="1">
                <a:solidFill>
                  <a:srgbClr val="5E6B7A"/>
                </a:solidFill>
              </a:rPr>
              <a:t>Scene 27</a:t>
            </a:r>
          </a:p>
        </p:txBody>
      </p:sp>
      <p:sp>
        <p:nvSpPr>
          <p:cNvPr id="22" name="">
            <a:extLst xmlns:a="http://schemas.openxmlformats.org/drawingml/2006/main">
              <a:ext uri="{FF2B5EF4-FFF2-40B4-BE49-F238E27FC236}">
                <a16:creationId xmlns:a16="http://schemas.microsoft.com/office/drawing/2014/main" id="{37CC7FCD-CEAF-4080-AE58-6BD021683078}"/>
              </a:ext>
            </a:extLst>
          </p:cNvPr>
          <p:cNvSpPr>
            <a:spLocks xmlns:a="http://schemas.openxmlformats.org/drawingml/2006/main" noGrp="1"/>
          </p:cNvSpPr>
          <p:nvPr/>
        </p:nvSpPr>
        <p:spPr>
          <a:xfrm xmlns:a="http://schemas.openxmlformats.org/drawingml/2006/main">
            <a:off x="0" y="6515100"/>
            <a:ext cx="12192000" cy="342900"/>
          </a:xfrm>
          <a:prstGeom xmlns:a="http://schemas.openxmlformats.org/drawingml/2006/main" prst="rect">
            <a:avLst/>
          </a:prstGeom>
          <a:solidFill xmlns:a="http://schemas.openxmlformats.org/drawingml/2006/main">
            <a:srgbClr val="0B243D"/>
          </a:solidFill>
          <a:ln xmlns:a="http://schemas.openxmlformats.org/drawingml/2006/main" w="0">
            <a:noFill/>
            <a:prstDash val="solid"/>
          </a:ln>
        </p:spPr>
      </p:sp>
      <p:sp>
        <p:nvSpPr>
          <p:cNvPr id="23" name="">
            <a:extLst xmlns:a="http://schemas.openxmlformats.org/drawingml/2006/main">
              <a:ext uri="{FF2B5EF4-FFF2-40B4-BE49-F238E27FC236}">
                <a16:creationId xmlns:a16="http://schemas.microsoft.com/office/drawing/2014/main" id="{A8AB3A5A-443D-4312-8479-98458FF10E92}"/>
              </a:ext>
            </a:extLst>
          </p:cNvPr>
          <p:cNvSpPr>
            <a:spLocks xmlns:a="http://schemas.openxmlformats.org/drawingml/2006/main" noGrp="1"/>
          </p:cNvSpPr>
          <p:nvPr/>
        </p:nvSpPr>
        <p:spPr>
          <a:xfrm xmlns:a="http://schemas.openxmlformats.org/drawingml/2006/main">
            <a:off x="533400" y="6600825"/>
            <a:ext cx="3429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975" b="1">
                <a:solidFill>
                  <a:srgbClr val="FFFFFF"/>
                </a:solidFill>
              </a:defRPr>
            </a:pPr>
            <a:r>
              <a:rPr sz="975" b="1">
                <a:solidFill>
                  <a:srgbClr val="FFFFFF"/>
                </a:solidFill>
              </a:rPr>
              <a:t>PAL Environmental Services</a:t>
            </a:r>
          </a:p>
        </p:txBody>
      </p:sp>
      <p:sp>
        <p:nvSpPr>
          <p:cNvPr id="24" name="">
            <a:extLst xmlns:a="http://schemas.openxmlformats.org/drawingml/2006/main">
              <a:ext uri="{FF2B5EF4-FFF2-40B4-BE49-F238E27FC236}">
                <a16:creationId xmlns:a16="http://schemas.microsoft.com/office/drawing/2014/main" id="{DADEEA4E-E264-425D-BC91-7AD9DEBAD4E2}"/>
              </a:ext>
            </a:extLst>
          </p:cNvPr>
          <p:cNvSpPr>
            <a:spLocks xmlns:a="http://schemas.openxmlformats.org/drawingml/2006/main" noGrp="1"/>
          </p:cNvSpPr>
          <p:nvPr/>
        </p:nvSpPr>
        <p:spPr>
          <a:xfrm xmlns:a="http://schemas.openxmlformats.org/drawingml/2006/main">
            <a:off x="9620250" y="6600825"/>
            <a:ext cx="2095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900">
                <a:solidFill>
                  <a:srgbClr val="DDEAF5"/>
                </a:solidFill>
              </a:defRPr>
            </a:pPr>
            <a:r>
              <a:rPr sz="900">
                <a:solidFill>
                  <a:srgbClr val="DDEAF5"/>
                </a:solidFill>
              </a:rPr>
              <a:t>Employee Orientation  |  27</a:t>
            </a:r>
          </a:p>
        </p:txBody>
      </p:sp>
    </p:spTree>
    <p:extLst>
      <p:ext uri="{BB962C8B-B14F-4D97-AF65-F5344CB8AC3E}">
        <p14:creationId xmlns:p14="http://schemas.microsoft.com/office/powerpoint/2010/main" val="360713816"/>
      </p:ext>
    </p:extLst>
  </p:cSld>
</p:sld>
</file>

<file path=ppt/slides/slide2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DC07EC47-CAA8-4177-AAD8-354A26DEC6FC}"/>
              </a:ext>
            </a:extLst>
          </p:cNvPr>
          <p:cNvSpPr>
            <a:spLocks xmlns:a="http://schemas.openxmlformats.org/drawingml/2006/main" noGrp="1"/>
          </p:cNvSpPr>
          <p:nvPr/>
        </p:nvSpPr>
        <p:spPr>
          <a:xfrm xmlns:a="http://schemas.openxmlformats.org/drawingml/2006/main">
            <a:off x="0" y="0"/>
            <a:ext cx="12192000" cy="266700"/>
          </a:xfrm>
          <a:prstGeom xmlns:a="http://schemas.openxmlformats.org/drawingml/2006/main" prst="rect">
            <a:avLst/>
          </a:prstGeom>
          <a:solidFill xmlns:a="http://schemas.openxmlformats.org/drawingml/2006/main">
            <a:srgbClr val="0B243D"/>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8C87089C-61C6-44F5-B0D8-8FB2DEB9CD48}"/>
              </a:ext>
            </a:extLst>
          </p:cNvPr>
          <p:cNvSpPr>
            <a:spLocks xmlns:a="http://schemas.openxmlformats.org/drawingml/2006/main" noGrp="1"/>
          </p:cNvSpPr>
          <p:nvPr/>
        </p:nvSpPr>
        <p:spPr>
          <a:xfrm xmlns:a="http://schemas.openxmlformats.org/drawingml/2006/main">
            <a:off x="0" y="266700"/>
            <a:ext cx="171450" cy="6248400"/>
          </a:xfrm>
          <a:prstGeom xmlns:a="http://schemas.openxmlformats.org/drawingml/2006/main" prst="rect">
            <a:avLst/>
          </a:prstGeom>
          <a:solidFill xmlns:a="http://schemas.openxmlformats.org/drawingml/2006/main">
            <a:srgbClr val="66C43A"/>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12948AC5-E0C2-42CA-98AC-F69C5FE22F4A}"/>
              </a:ext>
            </a:extLst>
          </p:cNvPr>
          <p:cNvSpPr>
            <a:spLocks xmlns:a="http://schemas.openxmlformats.org/drawingml/2006/main" noGrp="1"/>
          </p:cNvSpPr>
          <p:nvPr/>
        </p:nvSpPr>
        <p:spPr>
          <a:xfrm xmlns:a="http://schemas.openxmlformats.org/drawingml/2006/main">
            <a:off x="533400" y="666750"/>
            <a:ext cx="44767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050" b="1">
                <a:solidFill>
                  <a:srgbClr val="5E6B7A"/>
                </a:solidFill>
              </a:defRPr>
            </a:pPr>
            <a:r>
              <a:rPr sz="1050" b="1">
                <a:solidFill>
                  <a:srgbClr val="5E6B7A"/>
                </a:solidFill>
              </a:rPr>
              <a:t>QUESTIONS</a:t>
            </a:r>
          </a:p>
        </p:txBody>
      </p:sp>
      <p:sp>
        <p:nvSpPr>
          <p:cNvPr id="4" name="">
            <a:extLst xmlns:a="http://schemas.openxmlformats.org/drawingml/2006/main">
              <a:ext uri="{FF2B5EF4-FFF2-40B4-BE49-F238E27FC236}">
                <a16:creationId xmlns:a16="http://schemas.microsoft.com/office/drawing/2014/main" id="{4738E080-4310-4540-A867-96BA04AB983E}"/>
              </a:ext>
            </a:extLst>
          </p:cNvPr>
          <p:cNvSpPr>
            <a:spLocks xmlns:a="http://schemas.openxmlformats.org/drawingml/2006/main" noGrp="1"/>
          </p:cNvSpPr>
          <p:nvPr/>
        </p:nvSpPr>
        <p:spPr>
          <a:xfrm xmlns:a="http://schemas.openxmlformats.org/drawingml/2006/main">
            <a:off x="533400" y="1047750"/>
            <a:ext cx="5524500" cy="1428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3150" b="1">
                <a:solidFill>
                  <a:srgbClr val="0B243D"/>
                </a:solidFill>
              </a:defRPr>
            </a:pPr>
            <a:r>
              <a:rPr sz="3150" b="1">
                <a:solidFill>
                  <a:srgbClr val="0B243D"/>
                </a:solidFill>
              </a:rPr>
              <a:t>When you are unsure, stop and ask.</a:t>
            </a:r>
          </a:p>
        </p:txBody>
      </p:sp>
      <p:sp>
        <p:nvSpPr>
          <p:cNvPr id="5" name="">
            <a:extLst xmlns:a="http://schemas.openxmlformats.org/drawingml/2006/main">
              <a:ext uri="{FF2B5EF4-FFF2-40B4-BE49-F238E27FC236}">
                <a16:creationId xmlns:a16="http://schemas.microsoft.com/office/drawing/2014/main" id="{1B6D1BE8-66EA-483F-8F60-8C04DEC35D8D}"/>
              </a:ext>
            </a:extLst>
          </p:cNvPr>
          <p:cNvSpPr>
            <a:spLocks xmlns:a="http://schemas.openxmlformats.org/drawingml/2006/main" noGrp="1"/>
          </p:cNvSpPr>
          <p:nvPr/>
        </p:nvSpPr>
        <p:spPr>
          <a:xfrm xmlns:a="http://schemas.openxmlformats.org/drawingml/2006/main">
            <a:off x="609600" y="2990850"/>
            <a:ext cx="114300" cy="114300"/>
          </a:xfrm>
          <a:prstGeom xmlns:a="http://schemas.openxmlformats.org/drawingml/2006/main" prst="rect">
            <a:avLst/>
          </a:prstGeom>
          <a:solidFill xmlns:a="http://schemas.openxmlformats.org/drawingml/2006/main">
            <a:srgbClr val="66C43A"/>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03F8219E-684B-4796-AF46-33D48B60EA3B}"/>
              </a:ext>
            </a:extLst>
          </p:cNvPr>
          <p:cNvSpPr>
            <a:spLocks xmlns:a="http://schemas.openxmlformats.org/drawingml/2006/main" noGrp="1"/>
          </p:cNvSpPr>
          <p:nvPr/>
        </p:nvSpPr>
        <p:spPr>
          <a:xfrm xmlns:a="http://schemas.openxmlformats.org/drawingml/2006/main">
            <a:off x="914400" y="2914650"/>
            <a:ext cx="53340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800" b="1">
                <a:solidFill>
                  <a:srgbClr val="12233A"/>
                </a:solidFill>
              </a:defRPr>
            </a:pPr>
            <a:r>
              <a:rPr sz="1800" b="1">
                <a:solidFill>
                  <a:srgbClr val="12233A"/>
                </a:solidFill>
              </a:rPr>
              <a:t>Supervisor</a:t>
            </a:r>
          </a:p>
        </p:txBody>
      </p:sp>
      <p:sp>
        <p:nvSpPr>
          <p:cNvPr id="7" name="">
            <a:extLst xmlns:a="http://schemas.openxmlformats.org/drawingml/2006/main">
              <a:ext uri="{FF2B5EF4-FFF2-40B4-BE49-F238E27FC236}">
                <a16:creationId xmlns:a16="http://schemas.microsoft.com/office/drawing/2014/main" id="{3CF64382-33A3-43FA-93E8-E911CB114ECE}"/>
              </a:ext>
            </a:extLst>
          </p:cNvPr>
          <p:cNvSpPr>
            <a:spLocks xmlns:a="http://schemas.openxmlformats.org/drawingml/2006/main" noGrp="1"/>
          </p:cNvSpPr>
          <p:nvPr/>
        </p:nvSpPr>
        <p:spPr>
          <a:xfrm xmlns:a="http://schemas.openxmlformats.org/drawingml/2006/main">
            <a:off x="609600" y="3600450"/>
            <a:ext cx="114300" cy="114300"/>
          </a:xfrm>
          <a:prstGeom xmlns:a="http://schemas.openxmlformats.org/drawingml/2006/main" prst="rect">
            <a:avLst/>
          </a:prstGeom>
          <a:solidFill xmlns:a="http://schemas.openxmlformats.org/drawingml/2006/main">
            <a:srgbClr val="66C43A"/>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DF7B5BA5-7E13-4329-8AE6-FB0F921F2D4C}"/>
              </a:ext>
            </a:extLst>
          </p:cNvPr>
          <p:cNvSpPr>
            <a:spLocks xmlns:a="http://schemas.openxmlformats.org/drawingml/2006/main" noGrp="1"/>
          </p:cNvSpPr>
          <p:nvPr/>
        </p:nvSpPr>
        <p:spPr>
          <a:xfrm xmlns:a="http://schemas.openxmlformats.org/drawingml/2006/main">
            <a:off x="914400" y="3524250"/>
            <a:ext cx="53340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800" b="0">
                <a:solidFill>
                  <a:srgbClr val="12233A"/>
                </a:solidFill>
              </a:defRPr>
            </a:pPr>
            <a:r>
              <a:rPr sz="1800" b="0">
                <a:solidFill>
                  <a:srgbClr val="12233A"/>
                </a:solidFill>
              </a:rPr>
              <a:t>Foreman or general superintendent</a:t>
            </a:r>
          </a:p>
        </p:txBody>
      </p:sp>
      <p:sp>
        <p:nvSpPr>
          <p:cNvPr id="9" name="">
            <a:extLst xmlns:a="http://schemas.openxmlformats.org/drawingml/2006/main">
              <a:ext uri="{FF2B5EF4-FFF2-40B4-BE49-F238E27FC236}">
                <a16:creationId xmlns:a16="http://schemas.microsoft.com/office/drawing/2014/main" id="{3539ACFB-A2D5-4F14-9D95-230F945F1520}"/>
              </a:ext>
            </a:extLst>
          </p:cNvPr>
          <p:cNvSpPr>
            <a:spLocks xmlns:a="http://schemas.openxmlformats.org/drawingml/2006/main" noGrp="1"/>
          </p:cNvSpPr>
          <p:nvPr/>
        </p:nvSpPr>
        <p:spPr>
          <a:xfrm xmlns:a="http://schemas.openxmlformats.org/drawingml/2006/main">
            <a:off x="609600" y="4210050"/>
            <a:ext cx="114300" cy="114300"/>
          </a:xfrm>
          <a:prstGeom xmlns:a="http://schemas.openxmlformats.org/drawingml/2006/main" prst="rect">
            <a:avLst/>
          </a:prstGeom>
          <a:solidFill xmlns:a="http://schemas.openxmlformats.org/drawingml/2006/main">
            <a:srgbClr val="66C43A"/>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B3AAA945-711D-4F04-86BD-3A4F8B42D02F}"/>
              </a:ext>
            </a:extLst>
          </p:cNvPr>
          <p:cNvSpPr>
            <a:spLocks xmlns:a="http://schemas.openxmlformats.org/drawingml/2006/main" noGrp="1"/>
          </p:cNvSpPr>
          <p:nvPr/>
        </p:nvSpPr>
        <p:spPr>
          <a:xfrm xmlns:a="http://schemas.openxmlformats.org/drawingml/2006/main">
            <a:off x="914400" y="4133850"/>
            <a:ext cx="53340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800" b="0">
                <a:solidFill>
                  <a:srgbClr val="12233A"/>
                </a:solidFill>
              </a:defRPr>
            </a:pPr>
            <a:r>
              <a:rPr sz="1800" b="0">
                <a:solidFill>
                  <a:srgbClr val="12233A"/>
                </a:solidFill>
              </a:rPr>
              <a:t>PAL EH&amp;S representative</a:t>
            </a:r>
          </a:p>
        </p:txBody>
      </p:sp>
      <p:sp>
        <p:nvSpPr>
          <p:cNvPr id="11" name="">
            <a:extLst xmlns:a="http://schemas.openxmlformats.org/drawingml/2006/main">
              <a:ext uri="{FF2B5EF4-FFF2-40B4-BE49-F238E27FC236}">
                <a16:creationId xmlns:a16="http://schemas.microsoft.com/office/drawing/2014/main" id="{C396802E-5149-46E7-A7B0-79A7CD725052}"/>
              </a:ext>
            </a:extLst>
          </p:cNvPr>
          <p:cNvSpPr>
            <a:spLocks xmlns:a="http://schemas.openxmlformats.org/drawingml/2006/main" noGrp="1"/>
          </p:cNvSpPr>
          <p:nvPr/>
        </p:nvSpPr>
        <p:spPr>
          <a:xfrm xmlns:a="http://schemas.openxmlformats.org/drawingml/2006/main">
            <a:off x="6858000" y="704850"/>
            <a:ext cx="4495800" cy="4953000"/>
          </a:xfrm>
          <a:prstGeom xmlns:a="http://schemas.openxmlformats.org/drawingml/2006/main" prst="rect">
            <a:avLst/>
          </a:prstGeom>
          <a:solidFill xmlns:a="http://schemas.openxmlformats.org/drawingml/2006/main">
            <a:srgbClr val="F3F6F8"/>
          </a:solidFill>
          <a:ln xmlns:a="http://schemas.openxmlformats.org/drawingml/2006/main" w="9525">
            <a:solidFill>
              <a:srgbClr val="D8E1EA"/>
            </a:solidFill>
            <a:prstDash val="solid"/>
          </a:ln>
        </p:spPr>
      </p:sp>
      <p:sp>
        <p:nvSpPr>
          <p:cNvPr id="12" name="">
            <a:extLst xmlns:a="http://schemas.openxmlformats.org/drawingml/2006/main">
              <a:ext uri="{FF2B5EF4-FFF2-40B4-BE49-F238E27FC236}">
                <a16:creationId xmlns:a16="http://schemas.microsoft.com/office/drawing/2014/main" id="{32565C5A-4A6F-43B9-ADC1-45B6DD246595}"/>
              </a:ext>
            </a:extLst>
          </p:cNvPr>
          <p:cNvSpPr>
            <a:spLocks xmlns:a="http://schemas.openxmlformats.org/drawingml/2006/main" noGrp="1"/>
          </p:cNvSpPr>
          <p:nvPr/>
        </p:nvSpPr>
        <p:spPr>
          <a:xfrm xmlns:a="http://schemas.openxmlformats.org/drawingml/2006/main">
            <a:off x="6858000" y="704850"/>
            <a:ext cx="4495800" cy="114300"/>
          </a:xfrm>
          <a:prstGeom xmlns:a="http://schemas.openxmlformats.org/drawingml/2006/main" prst="rect">
            <a:avLst/>
          </a:prstGeom>
          <a:solidFill xmlns:a="http://schemas.openxmlformats.org/drawingml/2006/main">
            <a:srgbClr val="66C43A"/>
          </a:solidFill>
          <a:ln xmlns:a="http://schemas.openxmlformats.org/drawingml/2006/main" w="0">
            <a:noFill/>
            <a:prstDash val="solid"/>
          </a:ln>
        </p:spPr>
      </p:sp>
      <p:sp>
        <p:nvSpPr>
          <p:cNvPr id="13" name="">
            <a:extLst xmlns:a="http://schemas.openxmlformats.org/drawingml/2006/main">
              <a:ext uri="{FF2B5EF4-FFF2-40B4-BE49-F238E27FC236}">
                <a16:creationId xmlns:a16="http://schemas.microsoft.com/office/drawing/2014/main" id="{FF50F4A7-079E-4364-A54F-954446584839}"/>
              </a:ext>
            </a:extLst>
          </p:cNvPr>
          <p:cNvSpPr>
            <a:spLocks xmlns:a="http://schemas.openxmlformats.org/drawingml/2006/main" noGrp="1"/>
          </p:cNvSpPr>
          <p:nvPr/>
        </p:nvSpPr>
        <p:spPr>
          <a:xfrm xmlns:a="http://schemas.openxmlformats.org/drawingml/2006/main">
            <a:off x="7200900" y="1123950"/>
            <a:ext cx="1714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050" b="1">
                <a:solidFill>
                  <a:srgbClr val="5E6B7A"/>
                </a:solidFill>
              </a:defRPr>
            </a:pPr>
            <a:r>
              <a:rPr sz="1050" b="1">
                <a:solidFill>
                  <a:srgbClr val="5E6B7A"/>
                </a:solidFill>
              </a:rPr>
              <a:t>VIDEO VISUAL</a:t>
            </a:r>
          </a:p>
        </p:txBody>
      </p:sp>
      <p:sp>
        <p:nvSpPr>
          <p:cNvPr id="14" name="">
            <a:extLst xmlns:a="http://schemas.openxmlformats.org/drawingml/2006/main">
              <a:ext uri="{FF2B5EF4-FFF2-40B4-BE49-F238E27FC236}">
                <a16:creationId xmlns:a16="http://schemas.microsoft.com/office/drawing/2014/main" id="{03209153-A0C1-4F73-BC02-44131F8EFADA}"/>
              </a:ext>
            </a:extLst>
          </p:cNvPr>
          <p:cNvSpPr>
            <a:spLocks xmlns:a="http://schemas.openxmlformats.org/drawingml/2006/main" noGrp="1"/>
          </p:cNvSpPr>
          <p:nvPr/>
        </p:nvSpPr>
        <p:spPr>
          <a:xfrm xmlns:a="http://schemas.openxmlformats.org/drawingml/2006/main">
            <a:off x="7200900" y="1543050"/>
            <a:ext cx="3810000" cy="1047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800" b="1">
                <a:solidFill>
                  <a:srgbClr val="12233A"/>
                </a:solidFill>
              </a:defRPr>
            </a:pPr>
            <a:r>
              <a:rPr sz="1800" b="1">
                <a:solidFill>
                  <a:srgbClr val="12233A"/>
                </a:solidFill>
              </a:rPr>
              <a:t>Foreman answering worker questions during a jobsite meeting.</a:t>
            </a:r>
          </a:p>
        </p:txBody>
      </p:sp>
      <p:sp>
        <p:nvSpPr>
          <p:cNvPr id="15" name="">
            <a:extLst xmlns:a="http://schemas.openxmlformats.org/drawingml/2006/main">
              <a:ext uri="{FF2B5EF4-FFF2-40B4-BE49-F238E27FC236}">
                <a16:creationId xmlns:a16="http://schemas.microsoft.com/office/drawing/2014/main" id="{9062D89A-F8FD-4B53-BF74-6F1AB75B68A1}"/>
              </a:ext>
            </a:extLst>
          </p:cNvPr>
          <p:cNvSpPr>
            <a:spLocks xmlns:a="http://schemas.openxmlformats.org/drawingml/2006/main" noGrp="1"/>
          </p:cNvSpPr>
          <p:nvPr/>
        </p:nvSpPr>
        <p:spPr>
          <a:xfrm xmlns:a="http://schemas.openxmlformats.org/drawingml/2006/main">
            <a:off x="7200900" y="3028950"/>
            <a:ext cx="171450" cy="171450"/>
          </a:xfrm>
          <a:prstGeom xmlns:a="http://schemas.openxmlformats.org/drawingml/2006/main" prst="rect">
            <a:avLst/>
          </a:prstGeom>
          <a:solidFill xmlns:a="http://schemas.openxmlformats.org/drawingml/2006/main">
            <a:srgbClr val="66C43A"/>
          </a:solidFill>
          <a:ln xmlns:a="http://schemas.openxmlformats.org/drawingml/2006/main" w="0">
            <a:noFill/>
            <a:prstDash val="solid"/>
          </a:ln>
        </p:spPr>
      </p:sp>
      <p:sp>
        <p:nvSpPr>
          <p:cNvPr id="16" name="">
            <a:extLst xmlns:a="http://schemas.openxmlformats.org/drawingml/2006/main">
              <a:ext uri="{FF2B5EF4-FFF2-40B4-BE49-F238E27FC236}">
                <a16:creationId xmlns:a16="http://schemas.microsoft.com/office/drawing/2014/main" id="{44E58C6E-24D5-4ADD-A6D3-139B944D2225}"/>
              </a:ext>
            </a:extLst>
          </p:cNvPr>
          <p:cNvSpPr>
            <a:spLocks xmlns:a="http://schemas.openxmlformats.org/drawingml/2006/main" noGrp="1"/>
          </p:cNvSpPr>
          <p:nvPr/>
        </p:nvSpPr>
        <p:spPr>
          <a:xfrm xmlns:a="http://schemas.openxmlformats.org/drawingml/2006/main">
            <a:off x="7524750" y="3000375"/>
            <a:ext cx="3143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500" b="1">
                <a:solidFill>
                  <a:srgbClr val="0B243D"/>
                </a:solidFill>
              </a:defRPr>
            </a:pPr>
            <a:r>
              <a:rPr sz="1500" b="1">
                <a:solidFill>
                  <a:srgbClr val="0B243D"/>
                </a:solidFill>
              </a:rPr>
              <a:t>Supervisor</a:t>
            </a:r>
          </a:p>
        </p:txBody>
      </p:sp>
      <p:sp>
        <p:nvSpPr>
          <p:cNvPr id="17" name="">
            <a:extLst xmlns:a="http://schemas.openxmlformats.org/drawingml/2006/main">
              <a:ext uri="{FF2B5EF4-FFF2-40B4-BE49-F238E27FC236}">
                <a16:creationId xmlns:a16="http://schemas.microsoft.com/office/drawing/2014/main" id="{CF5B9A7C-C012-4C85-8B85-516AE486C7FB}"/>
              </a:ext>
            </a:extLst>
          </p:cNvPr>
          <p:cNvSpPr>
            <a:spLocks xmlns:a="http://schemas.openxmlformats.org/drawingml/2006/main" noGrp="1"/>
          </p:cNvSpPr>
          <p:nvPr/>
        </p:nvSpPr>
        <p:spPr>
          <a:xfrm xmlns:a="http://schemas.openxmlformats.org/drawingml/2006/main">
            <a:off x="7200900" y="3467100"/>
            <a:ext cx="171450" cy="171450"/>
          </a:xfrm>
          <a:prstGeom xmlns:a="http://schemas.openxmlformats.org/drawingml/2006/main" prst="rect">
            <a:avLst/>
          </a:prstGeom>
          <a:solidFill xmlns:a="http://schemas.openxmlformats.org/drawingml/2006/main">
            <a:srgbClr val="66C43A"/>
          </a:solidFill>
          <a:ln xmlns:a="http://schemas.openxmlformats.org/drawingml/2006/main" w="0">
            <a:noFill/>
            <a:prstDash val="solid"/>
          </a:ln>
        </p:spPr>
      </p:sp>
      <p:sp>
        <p:nvSpPr>
          <p:cNvPr id="18" name="">
            <a:extLst xmlns:a="http://schemas.openxmlformats.org/drawingml/2006/main">
              <a:ext uri="{FF2B5EF4-FFF2-40B4-BE49-F238E27FC236}">
                <a16:creationId xmlns:a16="http://schemas.microsoft.com/office/drawing/2014/main" id="{8964DF97-7C5A-4DCE-9DF1-C9260F76E326}"/>
              </a:ext>
            </a:extLst>
          </p:cNvPr>
          <p:cNvSpPr>
            <a:spLocks xmlns:a="http://schemas.openxmlformats.org/drawingml/2006/main" noGrp="1"/>
          </p:cNvSpPr>
          <p:nvPr/>
        </p:nvSpPr>
        <p:spPr>
          <a:xfrm xmlns:a="http://schemas.openxmlformats.org/drawingml/2006/main">
            <a:off x="7524750" y="3438525"/>
            <a:ext cx="3143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500" b="1">
                <a:solidFill>
                  <a:srgbClr val="0B243D"/>
                </a:solidFill>
              </a:defRPr>
            </a:pPr>
            <a:r>
              <a:rPr sz="1500" b="1">
                <a:solidFill>
                  <a:srgbClr val="0B243D"/>
                </a:solidFill>
              </a:rPr>
              <a:t>Foreman or general superintendent</a:t>
            </a:r>
          </a:p>
        </p:txBody>
      </p:sp>
      <p:sp>
        <p:nvSpPr>
          <p:cNvPr id="19" name="">
            <a:extLst xmlns:a="http://schemas.openxmlformats.org/drawingml/2006/main">
              <a:ext uri="{FF2B5EF4-FFF2-40B4-BE49-F238E27FC236}">
                <a16:creationId xmlns:a16="http://schemas.microsoft.com/office/drawing/2014/main" id="{8172AA02-3444-4E45-B7FC-FE9B3BD72E7D}"/>
              </a:ext>
            </a:extLst>
          </p:cNvPr>
          <p:cNvSpPr>
            <a:spLocks xmlns:a="http://schemas.openxmlformats.org/drawingml/2006/main" noGrp="1"/>
          </p:cNvSpPr>
          <p:nvPr/>
        </p:nvSpPr>
        <p:spPr>
          <a:xfrm xmlns:a="http://schemas.openxmlformats.org/drawingml/2006/main">
            <a:off x="7200900" y="3905250"/>
            <a:ext cx="171450" cy="171450"/>
          </a:xfrm>
          <a:prstGeom xmlns:a="http://schemas.openxmlformats.org/drawingml/2006/main" prst="rect">
            <a:avLst/>
          </a:prstGeom>
          <a:solidFill xmlns:a="http://schemas.openxmlformats.org/drawingml/2006/main">
            <a:srgbClr val="66C43A"/>
          </a:solidFill>
          <a:ln xmlns:a="http://schemas.openxmlformats.org/drawingml/2006/main" w="0">
            <a:noFill/>
            <a:prstDash val="solid"/>
          </a:ln>
        </p:spPr>
      </p:sp>
      <p:sp>
        <p:nvSpPr>
          <p:cNvPr id="20" name="">
            <a:extLst xmlns:a="http://schemas.openxmlformats.org/drawingml/2006/main">
              <a:ext uri="{FF2B5EF4-FFF2-40B4-BE49-F238E27FC236}">
                <a16:creationId xmlns:a16="http://schemas.microsoft.com/office/drawing/2014/main" id="{2EFF2878-5EEF-4F80-9933-60E08628ABF2}"/>
              </a:ext>
            </a:extLst>
          </p:cNvPr>
          <p:cNvSpPr>
            <a:spLocks xmlns:a="http://schemas.openxmlformats.org/drawingml/2006/main" noGrp="1"/>
          </p:cNvSpPr>
          <p:nvPr/>
        </p:nvSpPr>
        <p:spPr>
          <a:xfrm xmlns:a="http://schemas.openxmlformats.org/drawingml/2006/main">
            <a:off x="7524750" y="3876675"/>
            <a:ext cx="3143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500" b="1">
                <a:solidFill>
                  <a:srgbClr val="0B243D"/>
                </a:solidFill>
              </a:defRPr>
            </a:pPr>
            <a:r>
              <a:rPr sz="1500" b="1">
                <a:solidFill>
                  <a:srgbClr val="0B243D"/>
                </a:solidFill>
              </a:rPr>
              <a:t>PAL EH&amp;S representative</a:t>
            </a:r>
          </a:p>
        </p:txBody>
      </p:sp>
      <p:sp>
        <p:nvSpPr>
          <p:cNvPr id="21" name="">
            <a:extLst xmlns:a="http://schemas.openxmlformats.org/drawingml/2006/main">
              <a:ext uri="{FF2B5EF4-FFF2-40B4-BE49-F238E27FC236}">
                <a16:creationId xmlns:a16="http://schemas.microsoft.com/office/drawing/2014/main" id="{AFCC8B8C-0F31-4B48-A85C-B9A97743ED96}"/>
              </a:ext>
            </a:extLst>
          </p:cNvPr>
          <p:cNvSpPr>
            <a:spLocks xmlns:a="http://schemas.openxmlformats.org/drawingml/2006/main" noGrp="1"/>
          </p:cNvSpPr>
          <p:nvPr/>
        </p:nvSpPr>
        <p:spPr>
          <a:xfrm xmlns:a="http://schemas.openxmlformats.org/drawingml/2006/main">
            <a:off x="7200900" y="5219700"/>
            <a:ext cx="1714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975" b="1">
                <a:solidFill>
                  <a:srgbClr val="5E6B7A"/>
                </a:solidFill>
              </a:defRPr>
            </a:pPr>
            <a:r>
              <a:rPr sz="975" b="1">
                <a:solidFill>
                  <a:srgbClr val="5E6B7A"/>
                </a:solidFill>
              </a:rPr>
              <a:t>Scene 28</a:t>
            </a:r>
          </a:p>
        </p:txBody>
      </p:sp>
      <p:sp>
        <p:nvSpPr>
          <p:cNvPr id="22" name="">
            <a:extLst xmlns:a="http://schemas.openxmlformats.org/drawingml/2006/main">
              <a:ext uri="{FF2B5EF4-FFF2-40B4-BE49-F238E27FC236}">
                <a16:creationId xmlns:a16="http://schemas.microsoft.com/office/drawing/2014/main" id="{15D0927F-B563-40F9-A6AD-9AB59E344059}"/>
              </a:ext>
            </a:extLst>
          </p:cNvPr>
          <p:cNvSpPr>
            <a:spLocks xmlns:a="http://schemas.openxmlformats.org/drawingml/2006/main" noGrp="1"/>
          </p:cNvSpPr>
          <p:nvPr/>
        </p:nvSpPr>
        <p:spPr>
          <a:xfrm xmlns:a="http://schemas.openxmlformats.org/drawingml/2006/main">
            <a:off x="0" y="6515100"/>
            <a:ext cx="12192000" cy="342900"/>
          </a:xfrm>
          <a:prstGeom xmlns:a="http://schemas.openxmlformats.org/drawingml/2006/main" prst="rect">
            <a:avLst/>
          </a:prstGeom>
          <a:solidFill xmlns:a="http://schemas.openxmlformats.org/drawingml/2006/main">
            <a:srgbClr val="0B243D"/>
          </a:solidFill>
          <a:ln xmlns:a="http://schemas.openxmlformats.org/drawingml/2006/main" w="0">
            <a:noFill/>
            <a:prstDash val="solid"/>
          </a:ln>
        </p:spPr>
      </p:sp>
      <p:sp>
        <p:nvSpPr>
          <p:cNvPr id="23" name="">
            <a:extLst xmlns:a="http://schemas.openxmlformats.org/drawingml/2006/main">
              <a:ext uri="{FF2B5EF4-FFF2-40B4-BE49-F238E27FC236}">
                <a16:creationId xmlns:a16="http://schemas.microsoft.com/office/drawing/2014/main" id="{9AA8561B-4301-4357-8CF3-C588F274FE0F}"/>
              </a:ext>
            </a:extLst>
          </p:cNvPr>
          <p:cNvSpPr>
            <a:spLocks xmlns:a="http://schemas.openxmlformats.org/drawingml/2006/main" noGrp="1"/>
          </p:cNvSpPr>
          <p:nvPr/>
        </p:nvSpPr>
        <p:spPr>
          <a:xfrm xmlns:a="http://schemas.openxmlformats.org/drawingml/2006/main">
            <a:off x="533400" y="6600825"/>
            <a:ext cx="3429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975" b="1">
                <a:solidFill>
                  <a:srgbClr val="FFFFFF"/>
                </a:solidFill>
              </a:defRPr>
            </a:pPr>
            <a:r>
              <a:rPr sz="975" b="1">
                <a:solidFill>
                  <a:srgbClr val="FFFFFF"/>
                </a:solidFill>
              </a:rPr>
              <a:t>PAL Environmental Services</a:t>
            </a:r>
          </a:p>
        </p:txBody>
      </p:sp>
      <p:sp>
        <p:nvSpPr>
          <p:cNvPr id="24" name="">
            <a:extLst xmlns:a="http://schemas.openxmlformats.org/drawingml/2006/main">
              <a:ext uri="{FF2B5EF4-FFF2-40B4-BE49-F238E27FC236}">
                <a16:creationId xmlns:a16="http://schemas.microsoft.com/office/drawing/2014/main" id="{A3515532-66B0-411D-92EF-FEA316AC07AB}"/>
              </a:ext>
            </a:extLst>
          </p:cNvPr>
          <p:cNvSpPr>
            <a:spLocks xmlns:a="http://schemas.openxmlformats.org/drawingml/2006/main" noGrp="1"/>
          </p:cNvSpPr>
          <p:nvPr/>
        </p:nvSpPr>
        <p:spPr>
          <a:xfrm xmlns:a="http://schemas.openxmlformats.org/drawingml/2006/main">
            <a:off x="9620250" y="6600825"/>
            <a:ext cx="2095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900">
                <a:solidFill>
                  <a:srgbClr val="DDEAF5"/>
                </a:solidFill>
              </a:defRPr>
            </a:pPr>
            <a:r>
              <a:rPr sz="900">
                <a:solidFill>
                  <a:srgbClr val="DDEAF5"/>
                </a:solidFill>
              </a:rPr>
              <a:t>Employee Orientation  |  28</a:t>
            </a:r>
          </a:p>
        </p:txBody>
      </p:sp>
    </p:spTree>
    <p:extLst>
      <p:ext uri="{BB962C8B-B14F-4D97-AF65-F5344CB8AC3E}">
        <p14:creationId xmlns:p14="http://schemas.microsoft.com/office/powerpoint/2010/main" val="296175804"/>
      </p:ext>
    </p:extLst>
  </p:cSld>
</p:sld>
</file>

<file path=ppt/slides/slide2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1D181BE2-46E0-4B03-9AD2-AE34DC2087CA}"/>
              </a:ext>
            </a:extLst>
          </p:cNvPr>
          <p:cNvSpPr>
            <a:spLocks xmlns:a="http://schemas.openxmlformats.org/drawingml/2006/main" noGrp="1"/>
          </p:cNvSpPr>
          <p:nvPr/>
        </p:nvSpPr>
        <p:spPr>
          <a:xfrm xmlns:a="http://schemas.openxmlformats.org/drawingml/2006/main">
            <a:off x="0" y="0"/>
            <a:ext cx="12192000" cy="266700"/>
          </a:xfrm>
          <a:prstGeom xmlns:a="http://schemas.openxmlformats.org/drawingml/2006/main" prst="rect">
            <a:avLst/>
          </a:prstGeom>
          <a:solidFill xmlns:a="http://schemas.openxmlformats.org/drawingml/2006/main">
            <a:srgbClr val="0B243D"/>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4826AF4D-AC96-4916-8C4A-1F0A1EF8D41C}"/>
              </a:ext>
            </a:extLst>
          </p:cNvPr>
          <p:cNvSpPr>
            <a:spLocks xmlns:a="http://schemas.openxmlformats.org/drawingml/2006/main" noGrp="1"/>
          </p:cNvSpPr>
          <p:nvPr/>
        </p:nvSpPr>
        <p:spPr>
          <a:xfrm xmlns:a="http://schemas.openxmlformats.org/drawingml/2006/main">
            <a:off x="0" y="266700"/>
            <a:ext cx="171450" cy="6248400"/>
          </a:xfrm>
          <a:prstGeom xmlns:a="http://schemas.openxmlformats.org/drawingml/2006/main" prst="rect">
            <a:avLst/>
          </a:prstGeom>
          <a:solidFill xmlns:a="http://schemas.openxmlformats.org/drawingml/2006/main">
            <a:srgbClr val="66C43A"/>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94126F40-211F-4230-BA37-0CAFE36169D6}"/>
              </a:ext>
            </a:extLst>
          </p:cNvPr>
          <p:cNvSpPr>
            <a:spLocks xmlns:a="http://schemas.openxmlformats.org/drawingml/2006/main" noGrp="1"/>
          </p:cNvSpPr>
          <p:nvPr/>
        </p:nvSpPr>
        <p:spPr>
          <a:xfrm xmlns:a="http://schemas.openxmlformats.org/drawingml/2006/main">
            <a:off x="533400" y="666750"/>
            <a:ext cx="44767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050" b="1">
                <a:solidFill>
                  <a:srgbClr val="5E6B7A"/>
                </a:solidFill>
              </a:defRPr>
            </a:pPr>
            <a:r>
              <a:rPr sz="1050" b="1">
                <a:solidFill>
                  <a:srgbClr val="5E6B7A"/>
                </a:solidFill>
              </a:rPr>
              <a:t>FINAL ACKNOWLEDGEMENT</a:t>
            </a:r>
          </a:p>
        </p:txBody>
      </p:sp>
      <p:sp>
        <p:nvSpPr>
          <p:cNvPr id="4" name="">
            <a:extLst xmlns:a="http://schemas.openxmlformats.org/drawingml/2006/main">
              <a:ext uri="{FF2B5EF4-FFF2-40B4-BE49-F238E27FC236}">
                <a16:creationId xmlns:a16="http://schemas.microsoft.com/office/drawing/2014/main" id="{BC759721-57B2-468B-9BBD-0418827CA957}"/>
              </a:ext>
            </a:extLst>
          </p:cNvPr>
          <p:cNvSpPr>
            <a:spLocks xmlns:a="http://schemas.openxmlformats.org/drawingml/2006/main" noGrp="1"/>
          </p:cNvSpPr>
          <p:nvPr/>
        </p:nvSpPr>
        <p:spPr>
          <a:xfrm xmlns:a="http://schemas.openxmlformats.org/drawingml/2006/main">
            <a:off x="533400" y="1047750"/>
            <a:ext cx="5524500" cy="1428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3150" b="1">
                <a:solidFill>
                  <a:srgbClr val="0B243D"/>
                </a:solidFill>
              </a:defRPr>
            </a:pPr>
            <a:r>
              <a:rPr sz="3150" b="1">
                <a:solidFill>
                  <a:srgbClr val="0B243D"/>
                </a:solidFill>
              </a:rPr>
              <a:t>Orientation is complete only after acknowledgement and review.</a:t>
            </a:r>
          </a:p>
        </p:txBody>
      </p:sp>
      <p:sp>
        <p:nvSpPr>
          <p:cNvPr id="5" name="">
            <a:extLst xmlns:a="http://schemas.openxmlformats.org/drawingml/2006/main">
              <a:ext uri="{FF2B5EF4-FFF2-40B4-BE49-F238E27FC236}">
                <a16:creationId xmlns:a16="http://schemas.microsoft.com/office/drawing/2014/main" id="{810A1A88-FE7D-4020-B98B-022FB72A7358}"/>
              </a:ext>
            </a:extLst>
          </p:cNvPr>
          <p:cNvSpPr>
            <a:spLocks xmlns:a="http://schemas.openxmlformats.org/drawingml/2006/main" noGrp="1"/>
          </p:cNvSpPr>
          <p:nvPr/>
        </p:nvSpPr>
        <p:spPr>
          <a:xfrm xmlns:a="http://schemas.openxmlformats.org/drawingml/2006/main">
            <a:off x="609600" y="2990850"/>
            <a:ext cx="114300" cy="114300"/>
          </a:xfrm>
          <a:prstGeom xmlns:a="http://schemas.openxmlformats.org/drawingml/2006/main" prst="rect">
            <a:avLst/>
          </a:prstGeom>
          <a:solidFill xmlns:a="http://schemas.openxmlformats.org/drawingml/2006/main">
            <a:srgbClr val="66C43A"/>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DD1CD924-8F25-4CCB-AEAF-48BC24F3414D}"/>
              </a:ext>
            </a:extLst>
          </p:cNvPr>
          <p:cNvSpPr>
            <a:spLocks xmlns:a="http://schemas.openxmlformats.org/drawingml/2006/main" noGrp="1"/>
          </p:cNvSpPr>
          <p:nvPr/>
        </p:nvSpPr>
        <p:spPr>
          <a:xfrm xmlns:a="http://schemas.openxmlformats.org/drawingml/2006/main">
            <a:off x="914400" y="2914650"/>
            <a:ext cx="53340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800" b="1">
                <a:solidFill>
                  <a:srgbClr val="12233A"/>
                </a:solidFill>
              </a:defRPr>
            </a:pPr>
            <a:r>
              <a:rPr sz="1800" b="1">
                <a:solidFill>
                  <a:srgbClr val="12233A"/>
                </a:solidFill>
              </a:rPr>
              <a:t>Watch the full video in the selected language</a:t>
            </a:r>
          </a:p>
        </p:txBody>
      </p:sp>
      <p:sp>
        <p:nvSpPr>
          <p:cNvPr id="7" name="">
            <a:extLst xmlns:a="http://schemas.openxmlformats.org/drawingml/2006/main">
              <a:ext uri="{FF2B5EF4-FFF2-40B4-BE49-F238E27FC236}">
                <a16:creationId xmlns:a16="http://schemas.microsoft.com/office/drawing/2014/main" id="{9F080974-B07E-4B14-AD3D-9F66F0499CBA}"/>
              </a:ext>
            </a:extLst>
          </p:cNvPr>
          <p:cNvSpPr>
            <a:spLocks xmlns:a="http://schemas.openxmlformats.org/drawingml/2006/main" noGrp="1"/>
          </p:cNvSpPr>
          <p:nvPr/>
        </p:nvSpPr>
        <p:spPr>
          <a:xfrm xmlns:a="http://schemas.openxmlformats.org/drawingml/2006/main">
            <a:off x="609600" y="3600450"/>
            <a:ext cx="114300" cy="114300"/>
          </a:xfrm>
          <a:prstGeom xmlns:a="http://schemas.openxmlformats.org/drawingml/2006/main" prst="rect">
            <a:avLst/>
          </a:prstGeom>
          <a:solidFill xmlns:a="http://schemas.openxmlformats.org/drawingml/2006/main">
            <a:srgbClr val="66C43A"/>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1A82682F-41E1-491B-A884-719131E585DA}"/>
              </a:ext>
            </a:extLst>
          </p:cNvPr>
          <p:cNvSpPr>
            <a:spLocks xmlns:a="http://schemas.openxmlformats.org/drawingml/2006/main" noGrp="1"/>
          </p:cNvSpPr>
          <p:nvPr/>
        </p:nvSpPr>
        <p:spPr>
          <a:xfrm xmlns:a="http://schemas.openxmlformats.org/drawingml/2006/main">
            <a:off x="914400" y="3524250"/>
            <a:ext cx="53340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800" b="0">
                <a:solidFill>
                  <a:srgbClr val="12233A"/>
                </a:solidFill>
              </a:defRPr>
            </a:pPr>
            <a:r>
              <a:rPr sz="1800" b="0">
                <a:solidFill>
                  <a:srgbClr val="12233A"/>
                </a:solidFill>
              </a:rPr>
              <a:t>Answer all knowledge checks</a:t>
            </a:r>
          </a:p>
        </p:txBody>
      </p:sp>
      <p:sp>
        <p:nvSpPr>
          <p:cNvPr id="9" name="">
            <a:extLst xmlns:a="http://schemas.openxmlformats.org/drawingml/2006/main">
              <a:ext uri="{FF2B5EF4-FFF2-40B4-BE49-F238E27FC236}">
                <a16:creationId xmlns:a16="http://schemas.microsoft.com/office/drawing/2014/main" id="{BFC6624E-0A4F-4237-81FB-54D1099143A4}"/>
              </a:ext>
            </a:extLst>
          </p:cNvPr>
          <p:cNvSpPr>
            <a:spLocks xmlns:a="http://schemas.openxmlformats.org/drawingml/2006/main" noGrp="1"/>
          </p:cNvSpPr>
          <p:nvPr/>
        </p:nvSpPr>
        <p:spPr>
          <a:xfrm xmlns:a="http://schemas.openxmlformats.org/drawingml/2006/main">
            <a:off x="609600" y="4210050"/>
            <a:ext cx="114300" cy="114300"/>
          </a:xfrm>
          <a:prstGeom xmlns:a="http://schemas.openxmlformats.org/drawingml/2006/main" prst="rect">
            <a:avLst/>
          </a:prstGeom>
          <a:solidFill xmlns:a="http://schemas.openxmlformats.org/drawingml/2006/main">
            <a:srgbClr val="66C43A"/>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84732F5D-4C42-4F82-87CB-694BF8D6C9B2}"/>
              </a:ext>
            </a:extLst>
          </p:cNvPr>
          <p:cNvSpPr>
            <a:spLocks xmlns:a="http://schemas.openxmlformats.org/drawingml/2006/main" noGrp="1"/>
          </p:cNvSpPr>
          <p:nvPr/>
        </p:nvSpPr>
        <p:spPr>
          <a:xfrm xmlns:a="http://schemas.openxmlformats.org/drawingml/2006/main">
            <a:off x="914400" y="4133850"/>
            <a:ext cx="53340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800" b="0">
                <a:solidFill>
                  <a:srgbClr val="12233A"/>
                </a:solidFill>
              </a:defRPr>
            </a:pPr>
            <a:r>
              <a:rPr sz="1800" b="0">
                <a:solidFill>
                  <a:srgbClr val="12233A"/>
                </a:solidFill>
              </a:rPr>
              <a:t>Sign and submit for PAL review</a:t>
            </a:r>
          </a:p>
        </p:txBody>
      </p:sp>
      <p:sp>
        <p:nvSpPr>
          <p:cNvPr id="11" name="">
            <a:extLst xmlns:a="http://schemas.openxmlformats.org/drawingml/2006/main">
              <a:ext uri="{FF2B5EF4-FFF2-40B4-BE49-F238E27FC236}">
                <a16:creationId xmlns:a16="http://schemas.microsoft.com/office/drawing/2014/main" id="{9AE1FFCA-6EA9-48D2-9FAF-F08CC1087715}"/>
              </a:ext>
            </a:extLst>
          </p:cNvPr>
          <p:cNvSpPr>
            <a:spLocks xmlns:a="http://schemas.openxmlformats.org/drawingml/2006/main" noGrp="1"/>
          </p:cNvSpPr>
          <p:nvPr/>
        </p:nvSpPr>
        <p:spPr>
          <a:xfrm xmlns:a="http://schemas.openxmlformats.org/drawingml/2006/main">
            <a:off x="6858000" y="704850"/>
            <a:ext cx="4495800" cy="4953000"/>
          </a:xfrm>
          <a:prstGeom xmlns:a="http://schemas.openxmlformats.org/drawingml/2006/main" prst="rect">
            <a:avLst/>
          </a:prstGeom>
          <a:solidFill xmlns:a="http://schemas.openxmlformats.org/drawingml/2006/main">
            <a:srgbClr val="F3F6F8"/>
          </a:solidFill>
          <a:ln xmlns:a="http://schemas.openxmlformats.org/drawingml/2006/main" w="9525">
            <a:solidFill>
              <a:srgbClr val="D8E1EA"/>
            </a:solidFill>
            <a:prstDash val="solid"/>
          </a:ln>
        </p:spPr>
      </p:sp>
      <p:sp>
        <p:nvSpPr>
          <p:cNvPr id="12" name="">
            <a:extLst xmlns:a="http://schemas.openxmlformats.org/drawingml/2006/main">
              <a:ext uri="{FF2B5EF4-FFF2-40B4-BE49-F238E27FC236}">
                <a16:creationId xmlns:a16="http://schemas.microsoft.com/office/drawing/2014/main" id="{A433936D-4719-4B61-A0B3-FC66C6E8F315}"/>
              </a:ext>
            </a:extLst>
          </p:cNvPr>
          <p:cNvSpPr>
            <a:spLocks xmlns:a="http://schemas.openxmlformats.org/drawingml/2006/main" noGrp="1"/>
          </p:cNvSpPr>
          <p:nvPr/>
        </p:nvSpPr>
        <p:spPr>
          <a:xfrm xmlns:a="http://schemas.openxmlformats.org/drawingml/2006/main">
            <a:off x="6858000" y="704850"/>
            <a:ext cx="4495800" cy="114300"/>
          </a:xfrm>
          <a:prstGeom xmlns:a="http://schemas.openxmlformats.org/drawingml/2006/main" prst="rect">
            <a:avLst/>
          </a:prstGeom>
          <a:solidFill xmlns:a="http://schemas.openxmlformats.org/drawingml/2006/main">
            <a:srgbClr val="66C43A"/>
          </a:solidFill>
          <a:ln xmlns:a="http://schemas.openxmlformats.org/drawingml/2006/main" w="0">
            <a:noFill/>
            <a:prstDash val="solid"/>
          </a:ln>
        </p:spPr>
      </p:sp>
      <p:sp>
        <p:nvSpPr>
          <p:cNvPr id="13" name="">
            <a:extLst xmlns:a="http://schemas.openxmlformats.org/drawingml/2006/main">
              <a:ext uri="{FF2B5EF4-FFF2-40B4-BE49-F238E27FC236}">
                <a16:creationId xmlns:a16="http://schemas.microsoft.com/office/drawing/2014/main" id="{58EAAAD3-0697-4DD3-98BC-B256B65E67F7}"/>
              </a:ext>
            </a:extLst>
          </p:cNvPr>
          <p:cNvSpPr>
            <a:spLocks xmlns:a="http://schemas.openxmlformats.org/drawingml/2006/main" noGrp="1"/>
          </p:cNvSpPr>
          <p:nvPr/>
        </p:nvSpPr>
        <p:spPr>
          <a:xfrm xmlns:a="http://schemas.openxmlformats.org/drawingml/2006/main">
            <a:off x="7200900" y="1123950"/>
            <a:ext cx="1714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050" b="1">
                <a:solidFill>
                  <a:srgbClr val="5E6B7A"/>
                </a:solidFill>
              </a:defRPr>
            </a:pPr>
            <a:r>
              <a:rPr sz="1050" b="1">
                <a:solidFill>
                  <a:srgbClr val="5E6B7A"/>
                </a:solidFill>
              </a:rPr>
              <a:t>VIDEO VISUAL</a:t>
            </a:r>
          </a:p>
        </p:txBody>
      </p:sp>
      <p:sp>
        <p:nvSpPr>
          <p:cNvPr id="14" name="">
            <a:extLst xmlns:a="http://schemas.openxmlformats.org/drawingml/2006/main">
              <a:ext uri="{FF2B5EF4-FFF2-40B4-BE49-F238E27FC236}">
                <a16:creationId xmlns:a16="http://schemas.microsoft.com/office/drawing/2014/main" id="{83D10A6E-CB6F-4A86-9E54-19187DCBBC21}"/>
              </a:ext>
            </a:extLst>
          </p:cNvPr>
          <p:cNvSpPr>
            <a:spLocks xmlns:a="http://schemas.openxmlformats.org/drawingml/2006/main" noGrp="1"/>
          </p:cNvSpPr>
          <p:nvPr/>
        </p:nvSpPr>
        <p:spPr>
          <a:xfrm xmlns:a="http://schemas.openxmlformats.org/drawingml/2006/main">
            <a:off x="7200900" y="1543050"/>
            <a:ext cx="3810000" cy="1047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800" b="1">
                <a:solidFill>
                  <a:srgbClr val="12233A"/>
                </a:solidFill>
              </a:defRPr>
            </a:pPr>
            <a:r>
              <a:rPr sz="1800" b="1">
                <a:solidFill>
                  <a:srgbClr val="12233A"/>
                </a:solidFill>
              </a:rPr>
              <a:t>Clean final screen with acknowledgement and PAL review message.</a:t>
            </a:r>
          </a:p>
        </p:txBody>
      </p:sp>
      <p:sp>
        <p:nvSpPr>
          <p:cNvPr id="15" name="">
            <a:extLst xmlns:a="http://schemas.openxmlformats.org/drawingml/2006/main">
              <a:ext uri="{FF2B5EF4-FFF2-40B4-BE49-F238E27FC236}">
                <a16:creationId xmlns:a16="http://schemas.microsoft.com/office/drawing/2014/main" id="{416A3D02-1AF2-44F4-B86F-25249A29E569}"/>
              </a:ext>
            </a:extLst>
          </p:cNvPr>
          <p:cNvSpPr>
            <a:spLocks xmlns:a="http://schemas.openxmlformats.org/drawingml/2006/main" noGrp="1"/>
          </p:cNvSpPr>
          <p:nvPr/>
        </p:nvSpPr>
        <p:spPr>
          <a:xfrm xmlns:a="http://schemas.openxmlformats.org/drawingml/2006/main">
            <a:off x="7200900" y="3028950"/>
            <a:ext cx="171450" cy="171450"/>
          </a:xfrm>
          <a:prstGeom xmlns:a="http://schemas.openxmlformats.org/drawingml/2006/main" prst="rect">
            <a:avLst/>
          </a:prstGeom>
          <a:solidFill xmlns:a="http://schemas.openxmlformats.org/drawingml/2006/main">
            <a:srgbClr val="66C43A"/>
          </a:solidFill>
          <a:ln xmlns:a="http://schemas.openxmlformats.org/drawingml/2006/main" w="0">
            <a:noFill/>
            <a:prstDash val="solid"/>
          </a:ln>
        </p:spPr>
      </p:sp>
      <p:sp>
        <p:nvSpPr>
          <p:cNvPr id="16" name="">
            <a:extLst xmlns:a="http://schemas.openxmlformats.org/drawingml/2006/main">
              <a:ext uri="{FF2B5EF4-FFF2-40B4-BE49-F238E27FC236}">
                <a16:creationId xmlns:a16="http://schemas.microsoft.com/office/drawing/2014/main" id="{ADD2BAED-A7D8-455F-A46E-6EA5541D8236}"/>
              </a:ext>
            </a:extLst>
          </p:cNvPr>
          <p:cNvSpPr>
            <a:spLocks xmlns:a="http://schemas.openxmlformats.org/drawingml/2006/main" noGrp="1"/>
          </p:cNvSpPr>
          <p:nvPr/>
        </p:nvSpPr>
        <p:spPr>
          <a:xfrm xmlns:a="http://schemas.openxmlformats.org/drawingml/2006/main">
            <a:off x="7524750" y="3000375"/>
            <a:ext cx="3143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500" b="1">
                <a:solidFill>
                  <a:srgbClr val="0B243D"/>
                </a:solidFill>
              </a:defRPr>
            </a:pPr>
            <a:r>
              <a:rPr sz="1500" b="1">
                <a:solidFill>
                  <a:srgbClr val="0B243D"/>
                </a:solidFill>
              </a:rPr>
              <a:t>Watch the full video in the selected language</a:t>
            </a:r>
          </a:p>
        </p:txBody>
      </p:sp>
      <p:sp>
        <p:nvSpPr>
          <p:cNvPr id="17" name="">
            <a:extLst xmlns:a="http://schemas.openxmlformats.org/drawingml/2006/main">
              <a:ext uri="{FF2B5EF4-FFF2-40B4-BE49-F238E27FC236}">
                <a16:creationId xmlns:a16="http://schemas.microsoft.com/office/drawing/2014/main" id="{42D010BC-1E9C-43B8-8172-73EDC3019C49}"/>
              </a:ext>
            </a:extLst>
          </p:cNvPr>
          <p:cNvSpPr>
            <a:spLocks xmlns:a="http://schemas.openxmlformats.org/drawingml/2006/main" noGrp="1"/>
          </p:cNvSpPr>
          <p:nvPr/>
        </p:nvSpPr>
        <p:spPr>
          <a:xfrm xmlns:a="http://schemas.openxmlformats.org/drawingml/2006/main">
            <a:off x="7200900" y="3467100"/>
            <a:ext cx="171450" cy="171450"/>
          </a:xfrm>
          <a:prstGeom xmlns:a="http://schemas.openxmlformats.org/drawingml/2006/main" prst="rect">
            <a:avLst/>
          </a:prstGeom>
          <a:solidFill xmlns:a="http://schemas.openxmlformats.org/drawingml/2006/main">
            <a:srgbClr val="66C43A"/>
          </a:solidFill>
          <a:ln xmlns:a="http://schemas.openxmlformats.org/drawingml/2006/main" w="0">
            <a:noFill/>
            <a:prstDash val="solid"/>
          </a:ln>
        </p:spPr>
      </p:sp>
      <p:sp>
        <p:nvSpPr>
          <p:cNvPr id="18" name="">
            <a:extLst xmlns:a="http://schemas.openxmlformats.org/drawingml/2006/main">
              <a:ext uri="{FF2B5EF4-FFF2-40B4-BE49-F238E27FC236}">
                <a16:creationId xmlns:a16="http://schemas.microsoft.com/office/drawing/2014/main" id="{2C3EFA2A-A066-4C56-8F2B-3EAF9FFA0C80}"/>
              </a:ext>
            </a:extLst>
          </p:cNvPr>
          <p:cNvSpPr>
            <a:spLocks xmlns:a="http://schemas.openxmlformats.org/drawingml/2006/main" noGrp="1"/>
          </p:cNvSpPr>
          <p:nvPr/>
        </p:nvSpPr>
        <p:spPr>
          <a:xfrm xmlns:a="http://schemas.openxmlformats.org/drawingml/2006/main">
            <a:off x="7524750" y="3438525"/>
            <a:ext cx="3143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500" b="1">
                <a:solidFill>
                  <a:srgbClr val="0B243D"/>
                </a:solidFill>
              </a:defRPr>
            </a:pPr>
            <a:r>
              <a:rPr sz="1500" b="1">
                <a:solidFill>
                  <a:srgbClr val="0B243D"/>
                </a:solidFill>
              </a:rPr>
              <a:t>Answer all knowledge checks</a:t>
            </a:r>
          </a:p>
        </p:txBody>
      </p:sp>
      <p:sp>
        <p:nvSpPr>
          <p:cNvPr id="19" name="">
            <a:extLst xmlns:a="http://schemas.openxmlformats.org/drawingml/2006/main">
              <a:ext uri="{FF2B5EF4-FFF2-40B4-BE49-F238E27FC236}">
                <a16:creationId xmlns:a16="http://schemas.microsoft.com/office/drawing/2014/main" id="{1E9FF2DC-2F7B-4C1C-ABD5-0D284E3A01DC}"/>
              </a:ext>
            </a:extLst>
          </p:cNvPr>
          <p:cNvSpPr>
            <a:spLocks xmlns:a="http://schemas.openxmlformats.org/drawingml/2006/main" noGrp="1"/>
          </p:cNvSpPr>
          <p:nvPr/>
        </p:nvSpPr>
        <p:spPr>
          <a:xfrm xmlns:a="http://schemas.openxmlformats.org/drawingml/2006/main">
            <a:off x="7200900" y="3905250"/>
            <a:ext cx="171450" cy="171450"/>
          </a:xfrm>
          <a:prstGeom xmlns:a="http://schemas.openxmlformats.org/drawingml/2006/main" prst="rect">
            <a:avLst/>
          </a:prstGeom>
          <a:solidFill xmlns:a="http://schemas.openxmlformats.org/drawingml/2006/main">
            <a:srgbClr val="66C43A"/>
          </a:solidFill>
          <a:ln xmlns:a="http://schemas.openxmlformats.org/drawingml/2006/main" w="0">
            <a:noFill/>
            <a:prstDash val="solid"/>
          </a:ln>
        </p:spPr>
      </p:sp>
      <p:sp>
        <p:nvSpPr>
          <p:cNvPr id="20" name="">
            <a:extLst xmlns:a="http://schemas.openxmlformats.org/drawingml/2006/main">
              <a:ext uri="{FF2B5EF4-FFF2-40B4-BE49-F238E27FC236}">
                <a16:creationId xmlns:a16="http://schemas.microsoft.com/office/drawing/2014/main" id="{97F35572-1020-4AC4-80FF-12BDD12BF884}"/>
              </a:ext>
            </a:extLst>
          </p:cNvPr>
          <p:cNvSpPr>
            <a:spLocks xmlns:a="http://schemas.openxmlformats.org/drawingml/2006/main" noGrp="1"/>
          </p:cNvSpPr>
          <p:nvPr/>
        </p:nvSpPr>
        <p:spPr>
          <a:xfrm xmlns:a="http://schemas.openxmlformats.org/drawingml/2006/main">
            <a:off x="7524750" y="3876675"/>
            <a:ext cx="3143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500" b="1">
                <a:solidFill>
                  <a:srgbClr val="0B243D"/>
                </a:solidFill>
              </a:defRPr>
            </a:pPr>
            <a:r>
              <a:rPr sz="1500" b="1">
                <a:solidFill>
                  <a:srgbClr val="0B243D"/>
                </a:solidFill>
              </a:rPr>
              <a:t>Sign and submit for PAL review</a:t>
            </a:r>
          </a:p>
        </p:txBody>
      </p:sp>
      <p:sp>
        <p:nvSpPr>
          <p:cNvPr id="21" name="">
            <a:extLst xmlns:a="http://schemas.openxmlformats.org/drawingml/2006/main">
              <a:ext uri="{FF2B5EF4-FFF2-40B4-BE49-F238E27FC236}">
                <a16:creationId xmlns:a16="http://schemas.microsoft.com/office/drawing/2014/main" id="{2609D1B2-2852-4312-8FB9-D4C3DC8CF0AF}"/>
              </a:ext>
            </a:extLst>
          </p:cNvPr>
          <p:cNvSpPr>
            <a:spLocks xmlns:a="http://schemas.openxmlformats.org/drawingml/2006/main" noGrp="1"/>
          </p:cNvSpPr>
          <p:nvPr/>
        </p:nvSpPr>
        <p:spPr>
          <a:xfrm xmlns:a="http://schemas.openxmlformats.org/drawingml/2006/main">
            <a:off x="7200900" y="5219700"/>
            <a:ext cx="1714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975" b="1">
                <a:solidFill>
                  <a:srgbClr val="5E6B7A"/>
                </a:solidFill>
              </a:defRPr>
            </a:pPr>
            <a:r>
              <a:rPr sz="975" b="1">
                <a:solidFill>
                  <a:srgbClr val="5E6B7A"/>
                </a:solidFill>
              </a:rPr>
              <a:t>Scene 29</a:t>
            </a:r>
          </a:p>
        </p:txBody>
      </p:sp>
      <p:sp>
        <p:nvSpPr>
          <p:cNvPr id="22" name="">
            <a:extLst xmlns:a="http://schemas.openxmlformats.org/drawingml/2006/main">
              <a:ext uri="{FF2B5EF4-FFF2-40B4-BE49-F238E27FC236}">
                <a16:creationId xmlns:a16="http://schemas.microsoft.com/office/drawing/2014/main" id="{453D5DEE-3F68-4DBC-A42E-9FC19B02F59A}"/>
              </a:ext>
            </a:extLst>
          </p:cNvPr>
          <p:cNvSpPr>
            <a:spLocks xmlns:a="http://schemas.openxmlformats.org/drawingml/2006/main" noGrp="1"/>
          </p:cNvSpPr>
          <p:nvPr/>
        </p:nvSpPr>
        <p:spPr>
          <a:xfrm xmlns:a="http://schemas.openxmlformats.org/drawingml/2006/main">
            <a:off x="0" y="6515100"/>
            <a:ext cx="12192000" cy="342900"/>
          </a:xfrm>
          <a:prstGeom xmlns:a="http://schemas.openxmlformats.org/drawingml/2006/main" prst="rect">
            <a:avLst/>
          </a:prstGeom>
          <a:solidFill xmlns:a="http://schemas.openxmlformats.org/drawingml/2006/main">
            <a:srgbClr val="0B243D"/>
          </a:solidFill>
          <a:ln xmlns:a="http://schemas.openxmlformats.org/drawingml/2006/main" w="0">
            <a:noFill/>
            <a:prstDash val="solid"/>
          </a:ln>
        </p:spPr>
      </p:sp>
      <p:sp>
        <p:nvSpPr>
          <p:cNvPr id="23" name="">
            <a:extLst xmlns:a="http://schemas.openxmlformats.org/drawingml/2006/main">
              <a:ext uri="{FF2B5EF4-FFF2-40B4-BE49-F238E27FC236}">
                <a16:creationId xmlns:a16="http://schemas.microsoft.com/office/drawing/2014/main" id="{580098D5-509E-4B02-A6DC-4694E0ECAEC9}"/>
              </a:ext>
            </a:extLst>
          </p:cNvPr>
          <p:cNvSpPr>
            <a:spLocks xmlns:a="http://schemas.openxmlformats.org/drawingml/2006/main" noGrp="1"/>
          </p:cNvSpPr>
          <p:nvPr/>
        </p:nvSpPr>
        <p:spPr>
          <a:xfrm xmlns:a="http://schemas.openxmlformats.org/drawingml/2006/main">
            <a:off x="533400" y="6600825"/>
            <a:ext cx="3429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975" b="1">
                <a:solidFill>
                  <a:srgbClr val="FFFFFF"/>
                </a:solidFill>
              </a:defRPr>
            </a:pPr>
            <a:r>
              <a:rPr sz="975" b="1">
                <a:solidFill>
                  <a:srgbClr val="FFFFFF"/>
                </a:solidFill>
              </a:rPr>
              <a:t>PAL Environmental Services</a:t>
            </a:r>
          </a:p>
        </p:txBody>
      </p:sp>
      <p:sp>
        <p:nvSpPr>
          <p:cNvPr id="24" name="">
            <a:extLst xmlns:a="http://schemas.openxmlformats.org/drawingml/2006/main">
              <a:ext uri="{FF2B5EF4-FFF2-40B4-BE49-F238E27FC236}">
                <a16:creationId xmlns:a16="http://schemas.microsoft.com/office/drawing/2014/main" id="{E20B9FA6-9982-4DB3-A2C0-2908F98B8852}"/>
              </a:ext>
            </a:extLst>
          </p:cNvPr>
          <p:cNvSpPr>
            <a:spLocks xmlns:a="http://schemas.openxmlformats.org/drawingml/2006/main" noGrp="1"/>
          </p:cNvSpPr>
          <p:nvPr/>
        </p:nvSpPr>
        <p:spPr>
          <a:xfrm xmlns:a="http://schemas.openxmlformats.org/drawingml/2006/main">
            <a:off x="9620250" y="6600825"/>
            <a:ext cx="2095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900">
                <a:solidFill>
                  <a:srgbClr val="DDEAF5"/>
                </a:solidFill>
              </a:defRPr>
            </a:pPr>
            <a:r>
              <a:rPr sz="900">
                <a:solidFill>
                  <a:srgbClr val="DDEAF5"/>
                </a:solidFill>
              </a:rPr>
              <a:t>Employee Orientation  |  29</a:t>
            </a:r>
          </a:p>
        </p:txBody>
      </p:sp>
    </p:spTree>
    <p:extLst>
      <p:ext uri="{BB962C8B-B14F-4D97-AF65-F5344CB8AC3E}">
        <p14:creationId xmlns:p14="http://schemas.microsoft.com/office/powerpoint/2010/main" val="1125472653"/>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2026-07-08T00:20:00.4250000Z</dcterms:created>
  <dcterms:modified xsi:type="dcterms:W3CDTF">2026-07-08T00:20:00.4260000Z</dcterms:modified>
</coreProperties>
</file>